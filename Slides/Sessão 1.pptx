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74" r:id="rId2"/>
    <p:sldId id="256" r:id="rId3"/>
    <p:sldId id="257" r:id="rId4"/>
    <p:sldId id="258" r:id="rId5"/>
    <p:sldId id="259" r:id="rId6"/>
    <p:sldId id="260" r:id="rId7"/>
    <p:sldId id="261" r:id="rId8"/>
    <p:sldId id="262" r:id="rId9"/>
    <p:sldId id="264" r:id="rId10"/>
    <p:sldId id="272" r:id="rId11"/>
    <p:sldId id="275" r:id="rId12"/>
    <p:sldId id="284" r:id="rId13"/>
    <p:sldId id="276" r:id="rId14"/>
    <p:sldId id="277" r:id="rId15"/>
    <p:sldId id="278" r:id="rId16"/>
    <p:sldId id="282" r:id="rId17"/>
    <p:sldId id="279" r:id="rId18"/>
    <p:sldId id="281" r:id="rId19"/>
    <p:sldId id="283" r:id="rId20"/>
    <p:sldId id="285" r:id="rId21"/>
    <p:sldId id="286" r:id="rId22"/>
    <p:sldId id="287" r:id="rId23"/>
    <p:sldId id="288" r:id="rId24"/>
    <p:sldId id="289" r:id="rId25"/>
    <p:sldId id="263" r:id="rId26"/>
    <p:sldId id="265" r:id="rId27"/>
    <p:sldId id="266" r:id="rId28"/>
    <p:sldId id="268" r:id="rId29"/>
    <p:sldId id="269" r:id="rId30"/>
    <p:sldId id="270" r:id="rId31"/>
    <p:sldId id="271" r:id="rId32"/>
    <p:sldId id="273" r:id="rId33"/>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7" autoAdjust="0"/>
    <p:restoredTop sz="94660"/>
  </p:normalViewPr>
  <p:slideViewPr>
    <p:cSldViewPr snapToGrid="0" showGuides="1">
      <p:cViewPr varScale="1">
        <p:scale>
          <a:sx n="107" d="100"/>
          <a:sy n="107" d="100"/>
        </p:scale>
        <p:origin x="666"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042275-2D6C-41F5-81FF-CBD6B5FE7F57}" type="datetimeFigureOut">
              <a:rPr lang="en-GB" smtClean="0"/>
              <a:t>26/08/2026</a:t>
            </a:fld>
            <a:endParaRPr lang="en-GB"/>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7A4E6-103E-479F-9991-6FBDF799862F}" type="slidenum">
              <a:rPr lang="en-GB" smtClean="0"/>
              <a:t>‹nº›</a:t>
            </a:fld>
            <a:endParaRPr lang="en-GB"/>
          </a:p>
        </p:txBody>
      </p:sp>
    </p:spTree>
    <p:extLst>
      <p:ext uri="{BB962C8B-B14F-4D97-AF65-F5344CB8AC3E}">
        <p14:creationId xmlns:p14="http://schemas.microsoft.com/office/powerpoint/2010/main" val="928548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BF7665-D8B0-229A-6B1C-DD8686FB0137}"/>
              </a:ext>
            </a:extLst>
          </p:cNvPr>
          <p:cNvSpPr>
            <a:spLocks noGrp="1"/>
          </p:cNvSpPr>
          <p:nvPr>
            <p:ph type="ctrTitle"/>
          </p:nvPr>
        </p:nvSpPr>
        <p:spPr>
          <a:xfrm>
            <a:off x="1524000" y="1122363"/>
            <a:ext cx="9144000" cy="2387600"/>
          </a:xfrm>
        </p:spPr>
        <p:txBody>
          <a:bodyPr anchor="b"/>
          <a:lstStyle>
            <a:lvl1pPr algn="ctr">
              <a:defRPr sz="6000"/>
            </a:lvl1pPr>
          </a:lstStyle>
          <a:p>
            <a:r>
              <a:rPr lang="pt-PT"/>
              <a:t>Clique para editar o estilo de título do Modelo Global</a:t>
            </a:r>
            <a:endParaRPr lang="en-GB"/>
          </a:p>
        </p:txBody>
      </p:sp>
      <p:sp>
        <p:nvSpPr>
          <p:cNvPr id="3" name="Subtítulo 2">
            <a:extLst>
              <a:ext uri="{FF2B5EF4-FFF2-40B4-BE49-F238E27FC236}">
                <a16:creationId xmlns:a16="http://schemas.microsoft.com/office/drawing/2014/main" id="{FA9540F8-A5DF-41A3-F615-26C460F2BE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endParaRPr lang="en-GB"/>
          </a:p>
        </p:txBody>
      </p:sp>
      <p:sp>
        <p:nvSpPr>
          <p:cNvPr id="4" name="Marcador de Posição da Data 3">
            <a:extLst>
              <a:ext uri="{FF2B5EF4-FFF2-40B4-BE49-F238E27FC236}">
                <a16:creationId xmlns:a16="http://schemas.microsoft.com/office/drawing/2014/main" id="{DC5B90C1-5653-5601-BC22-374B43603B4E}"/>
              </a:ext>
            </a:extLst>
          </p:cNvPr>
          <p:cNvSpPr>
            <a:spLocks noGrp="1"/>
          </p:cNvSpPr>
          <p:nvPr>
            <p:ph type="dt" sz="half" idx="10"/>
          </p:nvPr>
        </p:nvSpPr>
        <p:spPr/>
        <p:txBody>
          <a:bodyPr/>
          <a:lstStyle/>
          <a:p>
            <a:fld id="{E28E2C6E-BCC3-4F27-9FD0-8C72CBACEB98}" type="datetime1">
              <a:rPr lang="en-GB" smtClean="0"/>
              <a:t>26/08/2026</a:t>
            </a:fld>
            <a:endParaRPr lang="en-GB"/>
          </a:p>
        </p:txBody>
      </p:sp>
      <p:sp>
        <p:nvSpPr>
          <p:cNvPr id="5" name="Marcador de Posição do Rodapé 4">
            <a:extLst>
              <a:ext uri="{FF2B5EF4-FFF2-40B4-BE49-F238E27FC236}">
                <a16:creationId xmlns:a16="http://schemas.microsoft.com/office/drawing/2014/main" id="{0A6C4FFC-F4A9-9AC5-2409-5981204D20EF}"/>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11A1B7BD-26CF-A742-7D12-EFA0EE71B463}"/>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653776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3B410C-E399-4F64-12BD-B7669D44A2F5}"/>
              </a:ext>
            </a:extLst>
          </p:cNvPr>
          <p:cNvSpPr>
            <a:spLocks noGrp="1"/>
          </p:cNvSpPr>
          <p:nvPr>
            <p:ph type="title"/>
          </p:nvPr>
        </p:nvSpPr>
        <p:spPr/>
        <p:txBody>
          <a:bodyPr/>
          <a:lstStyle/>
          <a:p>
            <a:r>
              <a:rPr lang="pt-PT"/>
              <a:t>Clique para editar o estilo de título do Modelo Global</a:t>
            </a:r>
            <a:endParaRPr lang="en-GB"/>
          </a:p>
        </p:txBody>
      </p:sp>
      <p:sp>
        <p:nvSpPr>
          <p:cNvPr id="3" name="Marcador de Posição de Conteúdo 2">
            <a:extLst>
              <a:ext uri="{FF2B5EF4-FFF2-40B4-BE49-F238E27FC236}">
                <a16:creationId xmlns:a16="http://schemas.microsoft.com/office/drawing/2014/main" id="{951B9E63-681B-C1E2-1DEB-5778C31F5D0C}"/>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a Data 3">
            <a:extLst>
              <a:ext uri="{FF2B5EF4-FFF2-40B4-BE49-F238E27FC236}">
                <a16:creationId xmlns:a16="http://schemas.microsoft.com/office/drawing/2014/main" id="{FC36F0A7-E493-3207-DCF7-542E367B8A0E}"/>
              </a:ext>
            </a:extLst>
          </p:cNvPr>
          <p:cNvSpPr>
            <a:spLocks noGrp="1"/>
          </p:cNvSpPr>
          <p:nvPr>
            <p:ph type="dt" sz="half" idx="10"/>
          </p:nvPr>
        </p:nvSpPr>
        <p:spPr/>
        <p:txBody>
          <a:bodyPr/>
          <a:lstStyle/>
          <a:p>
            <a:fld id="{D25526ED-BD1E-4EB7-AE8C-2DD3CC728576}" type="datetime1">
              <a:rPr lang="en-GB" smtClean="0"/>
              <a:t>26/08/2026</a:t>
            </a:fld>
            <a:endParaRPr lang="en-GB"/>
          </a:p>
        </p:txBody>
      </p:sp>
      <p:sp>
        <p:nvSpPr>
          <p:cNvPr id="5" name="Marcador de Posição do Rodapé 4">
            <a:extLst>
              <a:ext uri="{FF2B5EF4-FFF2-40B4-BE49-F238E27FC236}">
                <a16:creationId xmlns:a16="http://schemas.microsoft.com/office/drawing/2014/main" id="{D6FAD5F9-1B3C-4F58-D717-01228126B665}"/>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7608ABA3-E49F-A00E-FF0F-C1497DB57A6C}"/>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782623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BD3D7F-4212-D2C7-11C1-555E7CFAEC6D}"/>
              </a:ext>
            </a:extLst>
          </p:cNvPr>
          <p:cNvSpPr>
            <a:spLocks noGrp="1"/>
          </p:cNvSpPr>
          <p:nvPr>
            <p:ph type="title"/>
          </p:nvPr>
        </p:nvSpPr>
        <p:spPr>
          <a:xfrm>
            <a:off x="831850" y="1709738"/>
            <a:ext cx="10515600" cy="2852737"/>
          </a:xfrm>
        </p:spPr>
        <p:txBody>
          <a:bodyPr anchor="b"/>
          <a:lstStyle>
            <a:lvl1pPr>
              <a:defRPr sz="6000"/>
            </a:lvl1pPr>
          </a:lstStyle>
          <a:p>
            <a:r>
              <a:rPr lang="pt-PT"/>
              <a:t>Clique para editar o estilo de título do Modelo Global</a:t>
            </a:r>
            <a:endParaRPr lang="en-GB"/>
          </a:p>
        </p:txBody>
      </p:sp>
      <p:sp>
        <p:nvSpPr>
          <p:cNvPr id="3" name="Marcador de Posição do Texto 2">
            <a:extLst>
              <a:ext uri="{FF2B5EF4-FFF2-40B4-BE49-F238E27FC236}">
                <a16:creationId xmlns:a16="http://schemas.microsoft.com/office/drawing/2014/main" id="{72B9C508-A6ED-DBB7-05E1-9FB950AE4F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73DC7D9D-E61E-054F-95DE-01938C4B7319}"/>
              </a:ext>
            </a:extLst>
          </p:cNvPr>
          <p:cNvSpPr>
            <a:spLocks noGrp="1"/>
          </p:cNvSpPr>
          <p:nvPr>
            <p:ph type="dt" sz="half" idx="10"/>
          </p:nvPr>
        </p:nvSpPr>
        <p:spPr/>
        <p:txBody>
          <a:bodyPr/>
          <a:lstStyle/>
          <a:p>
            <a:fld id="{69248631-2861-45A4-A0E4-9BECD2CC7581}" type="datetime1">
              <a:rPr lang="en-GB" smtClean="0"/>
              <a:t>26/08/2026</a:t>
            </a:fld>
            <a:endParaRPr lang="en-GB"/>
          </a:p>
        </p:txBody>
      </p:sp>
      <p:sp>
        <p:nvSpPr>
          <p:cNvPr id="5" name="Marcador de Posição do Rodapé 4">
            <a:extLst>
              <a:ext uri="{FF2B5EF4-FFF2-40B4-BE49-F238E27FC236}">
                <a16:creationId xmlns:a16="http://schemas.microsoft.com/office/drawing/2014/main" id="{BBACEBE0-7D95-CAFA-0249-1F33F0E97424}"/>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475DF437-AD56-22BC-0F49-EA8BA2F63975}"/>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2410855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4AC0E7-FF9A-9F09-D0FB-E0614D4FC63E}"/>
              </a:ext>
            </a:extLst>
          </p:cNvPr>
          <p:cNvSpPr>
            <a:spLocks noGrp="1"/>
          </p:cNvSpPr>
          <p:nvPr>
            <p:ph type="title"/>
          </p:nvPr>
        </p:nvSpPr>
        <p:spPr/>
        <p:txBody>
          <a:bodyPr/>
          <a:lstStyle/>
          <a:p>
            <a:r>
              <a:rPr lang="pt-PT"/>
              <a:t>Clique para editar o estilo de título do Modelo Global</a:t>
            </a:r>
            <a:endParaRPr lang="en-GB"/>
          </a:p>
        </p:txBody>
      </p:sp>
      <p:sp>
        <p:nvSpPr>
          <p:cNvPr id="3" name="Marcador de Posição de Conteúdo 2">
            <a:extLst>
              <a:ext uri="{FF2B5EF4-FFF2-40B4-BE49-F238E27FC236}">
                <a16:creationId xmlns:a16="http://schemas.microsoft.com/office/drawing/2014/main" id="{6AE7528E-77A9-8092-5428-3230D68C6D3B}"/>
              </a:ext>
            </a:extLst>
          </p:cNvPr>
          <p:cNvSpPr>
            <a:spLocks noGrp="1"/>
          </p:cNvSpPr>
          <p:nvPr>
            <p:ph sz="half" idx="1"/>
          </p:nvPr>
        </p:nvSpPr>
        <p:spPr>
          <a:xfrm>
            <a:off x="838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e Conteúdo 3">
            <a:extLst>
              <a:ext uri="{FF2B5EF4-FFF2-40B4-BE49-F238E27FC236}">
                <a16:creationId xmlns:a16="http://schemas.microsoft.com/office/drawing/2014/main" id="{1C0025B8-4009-8285-2EEE-56FE3055A696}"/>
              </a:ext>
            </a:extLst>
          </p:cNvPr>
          <p:cNvSpPr>
            <a:spLocks noGrp="1"/>
          </p:cNvSpPr>
          <p:nvPr>
            <p:ph sz="half" idx="2"/>
          </p:nvPr>
        </p:nvSpPr>
        <p:spPr>
          <a:xfrm>
            <a:off x="6172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5" name="Marcador de Posição da Data 4">
            <a:extLst>
              <a:ext uri="{FF2B5EF4-FFF2-40B4-BE49-F238E27FC236}">
                <a16:creationId xmlns:a16="http://schemas.microsoft.com/office/drawing/2014/main" id="{87DB63D0-4ED7-318E-F447-34ADA68EF7F4}"/>
              </a:ext>
            </a:extLst>
          </p:cNvPr>
          <p:cNvSpPr>
            <a:spLocks noGrp="1"/>
          </p:cNvSpPr>
          <p:nvPr>
            <p:ph type="dt" sz="half" idx="10"/>
          </p:nvPr>
        </p:nvSpPr>
        <p:spPr/>
        <p:txBody>
          <a:bodyPr/>
          <a:lstStyle/>
          <a:p>
            <a:fld id="{3F0BA9C8-A372-4762-AC67-D352CD7375D5}" type="datetime1">
              <a:rPr lang="en-GB" smtClean="0"/>
              <a:t>26/08/2026</a:t>
            </a:fld>
            <a:endParaRPr lang="en-GB"/>
          </a:p>
        </p:txBody>
      </p:sp>
      <p:sp>
        <p:nvSpPr>
          <p:cNvPr id="6" name="Marcador de Posição do Rodapé 5">
            <a:extLst>
              <a:ext uri="{FF2B5EF4-FFF2-40B4-BE49-F238E27FC236}">
                <a16:creationId xmlns:a16="http://schemas.microsoft.com/office/drawing/2014/main" id="{14FB4D10-4686-20C1-1757-B1F2C6DE0CC8}"/>
              </a:ext>
            </a:extLst>
          </p:cNvPr>
          <p:cNvSpPr>
            <a:spLocks noGrp="1"/>
          </p:cNvSpPr>
          <p:nvPr>
            <p:ph type="ftr" sz="quarter" idx="11"/>
          </p:nvPr>
        </p:nvSpPr>
        <p:spPr/>
        <p:txBody>
          <a:bodyPr/>
          <a:lstStyle/>
          <a:p>
            <a:endParaRPr lang="en-GB"/>
          </a:p>
        </p:txBody>
      </p:sp>
      <p:sp>
        <p:nvSpPr>
          <p:cNvPr id="7" name="Marcador de Posição do Número do Diapositivo 6">
            <a:extLst>
              <a:ext uri="{FF2B5EF4-FFF2-40B4-BE49-F238E27FC236}">
                <a16:creationId xmlns:a16="http://schemas.microsoft.com/office/drawing/2014/main" id="{A2ADBF0F-6F36-EB1A-DAC0-2F4A830D7E74}"/>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1816911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1691B2-9AEC-A6C8-DD2C-E5AD5F31767A}"/>
              </a:ext>
            </a:extLst>
          </p:cNvPr>
          <p:cNvSpPr>
            <a:spLocks noGrp="1"/>
          </p:cNvSpPr>
          <p:nvPr>
            <p:ph type="title"/>
          </p:nvPr>
        </p:nvSpPr>
        <p:spPr>
          <a:xfrm>
            <a:off x="839788" y="365125"/>
            <a:ext cx="10515600" cy="1325563"/>
          </a:xfrm>
        </p:spPr>
        <p:txBody>
          <a:bodyPr/>
          <a:lstStyle/>
          <a:p>
            <a:r>
              <a:rPr lang="pt-PT"/>
              <a:t>Clique para editar o estilo de título do Modelo Global</a:t>
            </a:r>
            <a:endParaRPr lang="en-GB"/>
          </a:p>
        </p:txBody>
      </p:sp>
      <p:sp>
        <p:nvSpPr>
          <p:cNvPr id="3" name="Marcador de Posição do Texto 2">
            <a:extLst>
              <a:ext uri="{FF2B5EF4-FFF2-40B4-BE49-F238E27FC236}">
                <a16:creationId xmlns:a16="http://schemas.microsoft.com/office/drawing/2014/main" id="{81CFB4D0-9388-2F21-1C89-9C3E66D970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BB30C404-BB4E-B519-7DEE-A415DEA0507F}"/>
              </a:ext>
            </a:extLst>
          </p:cNvPr>
          <p:cNvSpPr>
            <a:spLocks noGrp="1"/>
          </p:cNvSpPr>
          <p:nvPr>
            <p:ph sz="half" idx="2"/>
          </p:nvPr>
        </p:nvSpPr>
        <p:spPr>
          <a:xfrm>
            <a:off x="839788" y="2505075"/>
            <a:ext cx="5157787"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5" name="Marcador de Posição do Texto 4">
            <a:extLst>
              <a:ext uri="{FF2B5EF4-FFF2-40B4-BE49-F238E27FC236}">
                <a16:creationId xmlns:a16="http://schemas.microsoft.com/office/drawing/2014/main" id="{F268F0F7-1484-4686-2CA9-4865E99001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0AA4A3A2-1DBD-1AAE-867F-1A1E92CBD61B}"/>
              </a:ext>
            </a:extLst>
          </p:cNvPr>
          <p:cNvSpPr>
            <a:spLocks noGrp="1"/>
          </p:cNvSpPr>
          <p:nvPr>
            <p:ph sz="quarter" idx="4"/>
          </p:nvPr>
        </p:nvSpPr>
        <p:spPr>
          <a:xfrm>
            <a:off x="6172200" y="2505075"/>
            <a:ext cx="5183188"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7" name="Marcador de Posição da Data 6">
            <a:extLst>
              <a:ext uri="{FF2B5EF4-FFF2-40B4-BE49-F238E27FC236}">
                <a16:creationId xmlns:a16="http://schemas.microsoft.com/office/drawing/2014/main" id="{D7F40490-D4BC-3B81-2E78-90F01B612A67}"/>
              </a:ext>
            </a:extLst>
          </p:cNvPr>
          <p:cNvSpPr>
            <a:spLocks noGrp="1"/>
          </p:cNvSpPr>
          <p:nvPr>
            <p:ph type="dt" sz="half" idx="10"/>
          </p:nvPr>
        </p:nvSpPr>
        <p:spPr/>
        <p:txBody>
          <a:bodyPr/>
          <a:lstStyle/>
          <a:p>
            <a:fld id="{32DB1B3C-F212-44FD-BC08-BBABB6DF1237}" type="datetime1">
              <a:rPr lang="en-GB" smtClean="0"/>
              <a:t>26/08/2026</a:t>
            </a:fld>
            <a:endParaRPr lang="en-GB"/>
          </a:p>
        </p:txBody>
      </p:sp>
      <p:sp>
        <p:nvSpPr>
          <p:cNvPr id="8" name="Marcador de Posição do Rodapé 7">
            <a:extLst>
              <a:ext uri="{FF2B5EF4-FFF2-40B4-BE49-F238E27FC236}">
                <a16:creationId xmlns:a16="http://schemas.microsoft.com/office/drawing/2014/main" id="{A3333EFA-85E4-5144-9BD9-575F3F46C522}"/>
              </a:ext>
            </a:extLst>
          </p:cNvPr>
          <p:cNvSpPr>
            <a:spLocks noGrp="1"/>
          </p:cNvSpPr>
          <p:nvPr>
            <p:ph type="ftr" sz="quarter" idx="11"/>
          </p:nvPr>
        </p:nvSpPr>
        <p:spPr/>
        <p:txBody>
          <a:bodyPr/>
          <a:lstStyle/>
          <a:p>
            <a:endParaRPr lang="en-GB"/>
          </a:p>
        </p:txBody>
      </p:sp>
      <p:sp>
        <p:nvSpPr>
          <p:cNvPr id="9" name="Marcador de Posição do Número do Diapositivo 8">
            <a:extLst>
              <a:ext uri="{FF2B5EF4-FFF2-40B4-BE49-F238E27FC236}">
                <a16:creationId xmlns:a16="http://schemas.microsoft.com/office/drawing/2014/main" id="{0083C664-FC1F-BDD2-6075-3CC4932D6E0F}"/>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721831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C9E478-16DB-84DC-8149-A2D7871BE067}"/>
              </a:ext>
            </a:extLst>
          </p:cNvPr>
          <p:cNvSpPr>
            <a:spLocks noGrp="1"/>
          </p:cNvSpPr>
          <p:nvPr>
            <p:ph type="title"/>
          </p:nvPr>
        </p:nvSpPr>
        <p:spPr/>
        <p:txBody>
          <a:bodyPr/>
          <a:lstStyle/>
          <a:p>
            <a:r>
              <a:rPr lang="pt-PT"/>
              <a:t>Clique para editar o estilo de título do Modelo Global</a:t>
            </a:r>
            <a:endParaRPr lang="en-GB"/>
          </a:p>
        </p:txBody>
      </p:sp>
      <p:sp>
        <p:nvSpPr>
          <p:cNvPr id="3" name="Marcador de Posição da Data 2">
            <a:extLst>
              <a:ext uri="{FF2B5EF4-FFF2-40B4-BE49-F238E27FC236}">
                <a16:creationId xmlns:a16="http://schemas.microsoft.com/office/drawing/2014/main" id="{736B1E3D-AC00-BBCD-387B-44E48D212C69}"/>
              </a:ext>
            </a:extLst>
          </p:cNvPr>
          <p:cNvSpPr>
            <a:spLocks noGrp="1"/>
          </p:cNvSpPr>
          <p:nvPr>
            <p:ph type="dt" sz="half" idx="10"/>
          </p:nvPr>
        </p:nvSpPr>
        <p:spPr/>
        <p:txBody>
          <a:bodyPr/>
          <a:lstStyle/>
          <a:p>
            <a:fld id="{50CBF30B-DA7D-4015-8205-745C2BC9BF99}" type="datetime1">
              <a:rPr lang="en-GB" smtClean="0"/>
              <a:t>26/08/2026</a:t>
            </a:fld>
            <a:endParaRPr lang="en-GB"/>
          </a:p>
        </p:txBody>
      </p:sp>
      <p:sp>
        <p:nvSpPr>
          <p:cNvPr id="4" name="Marcador de Posição do Rodapé 3">
            <a:extLst>
              <a:ext uri="{FF2B5EF4-FFF2-40B4-BE49-F238E27FC236}">
                <a16:creationId xmlns:a16="http://schemas.microsoft.com/office/drawing/2014/main" id="{7BC5F434-B3DE-F0A4-4B17-12C04E4C63E6}"/>
              </a:ext>
            </a:extLst>
          </p:cNvPr>
          <p:cNvSpPr>
            <a:spLocks noGrp="1"/>
          </p:cNvSpPr>
          <p:nvPr>
            <p:ph type="ftr" sz="quarter" idx="11"/>
          </p:nvPr>
        </p:nvSpPr>
        <p:spPr/>
        <p:txBody>
          <a:bodyPr/>
          <a:lstStyle/>
          <a:p>
            <a:endParaRPr lang="en-GB"/>
          </a:p>
        </p:txBody>
      </p:sp>
      <p:sp>
        <p:nvSpPr>
          <p:cNvPr id="5" name="Marcador de Posição do Número do Diapositivo 4">
            <a:extLst>
              <a:ext uri="{FF2B5EF4-FFF2-40B4-BE49-F238E27FC236}">
                <a16:creationId xmlns:a16="http://schemas.microsoft.com/office/drawing/2014/main" id="{D355E7B4-87D9-46A9-1B93-BF420080B8E4}"/>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91469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27DAF06C-AD15-3E0E-EE94-933061BD7AE4}"/>
              </a:ext>
            </a:extLst>
          </p:cNvPr>
          <p:cNvSpPr>
            <a:spLocks noGrp="1"/>
          </p:cNvSpPr>
          <p:nvPr>
            <p:ph type="dt" sz="half" idx="10"/>
          </p:nvPr>
        </p:nvSpPr>
        <p:spPr/>
        <p:txBody>
          <a:bodyPr/>
          <a:lstStyle/>
          <a:p>
            <a:fld id="{E43CC613-1CD7-4EC5-A35E-698E47A9A474}" type="datetime1">
              <a:rPr lang="en-GB" smtClean="0"/>
              <a:t>26/08/2026</a:t>
            </a:fld>
            <a:endParaRPr lang="en-GB"/>
          </a:p>
        </p:txBody>
      </p:sp>
      <p:sp>
        <p:nvSpPr>
          <p:cNvPr id="3" name="Marcador de Posição do Rodapé 2">
            <a:extLst>
              <a:ext uri="{FF2B5EF4-FFF2-40B4-BE49-F238E27FC236}">
                <a16:creationId xmlns:a16="http://schemas.microsoft.com/office/drawing/2014/main" id="{5A8D0982-61D1-0A4A-CCB7-CEB6B483C830}"/>
              </a:ext>
            </a:extLst>
          </p:cNvPr>
          <p:cNvSpPr>
            <a:spLocks noGrp="1"/>
          </p:cNvSpPr>
          <p:nvPr>
            <p:ph type="ftr" sz="quarter" idx="11"/>
          </p:nvPr>
        </p:nvSpPr>
        <p:spPr/>
        <p:txBody>
          <a:bodyPr/>
          <a:lstStyle/>
          <a:p>
            <a:endParaRPr lang="en-GB"/>
          </a:p>
        </p:txBody>
      </p:sp>
      <p:sp>
        <p:nvSpPr>
          <p:cNvPr id="4" name="Marcador de Posição do Número do Diapositivo 3">
            <a:extLst>
              <a:ext uri="{FF2B5EF4-FFF2-40B4-BE49-F238E27FC236}">
                <a16:creationId xmlns:a16="http://schemas.microsoft.com/office/drawing/2014/main" id="{547DDD37-31F2-A57A-E81E-04CC9C8784B9}"/>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15308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2863D4-F30A-0D72-C92D-1863883D9C9C}"/>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endParaRPr lang="en-GB"/>
          </a:p>
        </p:txBody>
      </p:sp>
      <p:sp>
        <p:nvSpPr>
          <p:cNvPr id="3" name="Marcador de Posição de Conteúdo 2">
            <a:extLst>
              <a:ext uri="{FF2B5EF4-FFF2-40B4-BE49-F238E27FC236}">
                <a16:creationId xmlns:a16="http://schemas.microsoft.com/office/drawing/2014/main" id="{48D05FA1-8D8E-D699-B249-41A0C66AD6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o Texto 3">
            <a:extLst>
              <a:ext uri="{FF2B5EF4-FFF2-40B4-BE49-F238E27FC236}">
                <a16:creationId xmlns:a16="http://schemas.microsoft.com/office/drawing/2014/main" id="{9A20C29C-C173-BA38-083B-9B7C9856D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A1B446CF-96C3-5CF3-7FD6-9AEC578FA7B9}"/>
              </a:ext>
            </a:extLst>
          </p:cNvPr>
          <p:cNvSpPr>
            <a:spLocks noGrp="1"/>
          </p:cNvSpPr>
          <p:nvPr>
            <p:ph type="dt" sz="half" idx="10"/>
          </p:nvPr>
        </p:nvSpPr>
        <p:spPr/>
        <p:txBody>
          <a:bodyPr/>
          <a:lstStyle/>
          <a:p>
            <a:fld id="{8B0EA1DD-0AF1-4100-BD1B-F80EBF1DE00D}" type="datetime1">
              <a:rPr lang="en-GB" smtClean="0"/>
              <a:t>26/08/2026</a:t>
            </a:fld>
            <a:endParaRPr lang="en-GB"/>
          </a:p>
        </p:txBody>
      </p:sp>
      <p:sp>
        <p:nvSpPr>
          <p:cNvPr id="6" name="Marcador de Posição do Rodapé 5">
            <a:extLst>
              <a:ext uri="{FF2B5EF4-FFF2-40B4-BE49-F238E27FC236}">
                <a16:creationId xmlns:a16="http://schemas.microsoft.com/office/drawing/2014/main" id="{BC855EC8-463B-6885-44B0-AF3410FB46F6}"/>
              </a:ext>
            </a:extLst>
          </p:cNvPr>
          <p:cNvSpPr>
            <a:spLocks noGrp="1"/>
          </p:cNvSpPr>
          <p:nvPr>
            <p:ph type="ftr" sz="quarter" idx="11"/>
          </p:nvPr>
        </p:nvSpPr>
        <p:spPr/>
        <p:txBody>
          <a:bodyPr/>
          <a:lstStyle/>
          <a:p>
            <a:endParaRPr lang="en-GB"/>
          </a:p>
        </p:txBody>
      </p:sp>
      <p:sp>
        <p:nvSpPr>
          <p:cNvPr id="7" name="Marcador de Posição do Número do Diapositivo 6">
            <a:extLst>
              <a:ext uri="{FF2B5EF4-FFF2-40B4-BE49-F238E27FC236}">
                <a16:creationId xmlns:a16="http://schemas.microsoft.com/office/drawing/2014/main" id="{D2DC1361-45A3-CDCF-26E0-34CE763007A7}"/>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2501103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09778B-6F7A-B75E-2B30-68B64BCF2759}"/>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endParaRPr lang="en-GB"/>
          </a:p>
        </p:txBody>
      </p:sp>
      <p:sp>
        <p:nvSpPr>
          <p:cNvPr id="3" name="Marcador de Posição da Imagem 2">
            <a:extLst>
              <a:ext uri="{FF2B5EF4-FFF2-40B4-BE49-F238E27FC236}">
                <a16:creationId xmlns:a16="http://schemas.microsoft.com/office/drawing/2014/main" id="{38CD8B0B-5A2E-3396-8542-91E5F66939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Marcador de Posição do Texto 3">
            <a:extLst>
              <a:ext uri="{FF2B5EF4-FFF2-40B4-BE49-F238E27FC236}">
                <a16:creationId xmlns:a16="http://schemas.microsoft.com/office/drawing/2014/main" id="{66E4649C-8E11-A830-AF34-714067BF8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3A50C109-165F-247C-5D77-5BADF5E08A3C}"/>
              </a:ext>
            </a:extLst>
          </p:cNvPr>
          <p:cNvSpPr>
            <a:spLocks noGrp="1"/>
          </p:cNvSpPr>
          <p:nvPr>
            <p:ph type="dt" sz="half" idx="10"/>
          </p:nvPr>
        </p:nvSpPr>
        <p:spPr/>
        <p:txBody>
          <a:bodyPr/>
          <a:lstStyle/>
          <a:p>
            <a:fld id="{81564DDE-2278-4A68-8D1D-B30E60C9CB80}" type="datetime1">
              <a:rPr lang="en-GB" smtClean="0"/>
              <a:t>26/08/2026</a:t>
            </a:fld>
            <a:endParaRPr lang="en-GB"/>
          </a:p>
        </p:txBody>
      </p:sp>
      <p:sp>
        <p:nvSpPr>
          <p:cNvPr id="6" name="Marcador de Posição do Rodapé 5">
            <a:extLst>
              <a:ext uri="{FF2B5EF4-FFF2-40B4-BE49-F238E27FC236}">
                <a16:creationId xmlns:a16="http://schemas.microsoft.com/office/drawing/2014/main" id="{7A2C9869-A7A8-6320-C86A-554052D414E4}"/>
              </a:ext>
            </a:extLst>
          </p:cNvPr>
          <p:cNvSpPr>
            <a:spLocks noGrp="1"/>
          </p:cNvSpPr>
          <p:nvPr>
            <p:ph type="ftr" sz="quarter" idx="11"/>
          </p:nvPr>
        </p:nvSpPr>
        <p:spPr/>
        <p:txBody>
          <a:bodyPr/>
          <a:lstStyle/>
          <a:p>
            <a:endParaRPr lang="en-GB"/>
          </a:p>
        </p:txBody>
      </p:sp>
      <p:sp>
        <p:nvSpPr>
          <p:cNvPr id="7" name="Marcador de Posição do Número do Diapositivo 6">
            <a:extLst>
              <a:ext uri="{FF2B5EF4-FFF2-40B4-BE49-F238E27FC236}">
                <a16:creationId xmlns:a16="http://schemas.microsoft.com/office/drawing/2014/main" id="{572E6B9B-961E-96FE-7FAF-192DEB3E12EF}"/>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481047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8A15D8-FA87-A1EF-D928-48780D77714E}"/>
              </a:ext>
            </a:extLst>
          </p:cNvPr>
          <p:cNvSpPr>
            <a:spLocks noGrp="1"/>
          </p:cNvSpPr>
          <p:nvPr>
            <p:ph type="title"/>
          </p:nvPr>
        </p:nvSpPr>
        <p:spPr/>
        <p:txBody>
          <a:bodyPr/>
          <a:lstStyle/>
          <a:p>
            <a:r>
              <a:rPr lang="pt-PT"/>
              <a:t>Clique para editar o estilo de título do Modelo Global</a:t>
            </a:r>
            <a:endParaRPr lang="en-GB"/>
          </a:p>
        </p:txBody>
      </p:sp>
      <p:sp>
        <p:nvSpPr>
          <p:cNvPr id="3" name="Marcador de Posição de Texto Vertical 2">
            <a:extLst>
              <a:ext uri="{FF2B5EF4-FFF2-40B4-BE49-F238E27FC236}">
                <a16:creationId xmlns:a16="http://schemas.microsoft.com/office/drawing/2014/main" id="{B0A8ECEB-7693-25E0-2E52-E6C81563B632}"/>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a Data 3">
            <a:extLst>
              <a:ext uri="{FF2B5EF4-FFF2-40B4-BE49-F238E27FC236}">
                <a16:creationId xmlns:a16="http://schemas.microsoft.com/office/drawing/2014/main" id="{E778427F-3C36-A0DE-2CD7-415E699D3D04}"/>
              </a:ext>
            </a:extLst>
          </p:cNvPr>
          <p:cNvSpPr>
            <a:spLocks noGrp="1"/>
          </p:cNvSpPr>
          <p:nvPr>
            <p:ph type="dt" sz="half" idx="10"/>
          </p:nvPr>
        </p:nvSpPr>
        <p:spPr/>
        <p:txBody>
          <a:bodyPr/>
          <a:lstStyle/>
          <a:p>
            <a:fld id="{B5AC49CF-46CE-4B21-AE6A-AF4405642FC5}" type="datetime1">
              <a:rPr lang="en-GB" smtClean="0"/>
              <a:t>26/08/2026</a:t>
            </a:fld>
            <a:endParaRPr lang="en-GB"/>
          </a:p>
        </p:txBody>
      </p:sp>
      <p:sp>
        <p:nvSpPr>
          <p:cNvPr id="5" name="Marcador de Posição do Rodapé 4">
            <a:extLst>
              <a:ext uri="{FF2B5EF4-FFF2-40B4-BE49-F238E27FC236}">
                <a16:creationId xmlns:a16="http://schemas.microsoft.com/office/drawing/2014/main" id="{4CB11CFB-F37D-30D2-CF2F-B07F3897FBD5}"/>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A7B6F960-AAA5-EF92-8C35-2E045B679D8B}"/>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593852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83C6224-1D27-E748-3319-0810C4D0D440}"/>
              </a:ext>
            </a:extLst>
          </p:cNvPr>
          <p:cNvSpPr>
            <a:spLocks noGrp="1"/>
          </p:cNvSpPr>
          <p:nvPr>
            <p:ph type="title" orient="vert"/>
          </p:nvPr>
        </p:nvSpPr>
        <p:spPr>
          <a:xfrm>
            <a:off x="8724900" y="365125"/>
            <a:ext cx="2628900" cy="5811838"/>
          </a:xfrm>
        </p:spPr>
        <p:txBody>
          <a:bodyPr vert="eaVert"/>
          <a:lstStyle/>
          <a:p>
            <a:r>
              <a:rPr lang="pt-PT"/>
              <a:t>Clique para editar o estilo de título do Modelo Global</a:t>
            </a:r>
            <a:endParaRPr lang="en-GB"/>
          </a:p>
        </p:txBody>
      </p:sp>
      <p:sp>
        <p:nvSpPr>
          <p:cNvPr id="3" name="Marcador de Posição de Texto Vertical 2">
            <a:extLst>
              <a:ext uri="{FF2B5EF4-FFF2-40B4-BE49-F238E27FC236}">
                <a16:creationId xmlns:a16="http://schemas.microsoft.com/office/drawing/2014/main" id="{817A4506-4300-3468-94BA-89CCC28D8E95}"/>
              </a:ext>
            </a:extLst>
          </p:cNvPr>
          <p:cNvSpPr>
            <a:spLocks noGrp="1"/>
          </p:cNvSpPr>
          <p:nvPr>
            <p:ph type="body" orient="vert" idx="1"/>
          </p:nvPr>
        </p:nvSpPr>
        <p:spPr>
          <a:xfrm>
            <a:off x="838200" y="365125"/>
            <a:ext cx="7734300" cy="5811838"/>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a Data 3">
            <a:extLst>
              <a:ext uri="{FF2B5EF4-FFF2-40B4-BE49-F238E27FC236}">
                <a16:creationId xmlns:a16="http://schemas.microsoft.com/office/drawing/2014/main" id="{31FDE97F-3F28-880A-F2D8-921325BB1F3A}"/>
              </a:ext>
            </a:extLst>
          </p:cNvPr>
          <p:cNvSpPr>
            <a:spLocks noGrp="1"/>
          </p:cNvSpPr>
          <p:nvPr>
            <p:ph type="dt" sz="half" idx="10"/>
          </p:nvPr>
        </p:nvSpPr>
        <p:spPr/>
        <p:txBody>
          <a:bodyPr/>
          <a:lstStyle/>
          <a:p>
            <a:fld id="{81A6A34D-1CC7-41CC-85F9-21F475540462}" type="datetime1">
              <a:rPr lang="en-GB" smtClean="0"/>
              <a:t>26/08/2026</a:t>
            </a:fld>
            <a:endParaRPr lang="en-GB"/>
          </a:p>
        </p:txBody>
      </p:sp>
      <p:sp>
        <p:nvSpPr>
          <p:cNvPr id="5" name="Marcador de Posição do Rodapé 4">
            <a:extLst>
              <a:ext uri="{FF2B5EF4-FFF2-40B4-BE49-F238E27FC236}">
                <a16:creationId xmlns:a16="http://schemas.microsoft.com/office/drawing/2014/main" id="{10AF1666-CBF3-2C4C-3A8D-EE9DE21DA355}"/>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CBC7D222-5A79-7CCE-2D6B-8EFB193C08B7}"/>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1120599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77B15271-E7C0-1FE9-0DEE-F7D20D188B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a:t>Clique para editar o estilo de título do Modelo Global</a:t>
            </a:r>
            <a:endParaRPr lang="en-GB"/>
          </a:p>
        </p:txBody>
      </p:sp>
      <p:sp>
        <p:nvSpPr>
          <p:cNvPr id="3" name="Marcador de Posição do Texto 2">
            <a:extLst>
              <a:ext uri="{FF2B5EF4-FFF2-40B4-BE49-F238E27FC236}">
                <a16:creationId xmlns:a16="http://schemas.microsoft.com/office/drawing/2014/main" id="{15D6AAEF-C90F-556D-F56B-4515C4E8E5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a Data 3">
            <a:extLst>
              <a:ext uri="{FF2B5EF4-FFF2-40B4-BE49-F238E27FC236}">
                <a16:creationId xmlns:a16="http://schemas.microsoft.com/office/drawing/2014/main" id="{802B3321-DE42-D999-232A-90D64F65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21D7C6-184B-4799-A4C0-6160F65168AC}" type="datetime1">
              <a:rPr lang="en-GB" smtClean="0"/>
              <a:t>26/08/2026</a:t>
            </a:fld>
            <a:endParaRPr lang="en-GB"/>
          </a:p>
        </p:txBody>
      </p:sp>
      <p:sp>
        <p:nvSpPr>
          <p:cNvPr id="5" name="Marcador de Posição do Rodapé 4">
            <a:extLst>
              <a:ext uri="{FF2B5EF4-FFF2-40B4-BE49-F238E27FC236}">
                <a16:creationId xmlns:a16="http://schemas.microsoft.com/office/drawing/2014/main" id="{DAB5B98B-9B08-FAAB-1B77-9F57C552C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Marcador de Posição do Número do Diapositivo 5">
            <a:extLst>
              <a:ext uri="{FF2B5EF4-FFF2-40B4-BE49-F238E27FC236}">
                <a16:creationId xmlns:a16="http://schemas.microsoft.com/office/drawing/2014/main" id="{2D851498-54A7-0FDB-366D-E8D053B208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49FC33-1B8E-4C1B-8D07-84B8EBAC733E}" type="slidenum">
              <a:rPr lang="en-GB" smtClean="0"/>
              <a:t>‹nº›</a:t>
            </a:fld>
            <a:endParaRPr lang="en-GB"/>
          </a:p>
        </p:txBody>
      </p:sp>
    </p:spTree>
    <p:extLst>
      <p:ext uri="{BB962C8B-B14F-4D97-AF65-F5344CB8AC3E}">
        <p14:creationId xmlns:p14="http://schemas.microsoft.com/office/powerpoint/2010/main" val="1105250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ugc.futurelearn.com/uploads/assets/6e/83/6e8349c8-5d2f-470b-8804-8a1a3e0e66e2.png"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Mutation#/media/File:Point_mutations-en.png"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007/s12265-011-9259-1"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www.gimjournal.org/article/S1098-3600(21)03031-8/fulltext"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pmc.ncbi.nlm.nih.gov/articles/PMC7586657/#Sec5"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variantvalidator.org/"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genome.ucsc.edu/cgi-bin/hgBlat" TargetMode="External"/><Relationship Id="rId2" Type="http://schemas.openxmlformats.org/officeDocument/2006/relationships/hyperlink" Target="https://variantvalidator.org/"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F736CF-99B3-4B9D-2135-5C426AA76720}"/>
              </a:ext>
            </a:extLst>
          </p:cNvPr>
          <p:cNvSpPr>
            <a:spLocks noGrp="1"/>
          </p:cNvSpPr>
          <p:nvPr>
            <p:ph type="title"/>
          </p:nvPr>
        </p:nvSpPr>
        <p:spPr>
          <a:xfrm>
            <a:off x="838200" y="1668631"/>
            <a:ext cx="10515600" cy="3399480"/>
          </a:xfrm>
        </p:spPr>
        <p:txBody>
          <a:bodyPr>
            <a:normAutofit/>
          </a:bodyPr>
          <a:lstStyle/>
          <a:p>
            <a:pPr algn="ctr"/>
            <a:r>
              <a:rPr lang="pt-PT" dirty="0"/>
              <a:t>Interpretação de variantes genómicas</a:t>
            </a:r>
            <a:br>
              <a:rPr lang="pt-PT" dirty="0"/>
            </a:br>
            <a:endParaRPr lang="pt-PT" dirty="0"/>
          </a:p>
        </p:txBody>
      </p:sp>
      <p:sp>
        <p:nvSpPr>
          <p:cNvPr id="4" name="Marcador de Posição do Número do Diapositivo 3">
            <a:extLst>
              <a:ext uri="{FF2B5EF4-FFF2-40B4-BE49-F238E27FC236}">
                <a16:creationId xmlns:a16="http://schemas.microsoft.com/office/drawing/2014/main" id="{648FC219-148B-D940-1F6A-CB42A0C1CC63}"/>
              </a:ext>
            </a:extLst>
          </p:cNvPr>
          <p:cNvSpPr>
            <a:spLocks noGrp="1"/>
          </p:cNvSpPr>
          <p:nvPr>
            <p:ph type="sldNum" sz="quarter" idx="12"/>
          </p:nvPr>
        </p:nvSpPr>
        <p:spPr/>
        <p:txBody>
          <a:bodyPr/>
          <a:lstStyle/>
          <a:p>
            <a:fld id="{6D49FC33-1B8E-4C1B-8D07-84B8EBAC733E}" type="slidenum">
              <a:rPr lang="pt-PT" smtClean="0"/>
              <a:t>1</a:t>
            </a:fld>
            <a:endParaRPr lang="pt-PT" dirty="0"/>
          </a:p>
        </p:txBody>
      </p:sp>
    </p:spTree>
    <p:extLst>
      <p:ext uri="{BB962C8B-B14F-4D97-AF65-F5344CB8AC3E}">
        <p14:creationId xmlns:p14="http://schemas.microsoft.com/office/powerpoint/2010/main" val="55334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3757FC-07BD-BF2E-9227-0027ED3B0C51}"/>
              </a:ext>
            </a:extLst>
          </p:cNvPr>
          <p:cNvSpPr>
            <a:spLocks noGrp="1"/>
          </p:cNvSpPr>
          <p:nvPr>
            <p:ph type="ctrTitle"/>
          </p:nvPr>
        </p:nvSpPr>
        <p:spPr/>
        <p:txBody>
          <a:bodyPr/>
          <a:lstStyle/>
          <a:p>
            <a:r>
              <a:rPr lang="pt-PT" dirty="0"/>
              <a:t>Sessão 1</a:t>
            </a:r>
          </a:p>
        </p:txBody>
      </p:sp>
      <p:sp>
        <p:nvSpPr>
          <p:cNvPr id="3" name="Subtítulo 2">
            <a:extLst>
              <a:ext uri="{FF2B5EF4-FFF2-40B4-BE49-F238E27FC236}">
                <a16:creationId xmlns:a16="http://schemas.microsoft.com/office/drawing/2014/main" id="{8CC3B287-B634-1547-022A-B1246031F3CA}"/>
              </a:ext>
            </a:extLst>
          </p:cNvPr>
          <p:cNvSpPr>
            <a:spLocks noGrp="1"/>
          </p:cNvSpPr>
          <p:nvPr>
            <p:ph type="subTitle" idx="1"/>
          </p:nvPr>
        </p:nvSpPr>
        <p:spPr/>
        <p:txBody>
          <a:bodyPr/>
          <a:lstStyle/>
          <a:p>
            <a:r>
              <a:rPr lang="pt-PT" dirty="0"/>
              <a:t>Fundamentos para interpretação de variantes</a:t>
            </a:r>
          </a:p>
        </p:txBody>
      </p:sp>
    </p:spTree>
    <p:extLst>
      <p:ext uri="{BB962C8B-B14F-4D97-AF65-F5344CB8AC3E}">
        <p14:creationId xmlns:p14="http://schemas.microsoft.com/office/powerpoint/2010/main" val="3225334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23E0E9-5519-2405-2310-4AD80440868D}"/>
              </a:ext>
            </a:extLst>
          </p:cNvPr>
          <p:cNvSpPr>
            <a:spLocks noGrp="1"/>
          </p:cNvSpPr>
          <p:nvPr>
            <p:ph type="title"/>
          </p:nvPr>
        </p:nvSpPr>
        <p:spPr/>
        <p:txBody>
          <a:bodyPr/>
          <a:lstStyle/>
          <a:p>
            <a:r>
              <a:rPr lang="pt-PT" dirty="0"/>
              <a:t>Identificação de variantes em dados de NGS</a:t>
            </a:r>
          </a:p>
        </p:txBody>
      </p:sp>
      <p:sp>
        <p:nvSpPr>
          <p:cNvPr id="3" name="Marcador de Posição de Conteúdo 2">
            <a:extLst>
              <a:ext uri="{FF2B5EF4-FFF2-40B4-BE49-F238E27FC236}">
                <a16:creationId xmlns:a16="http://schemas.microsoft.com/office/drawing/2014/main" id="{3E20578A-8726-6CCE-91DA-752007847E29}"/>
              </a:ext>
            </a:extLst>
          </p:cNvPr>
          <p:cNvSpPr>
            <a:spLocks noGrp="1"/>
          </p:cNvSpPr>
          <p:nvPr>
            <p:ph idx="1"/>
          </p:nvPr>
        </p:nvSpPr>
        <p:spPr>
          <a:xfrm>
            <a:off x="838200" y="1825625"/>
            <a:ext cx="10309698" cy="4351338"/>
          </a:xfrm>
        </p:spPr>
        <p:txBody>
          <a:bodyPr>
            <a:normAutofit/>
          </a:bodyPr>
          <a:lstStyle/>
          <a:p>
            <a:pPr algn="just"/>
            <a:r>
              <a:rPr lang="pt-PT" dirty="0"/>
              <a:t>Através da sequenciação por NGS é possível identificar um elevado número de variantes genéticas de diferentes tipos.</a:t>
            </a:r>
          </a:p>
          <a:p>
            <a:pPr algn="just"/>
            <a:r>
              <a:rPr lang="pt-PT" dirty="0"/>
              <a:t>Num caso de </a:t>
            </a:r>
            <a:r>
              <a:rPr lang="pt-PT" dirty="0" err="1"/>
              <a:t>exoma</a:t>
            </a:r>
            <a:r>
              <a:rPr lang="pt-PT" dirty="0"/>
              <a:t>, são identificadas, em média, cerca de 47 000 variantes.</a:t>
            </a:r>
          </a:p>
          <a:p>
            <a:pPr algn="just"/>
            <a:r>
              <a:rPr lang="pt-PT" dirty="0"/>
              <a:t>O primeiro passo consiste em distinguir as variantes reais dos artefactos introduzidos durante a sequenciação e a análise bioinformática.</a:t>
            </a:r>
          </a:p>
          <a:p>
            <a:pPr algn="just"/>
            <a:r>
              <a:rPr lang="pt-PT" dirty="0"/>
              <a:t>De seguida, é necessário identificar quais dessas variantes poderão estar associadas ao fenótipo do doente e, consequentemente, ser relevantes para o diagnóstico.</a:t>
            </a:r>
          </a:p>
        </p:txBody>
      </p:sp>
      <p:sp>
        <p:nvSpPr>
          <p:cNvPr id="4" name="Marcador de Posição do Número do Diapositivo 3">
            <a:extLst>
              <a:ext uri="{FF2B5EF4-FFF2-40B4-BE49-F238E27FC236}">
                <a16:creationId xmlns:a16="http://schemas.microsoft.com/office/drawing/2014/main" id="{E1F19F32-D830-753A-1C53-8FFCC1E0511D}"/>
              </a:ext>
            </a:extLst>
          </p:cNvPr>
          <p:cNvSpPr>
            <a:spLocks noGrp="1"/>
          </p:cNvSpPr>
          <p:nvPr>
            <p:ph type="sldNum" sz="quarter" idx="12"/>
          </p:nvPr>
        </p:nvSpPr>
        <p:spPr/>
        <p:txBody>
          <a:bodyPr/>
          <a:lstStyle/>
          <a:p>
            <a:fld id="{6D49FC33-1B8E-4C1B-8D07-84B8EBAC733E}" type="slidenum">
              <a:rPr lang="pt-PT" smtClean="0"/>
              <a:t>3</a:t>
            </a:fld>
            <a:endParaRPr lang="pt-PT" dirty="0"/>
          </a:p>
        </p:txBody>
      </p:sp>
    </p:spTree>
    <p:extLst>
      <p:ext uri="{BB962C8B-B14F-4D97-AF65-F5344CB8AC3E}">
        <p14:creationId xmlns:p14="http://schemas.microsoft.com/office/powerpoint/2010/main" val="24022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2C16C-D876-74D3-B466-DA900E2AD66A}"/>
              </a:ext>
            </a:extLst>
          </p:cNvPr>
          <p:cNvSpPr>
            <a:spLocks noGrp="1"/>
          </p:cNvSpPr>
          <p:nvPr>
            <p:ph type="title"/>
          </p:nvPr>
        </p:nvSpPr>
        <p:spPr/>
        <p:txBody>
          <a:bodyPr/>
          <a:lstStyle/>
          <a:p>
            <a:r>
              <a:rPr lang="pt-PT"/>
              <a:t>Tipos de variantes – por efeito na estrutura</a:t>
            </a:r>
          </a:p>
        </p:txBody>
      </p:sp>
      <p:pic>
        <p:nvPicPr>
          <p:cNvPr id="1026" name="Picture 2" descr="An illustrative image with the classification for DNA variants: ‘DNA variations’ can be at: ‘Nucleotide level’ or ‘Chromosomal level’.  ‘Nucleotide level’ includes ‘Small indels’ and ‘Single nucleotide variants’, which are categorised into ‘Insertions’, ‘Deletions’, and ‘Substitutions’. ‘Chromosomal level is divided into ‘Aneuploidies’, ‘Copy number variants’ (CNV) and ‘Structural variants’. ‘Copy number variants’ include ‘Deletions (loss)’ and ‘Amplification (gain). ‘Structural variants’ include ‘Inversions’, ‘Translocations’ and ‘Repeats’.">
            <a:extLst>
              <a:ext uri="{FF2B5EF4-FFF2-40B4-BE49-F238E27FC236}">
                <a16:creationId xmlns:a16="http://schemas.microsoft.com/office/drawing/2014/main" id="{9F8AA991-DAA1-28A0-230F-5B3BB12875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9780" y="1582266"/>
            <a:ext cx="8663291" cy="4692616"/>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579D58DA-4103-B298-FFD0-828DDFF8CD64}"/>
              </a:ext>
            </a:extLst>
          </p:cNvPr>
          <p:cNvSpPr txBox="1"/>
          <p:nvPr/>
        </p:nvSpPr>
        <p:spPr>
          <a:xfrm>
            <a:off x="9562289" y="6060651"/>
            <a:ext cx="1748545" cy="307777"/>
          </a:xfrm>
          <a:prstGeom prst="rect">
            <a:avLst/>
          </a:prstGeom>
          <a:noFill/>
        </p:spPr>
        <p:txBody>
          <a:bodyPr wrap="square">
            <a:spAutoFit/>
          </a:bodyPr>
          <a:lstStyle/>
          <a:p>
            <a:r>
              <a:rPr lang="pt-PT" sz="1400" dirty="0" err="1">
                <a:hlinkClick r:id="rId3"/>
              </a:rPr>
              <a:t>futurelearn</a:t>
            </a:r>
            <a:r>
              <a:rPr lang="pt-PT" sz="1400" dirty="0">
                <a:hlinkClick r:id="rId3"/>
              </a:rPr>
              <a:t> </a:t>
            </a:r>
            <a:r>
              <a:rPr lang="pt-PT" sz="1400" dirty="0" err="1">
                <a:hlinkClick r:id="rId3"/>
              </a:rPr>
              <a:t>png</a:t>
            </a:r>
            <a:endParaRPr lang="en-GB" sz="1400" dirty="0"/>
          </a:p>
        </p:txBody>
      </p:sp>
      <p:sp>
        <p:nvSpPr>
          <p:cNvPr id="6" name="Marcador de Posição do Número do Diapositivo 5">
            <a:extLst>
              <a:ext uri="{FF2B5EF4-FFF2-40B4-BE49-F238E27FC236}">
                <a16:creationId xmlns:a16="http://schemas.microsoft.com/office/drawing/2014/main" id="{27CFF95B-1F2E-81E7-48DD-A9DD1C9E8B12}"/>
              </a:ext>
            </a:extLst>
          </p:cNvPr>
          <p:cNvSpPr>
            <a:spLocks noGrp="1"/>
          </p:cNvSpPr>
          <p:nvPr>
            <p:ph type="sldNum" sz="quarter" idx="12"/>
          </p:nvPr>
        </p:nvSpPr>
        <p:spPr/>
        <p:txBody>
          <a:bodyPr/>
          <a:lstStyle/>
          <a:p>
            <a:fld id="{6D49FC33-1B8E-4C1B-8D07-84B8EBAC733E}" type="slidenum">
              <a:rPr lang="en-GB" smtClean="0"/>
              <a:t>4</a:t>
            </a:fld>
            <a:endParaRPr lang="en-GB"/>
          </a:p>
        </p:txBody>
      </p:sp>
    </p:spTree>
    <p:extLst>
      <p:ext uri="{BB962C8B-B14F-4D97-AF65-F5344CB8AC3E}">
        <p14:creationId xmlns:p14="http://schemas.microsoft.com/office/powerpoint/2010/main" val="3742930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2A21D-3DD8-4A56-2EB6-92AA2ACDAD50}"/>
              </a:ext>
            </a:extLst>
          </p:cNvPr>
          <p:cNvSpPr>
            <a:spLocks noGrp="1"/>
          </p:cNvSpPr>
          <p:nvPr>
            <p:ph type="title"/>
          </p:nvPr>
        </p:nvSpPr>
        <p:spPr/>
        <p:txBody>
          <a:bodyPr/>
          <a:lstStyle/>
          <a:p>
            <a:r>
              <a:rPr lang="pt-PT" dirty="0"/>
              <a:t>Tipo de variante – por impacto na </a:t>
            </a:r>
            <a:r>
              <a:rPr lang="pt-PT" dirty="0" err="1"/>
              <a:t>proteina</a:t>
            </a:r>
            <a:endParaRPr lang="pt-PT" dirty="0"/>
          </a:p>
        </p:txBody>
      </p:sp>
      <p:sp>
        <p:nvSpPr>
          <p:cNvPr id="3" name="Marcador de Posição de Conteúdo 2">
            <a:extLst>
              <a:ext uri="{FF2B5EF4-FFF2-40B4-BE49-F238E27FC236}">
                <a16:creationId xmlns:a16="http://schemas.microsoft.com/office/drawing/2014/main" id="{319C76D4-1569-C93E-356F-F00F2A51A0A0}"/>
              </a:ext>
            </a:extLst>
          </p:cNvPr>
          <p:cNvSpPr>
            <a:spLocks noGrp="1"/>
          </p:cNvSpPr>
          <p:nvPr>
            <p:ph idx="1"/>
          </p:nvPr>
        </p:nvSpPr>
        <p:spPr>
          <a:xfrm>
            <a:off x="838200" y="1825625"/>
            <a:ext cx="10515600" cy="2133532"/>
          </a:xfrm>
        </p:spPr>
        <p:txBody>
          <a:bodyPr/>
          <a:lstStyle/>
          <a:p>
            <a:r>
              <a:rPr lang="pt-PT" i="1" dirty="0" err="1"/>
              <a:t>Frameshift</a:t>
            </a:r>
            <a:r>
              <a:rPr lang="pt-PT" dirty="0"/>
              <a:t>: é uma alteração genética causada por uma </a:t>
            </a:r>
            <a:r>
              <a:rPr lang="pt-PT" b="1" dirty="0"/>
              <a:t>inserção ou deleção</a:t>
            </a:r>
            <a:r>
              <a:rPr lang="pt-PT" dirty="0"/>
              <a:t> de nucleótidos cujo tamanho </a:t>
            </a:r>
            <a:r>
              <a:rPr lang="pt-PT" b="1" dirty="0"/>
              <a:t>não é múltiplo de 3</a:t>
            </a:r>
            <a:r>
              <a:rPr lang="pt-PT" dirty="0"/>
              <a:t>. Como os genes são lidos em grupos de 3 bases (codões), esta alteração “desloca” a forma como a sequência é interpretada a partir desse ponto.</a:t>
            </a:r>
          </a:p>
        </p:txBody>
      </p:sp>
      <p:sp>
        <p:nvSpPr>
          <p:cNvPr id="4" name="Marcador de Posição do Número do Diapositivo 3">
            <a:extLst>
              <a:ext uri="{FF2B5EF4-FFF2-40B4-BE49-F238E27FC236}">
                <a16:creationId xmlns:a16="http://schemas.microsoft.com/office/drawing/2014/main" id="{078C4463-EAD0-5033-4E9F-F93611E6E425}"/>
              </a:ext>
            </a:extLst>
          </p:cNvPr>
          <p:cNvSpPr>
            <a:spLocks noGrp="1"/>
          </p:cNvSpPr>
          <p:nvPr>
            <p:ph type="sldNum" sz="quarter" idx="12"/>
          </p:nvPr>
        </p:nvSpPr>
        <p:spPr/>
        <p:txBody>
          <a:bodyPr/>
          <a:lstStyle/>
          <a:p>
            <a:fld id="{6D49FC33-1B8E-4C1B-8D07-84B8EBAC733E}" type="slidenum">
              <a:rPr lang="pt-PT" smtClean="0"/>
              <a:t>5</a:t>
            </a:fld>
            <a:endParaRPr lang="pt-PT" dirty="0"/>
          </a:p>
        </p:txBody>
      </p:sp>
      <p:sp>
        <p:nvSpPr>
          <p:cNvPr id="5" name="CaixaDeTexto 4">
            <a:extLst>
              <a:ext uri="{FF2B5EF4-FFF2-40B4-BE49-F238E27FC236}">
                <a16:creationId xmlns:a16="http://schemas.microsoft.com/office/drawing/2014/main" id="{63622D1F-F7F2-662F-A563-064AD3CDC691}"/>
              </a:ext>
            </a:extLst>
          </p:cNvPr>
          <p:cNvSpPr txBox="1"/>
          <p:nvPr/>
        </p:nvSpPr>
        <p:spPr>
          <a:xfrm>
            <a:off x="505839" y="4377986"/>
            <a:ext cx="710119" cy="369332"/>
          </a:xfrm>
          <a:prstGeom prst="rect">
            <a:avLst/>
          </a:prstGeom>
          <a:noFill/>
        </p:spPr>
        <p:txBody>
          <a:bodyPr wrap="square" rtlCol="0">
            <a:spAutoFit/>
          </a:bodyPr>
          <a:lstStyle/>
          <a:p>
            <a:r>
              <a:rPr lang="pt-PT" dirty="0"/>
              <a:t>DNA</a:t>
            </a:r>
          </a:p>
        </p:txBody>
      </p:sp>
      <p:grpSp>
        <p:nvGrpSpPr>
          <p:cNvPr id="11" name="Agrupar 10">
            <a:extLst>
              <a:ext uri="{FF2B5EF4-FFF2-40B4-BE49-F238E27FC236}">
                <a16:creationId xmlns:a16="http://schemas.microsoft.com/office/drawing/2014/main" id="{17A463B4-C898-0E97-67D5-F85B7F86714B}"/>
              </a:ext>
            </a:extLst>
          </p:cNvPr>
          <p:cNvGrpSpPr/>
          <p:nvPr/>
        </p:nvGrpSpPr>
        <p:grpSpPr>
          <a:xfrm>
            <a:off x="1215958" y="4365015"/>
            <a:ext cx="1066799" cy="403355"/>
            <a:chOff x="3142034" y="4374203"/>
            <a:chExt cx="1066799" cy="403355"/>
          </a:xfrm>
        </p:grpSpPr>
        <p:sp>
          <p:nvSpPr>
            <p:cNvPr id="8" name="CaixaDeTexto 7">
              <a:extLst>
                <a:ext uri="{FF2B5EF4-FFF2-40B4-BE49-F238E27FC236}">
                  <a16:creationId xmlns:a16="http://schemas.microsoft.com/office/drawing/2014/main" id="{BA31EA7B-41BD-9966-6EAA-E4A8138B99DD}"/>
                </a:ext>
              </a:extLst>
            </p:cNvPr>
            <p:cNvSpPr txBox="1"/>
            <p:nvPr/>
          </p:nvSpPr>
          <p:spPr>
            <a:xfrm>
              <a:off x="3142034" y="4377448"/>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sp>
          <p:nvSpPr>
            <p:cNvPr id="9" name="CaixaDeTexto 8">
              <a:extLst>
                <a:ext uri="{FF2B5EF4-FFF2-40B4-BE49-F238E27FC236}">
                  <a16:creationId xmlns:a16="http://schemas.microsoft.com/office/drawing/2014/main" id="{B3264433-87B8-F143-DC05-3A7DF21EF401}"/>
                </a:ext>
              </a:extLst>
            </p:cNvPr>
            <p:cNvSpPr txBox="1"/>
            <p:nvPr/>
          </p:nvSpPr>
          <p:spPr>
            <a:xfrm>
              <a:off x="3498714" y="4374203"/>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T</a:t>
              </a:r>
            </a:p>
          </p:txBody>
        </p:sp>
        <p:sp>
          <p:nvSpPr>
            <p:cNvPr id="10" name="CaixaDeTexto 9">
              <a:extLst>
                <a:ext uri="{FF2B5EF4-FFF2-40B4-BE49-F238E27FC236}">
                  <a16:creationId xmlns:a16="http://schemas.microsoft.com/office/drawing/2014/main" id="{24D4EFD6-65A3-773E-5EE1-62971BDC1F65}"/>
                </a:ext>
              </a:extLst>
            </p:cNvPr>
            <p:cNvSpPr txBox="1"/>
            <p:nvPr/>
          </p:nvSpPr>
          <p:spPr>
            <a:xfrm>
              <a:off x="3848910" y="4374205"/>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G</a:t>
              </a:r>
            </a:p>
          </p:txBody>
        </p:sp>
      </p:grpSp>
      <p:grpSp>
        <p:nvGrpSpPr>
          <p:cNvPr id="12" name="Agrupar 11">
            <a:extLst>
              <a:ext uri="{FF2B5EF4-FFF2-40B4-BE49-F238E27FC236}">
                <a16:creationId xmlns:a16="http://schemas.microsoft.com/office/drawing/2014/main" id="{C632137E-9BCA-9136-1216-B5E48BDF8445}"/>
              </a:ext>
            </a:extLst>
          </p:cNvPr>
          <p:cNvGrpSpPr/>
          <p:nvPr/>
        </p:nvGrpSpPr>
        <p:grpSpPr>
          <a:xfrm>
            <a:off x="2508310" y="4371111"/>
            <a:ext cx="1066799" cy="403355"/>
            <a:chOff x="3142034" y="4374203"/>
            <a:chExt cx="1066799" cy="403355"/>
          </a:xfrm>
        </p:grpSpPr>
        <p:sp>
          <p:nvSpPr>
            <p:cNvPr id="13" name="CaixaDeTexto 12">
              <a:extLst>
                <a:ext uri="{FF2B5EF4-FFF2-40B4-BE49-F238E27FC236}">
                  <a16:creationId xmlns:a16="http://schemas.microsoft.com/office/drawing/2014/main" id="{BF829CD4-0D93-207C-D5DF-3F90185B2336}"/>
                </a:ext>
              </a:extLst>
            </p:cNvPr>
            <p:cNvSpPr txBox="1"/>
            <p:nvPr/>
          </p:nvSpPr>
          <p:spPr>
            <a:xfrm>
              <a:off x="3142034" y="4377448"/>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C</a:t>
              </a:r>
            </a:p>
          </p:txBody>
        </p:sp>
        <p:sp>
          <p:nvSpPr>
            <p:cNvPr id="14" name="CaixaDeTexto 13">
              <a:extLst>
                <a:ext uri="{FF2B5EF4-FFF2-40B4-BE49-F238E27FC236}">
                  <a16:creationId xmlns:a16="http://schemas.microsoft.com/office/drawing/2014/main" id="{2B111B76-91D9-33A7-B2D9-F79A9F68A219}"/>
                </a:ext>
              </a:extLst>
            </p:cNvPr>
            <p:cNvSpPr txBox="1"/>
            <p:nvPr/>
          </p:nvSpPr>
          <p:spPr>
            <a:xfrm>
              <a:off x="3498714" y="4374203"/>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sp>
          <p:nvSpPr>
            <p:cNvPr id="15" name="CaixaDeTexto 14">
              <a:extLst>
                <a:ext uri="{FF2B5EF4-FFF2-40B4-BE49-F238E27FC236}">
                  <a16:creationId xmlns:a16="http://schemas.microsoft.com/office/drawing/2014/main" id="{05587FD9-C286-5131-F26A-69CBA77BFE9F}"/>
                </a:ext>
              </a:extLst>
            </p:cNvPr>
            <p:cNvSpPr txBox="1"/>
            <p:nvPr/>
          </p:nvSpPr>
          <p:spPr>
            <a:xfrm>
              <a:off x="3848910" y="4374205"/>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T</a:t>
              </a:r>
            </a:p>
          </p:txBody>
        </p:sp>
      </p:grpSp>
      <p:grpSp>
        <p:nvGrpSpPr>
          <p:cNvPr id="16" name="Agrupar 15">
            <a:extLst>
              <a:ext uri="{FF2B5EF4-FFF2-40B4-BE49-F238E27FC236}">
                <a16:creationId xmlns:a16="http://schemas.microsoft.com/office/drawing/2014/main" id="{BC85C09B-F120-A511-75F0-B6E50860FEF0}"/>
              </a:ext>
            </a:extLst>
          </p:cNvPr>
          <p:cNvGrpSpPr/>
          <p:nvPr/>
        </p:nvGrpSpPr>
        <p:grpSpPr>
          <a:xfrm>
            <a:off x="3782374" y="4377207"/>
            <a:ext cx="1066799" cy="403355"/>
            <a:chOff x="3142034" y="4374203"/>
            <a:chExt cx="1066799" cy="403355"/>
          </a:xfrm>
        </p:grpSpPr>
        <p:sp>
          <p:nvSpPr>
            <p:cNvPr id="17" name="CaixaDeTexto 16">
              <a:extLst>
                <a:ext uri="{FF2B5EF4-FFF2-40B4-BE49-F238E27FC236}">
                  <a16:creationId xmlns:a16="http://schemas.microsoft.com/office/drawing/2014/main" id="{A456E89D-3C21-0F81-B690-71439DC664B0}"/>
                </a:ext>
              </a:extLst>
            </p:cNvPr>
            <p:cNvSpPr txBox="1"/>
            <p:nvPr/>
          </p:nvSpPr>
          <p:spPr>
            <a:xfrm>
              <a:off x="3142034" y="4377448"/>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T</a:t>
              </a:r>
            </a:p>
          </p:txBody>
        </p:sp>
        <p:sp>
          <p:nvSpPr>
            <p:cNvPr id="18" name="CaixaDeTexto 17">
              <a:extLst>
                <a:ext uri="{FF2B5EF4-FFF2-40B4-BE49-F238E27FC236}">
                  <a16:creationId xmlns:a16="http://schemas.microsoft.com/office/drawing/2014/main" id="{7221C0ED-DAF8-34F5-17A8-0FA0790B9277}"/>
                </a:ext>
              </a:extLst>
            </p:cNvPr>
            <p:cNvSpPr txBox="1"/>
            <p:nvPr/>
          </p:nvSpPr>
          <p:spPr>
            <a:xfrm>
              <a:off x="3498714" y="4374203"/>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C</a:t>
              </a:r>
            </a:p>
          </p:txBody>
        </p:sp>
        <p:sp>
          <p:nvSpPr>
            <p:cNvPr id="19" name="CaixaDeTexto 18">
              <a:extLst>
                <a:ext uri="{FF2B5EF4-FFF2-40B4-BE49-F238E27FC236}">
                  <a16:creationId xmlns:a16="http://schemas.microsoft.com/office/drawing/2014/main" id="{A682DF1C-14E9-E55A-4E52-E0509C5F5731}"/>
                </a:ext>
              </a:extLst>
            </p:cNvPr>
            <p:cNvSpPr txBox="1"/>
            <p:nvPr/>
          </p:nvSpPr>
          <p:spPr>
            <a:xfrm>
              <a:off x="3848910" y="4374205"/>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C</a:t>
              </a:r>
            </a:p>
          </p:txBody>
        </p:sp>
      </p:grpSp>
      <p:sp>
        <p:nvSpPr>
          <p:cNvPr id="20" name="CaixaDeTexto 19">
            <a:extLst>
              <a:ext uri="{FF2B5EF4-FFF2-40B4-BE49-F238E27FC236}">
                <a16:creationId xmlns:a16="http://schemas.microsoft.com/office/drawing/2014/main" id="{ED51FF7B-0C16-0859-7DD6-9BF99D4E5022}"/>
              </a:ext>
            </a:extLst>
          </p:cNvPr>
          <p:cNvSpPr txBox="1"/>
          <p:nvPr/>
        </p:nvSpPr>
        <p:spPr>
          <a:xfrm>
            <a:off x="340469" y="5007041"/>
            <a:ext cx="872247" cy="369332"/>
          </a:xfrm>
          <a:prstGeom prst="rect">
            <a:avLst/>
          </a:prstGeom>
          <a:noFill/>
        </p:spPr>
        <p:txBody>
          <a:bodyPr wrap="square" rtlCol="0">
            <a:spAutoFit/>
          </a:bodyPr>
          <a:lstStyle/>
          <a:p>
            <a:r>
              <a:rPr lang="pt-PT" dirty="0"/>
              <a:t>mRNA</a:t>
            </a:r>
          </a:p>
        </p:txBody>
      </p:sp>
      <p:grpSp>
        <p:nvGrpSpPr>
          <p:cNvPr id="21" name="Agrupar 20">
            <a:extLst>
              <a:ext uri="{FF2B5EF4-FFF2-40B4-BE49-F238E27FC236}">
                <a16:creationId xmlns:a16="http://schemas.microsoft.com/office/drawing/2014/main" id="{6CFE4B05-6EC4-96D2-C378-49C1C7392B40}"/>
              </a:ext>
            </a:extLst>
          </p:cNvPr>
          <p:cNvGrpSpPr/>
          <p:nvPr/>
        </p:nvGrpSpPr>
        <p:grpSpPr>
          <a:xfrm>
            <a:off x="1212716" y="4994070"/>
            <a:ext cx="1066799" cy="403355"/>
            <a:chOff x="3142034" y="4374203"/>
            <a:chExt cx="1066799" cy="403355"/>
          </a:xfrm>
          <a:solidFill>
            <a:schemeClr val="accent2">
              <a:lumMod val="20000"/>
              <a:lumOff val="80000"/>
            </a:schemeClr>
          </a:solidFill>
        </p:grpSpPr>
        <p:sp>
          <p:nvSpPr>
            <p:cNvPr id="22" name="CaixaDeTexto 21">
              <a:extLst>
                <a:ext uri="{FF2B5EF4-FFF2-40B4-BE49-F238E27FC236}">
                  <a16:creationId xmlns:a16="http://schemas.microsoft.com/office/drawing/2014/main" id="{3C189FAF-A27D-4189-89F6-9B894EC85363}"/>
                </a:ext>
              </a:extLst>
            </p:cNvPr>
            <p:cNvSpPr txBox="1"/>
            <p:nvPr/>
          </p:nvSpPr>
          <p:spPr>
            <a:xfrm>
              <a:off x="3142034" y="4377448"/>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U</a:t>
              </a:r>
            </a:p>
          </p:txBody>
        </p:sp>
        <p:sp>
          <p:nvSpPr>
            <p:cNvPr id="23" name="CaixaDeTexto 22">
              <a:extLst>
                <a:ext uri="{FF2B5EF4-FFF2-40B4-BE49-F238E27FC236}">
                  <a16:creationId xmlns:a16="http://schemas.microsoft.com/office/drawing/2014/main" id="{C41DB0FB-553B-4C0E-AE6F-651F7268950D}"/>
                </a:ext>
              </a:extLst>
            </p:cNvPr>
            <p:cNvSpPr txBox="1"/>
            <p:nvPr/>
          </p:nvSpPr>
          <p:spPr>
            <a:xfrm>
              <a:off x="3498714" y="4374203"/>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sp>
          <p:nvSpPr>
            <p:cNvPr id="24" name="CaixaDeTexto 23">
              <a:extLst>
                <a:ext uri="{FF2B5EF4-FFF2-40B4-BE49-F238E27FC236}">
                  <a16:creationId xmlns:a16="http://schemas.microsoft.com/office/drawing/2014/main" id="{42412FCF-76C8-8104-A40A-02FF0F80545B}"/>
                </a:ext>
              </a:extLst>
            </p:cNvPr>
            <p:cNvSpPr txBox="1"/>
            <p:nvPr/>
          </p:nvSpPr>
          <p:spPr>
            <a:xfrm>
              <a:off x="3848910" y="4374205"/>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C</a:t>
              </a:r>
            </a:p>
          </p:txBody>
        </p:sp>
      </p:grpSp>
      <p:grpSp>
        <p:nvGrpSpPr>
          <p:cNvPr id="25" name="Agrupar 24">
            <a:extLst>
              <a:ext uri="{FF2B5EF4-FFF2-40B4-BE49-F238E27FC236}">
                <a16:creationId xmlns:a16="http://schemas.microsoft.com/office/drawing/2014/main" id="{ADE9A84A-6036-D6B8-15AC-98AC48A57383}"/>
              </a:ext>
            </a:extLst>
          </p:cNvPr>
          <p:cNvGrpSpPr/>
          <p:nvPr/>
        </p:nvGrpSpPr>
        <p:grpSpPr>
          <a:xfrm>
            <a:off x="2505068" y="5000166"/>
            <a:ext cx="1066799" cy="403355"/>
            <a:chOff x="3142034" y="4374203"/>
            <a:chExt cx="1066799" cy="403355"/>
          </a:xfrm>
          <a:solidFill>
            <a:schemeClr val="accent2">
              <a:lumMod val="20000"/>
              <a:lumOff val="80000"/>
            </a:schemeClr>
          </a:solidFill>
        </p:grpSpPr>
        <p:sp>
          <p:nvSpPr>
            <p:cNvPr id="26" name="CaixaDeTexto 25">
              <a:extLst>
                <a:ext uri="{FF2B5EF4-FFF2-40B4-BE49-F238E27FC236}">
                  <a16:creationId xmlns:a16="http://schemas.microsoft.com/office/drawing/2014/main" id="{95D49E4F-A83D-0482-D49E-67C94EEDC0C4}"/>
                </a:ext>
              </a:extLst>
            </p:cNvPr>
            <p:cNvSpPr txBox="1"/>
            <p:nvPr/>
          </p:nvSpPr>
          <p:spPr>
            <a:xfrm>
              <a:off x="3142034" y="4377448"/>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G</a:t>
              </a:r>
            </a:p>
          </p:txBody>
        </p:sp>
        <p:sp>
          <p:nvSpPr>
            <p:cNvPr id="27" name="CaixaDeTexto 26">
              <a:extLst>
                <a:ext uri="{FF2B5EF4-FFF2-40B4-BE49-F238E27FC236}">
                  <a16:creationId xmlns:a16="http://schemas.microsoft.com/office/drawing/2014/main" id="{D31AF06B-45FF-31F3-5AC3-A51B334972EF}"/>
                </a:ext>
              </a:extLst>
            </p:cNvPr>
            <p:cNvSpPr txBox="1"/>
            <p:nvPr/>
          </p:nvSpPr>
          <p:spPr>
            <a:xfrm>
              <a:off x="3498714" y="4374203"/>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U</a:t>
              </a:r>
            </a:p>
          </p:txBody>
        </p:sp>
        <p:sp>
          <p:nvSpPr>
            <p:cNvPr id="28" name="CaixaDeTexto 27">
              <a:extLst>
                <a:ext uri="{FF2B5EF4-FFF2-40B4-BE49-F238E27FC236}">
                  <a16:creationId xmlns:a16="http://schemas.microsoft.com/office/drawing/2014/main" id="{3D501D0C-37BA-5F90-F3E6-5151F8562421}"/>
                </a:ext>
              </a:extLst>
            </p:cNvPr>
            <p:cNvSpPr txBox="1"/>
            <p:nvPr/>
          </p:nvSpPr>
          <p:spPr>
            <a:xfrm>
              <a:off x="3848910" y="4374205"/>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grpSp>
      <p:grpSp>
        <p:nvGrpSpPr>
          <p:cNvPr id="29" name="Agrupar 28">
            <a:extLst>
              <a:ext uri="{FF2B5EF4-FFF2-40B4-BE49-F238E27FC236}">
                <a16:creationId xmlns:a16="http://schemas.microsoft.com/office/drawing/2014/main" id="{723C547C-9A33-8CAE-3EB8-C1F41640FBC9}"/>
              </a:ext>
            </a:extLst>
          </p:cNvPr>
          <p:cNvGrpSpPr/>
          <p:nvPr/>
        </p:nvGrpSpPr>
        <p:grpSpPr>
          <a:xfrm>
            <a:off x="3779132" y="5006262"/>
            <a:ext cx="1066799" cy="403355"/>
            <a:chOff x="3142034" y="4374203"/>
            <a:chExt cx="1066799" cy="403355"/>
          </a:xfrm>
          <a:solidFill>
            <a:schemeClr val="accent2">
              <a:lumMod val="20000"/>
              <a:lumOff val="80000"/>
            </a:schemeClr>
          </a:solidFill>
        </p:grpSpPr>
        <p:sp>
          <p:nvSpPr>
            <p:cNvPr id="30" name="CaixaDeTexto 29">
              <a:extLst>
                <a:ext uri="{FF2B5EF4-FFF2-40B4-BE49-F238E27FC236}">
                  <a16:creationId xmlns:a16="http://schemas.microsoft.com/office/drawing/2014/main" id="{DECDE847-4198-014A-13B9-1886A5E28C65}"/>
                </a:ext>
              </a:extLst>
            </p:cNvPr>
            <p:cNvSpPr txBox="1"/>
            <p:nvPr/>
          </p:nvSpPr>
          <p:spPr>
            <a:xfrm>
              <a:off x="3142034" y="4377448"/>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sp>
          <p:nvSpPr>
            <p:cNvPr id="31" name="CaixaDeTexto 30">
              <a:extLst>
                <a:ext uri="{FF2B5EF4-FFF2-40B4-BE49-F238E27FC236}">
                  <a16:creationId xmlns:a16="http://schemas.microsoft.com/office/drawing/2014/main" id="{F0CFCA09-1A81-DC23-D51E-E9195BBBA0B4}"/>
                </a:ext>
              </a:extLst>
            </p:cNvPr>
            <p:cNvSpPr txBox="1"/>
            <p:nvPr/>
          </p:nvSpPr>
          <p:spPr>
            <a:xfrm>
              <a:off x="3498714" y="4374203"/>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G</a:t>
              </a:r>
            </a:p>
          </p:txBody>
        </p:sp>
        <p:sp>
          <p:nvSpPr>
            <p:cNvPr id="32" name="CaixaDeTexto 31">
              <a:extLst>
                <a:ext uri="{FF2B5EF4-FFF2-40B4-BE49-F238E27FC236}">
                  <a16:creationId xmlns:a16="http://schemas.microsoft.com/office/drawing/2014/main" id="{B1954461-E29E-2509-D054-5FCFE18348BB}"/>
                </a:ext>
              </a:extLst>
            </p:cNvPr>
            <p:cNvSpPr txBox="1"/>
            <p:nvPr/>
          </p:nvSpPr>
          <p:spPr>
            <a:xfrm>
              <a:off x="3848910" y="4374205"/>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G</a:t>
              </a:r>
            </a:p>
          </p:txBody>
        </p:sp>
      </p:grpSp>
      <p:grpSp>
        <p:nvGrpSpPr>
          <p:cNvPr id="35" name="Agrupar 34">
            <a:extLst>
              <a:ext uri="{FF2B5EF4-FFF2-40B4-BE49-F238E27FC236}">
                <a16:creationId xmlns:a16="http://schemas.microsoft.com/office/drawing/2014/main" id="{46154FF9-DEEB-163D-73A9-72D2906917B2}"/>
              </a:ext>
            </a:extLst>
          </p:cNvPr>
          <p:cNvGrpSpPr/>
          <p:nvPr/>
        </p:nvGrpSpPr>
        <p:grpSpPr>
          <a:xfrm>
            <a:off x="1420239" y="5623127"/>
            <a:ext cx="846307" cy="437745"/>
            <a:chOff x="3346315" y="5632315"/>
            <a:chExt cx="846307" cy="437745"/>
          </a:xfrm>
        </p:grpSpPr>
        <p:sp>
          <p:nvSpPr>
            <p:cNvPr id="33" name="Oval 32">
              <a:extLst>
                <a:ext uri="{FF2B5EF4-FFF2-40B4-BE49-F238E27FC236}">
                  <a16:creationId xmlns:a16="http://schemas.microsoft.com/office/drawing/2014/main" id="{41FF4511-56CE-0C16-6EF0-04B94FD14837}"/>
                </a:ext>
              </a:extLst>
            </p:cNvPr>
            <p:cNvSpPr/>
            <p:nvPr/>
          </p:nvSpPr>
          <p:spPr>
            <a:xfrm>
              <a:off x="3346315" y="5651770"/>
              <a:ext cx="836579" cy="418290"/>
            </a:xfrm>
            <a:prstGeom prst="ellipse">
              <a:avLst/>
            </a:prstGeom>
            <a:solidFill>
              <a:schemeClr val="accent5">
                <a:lumMod val="20000"/>
                <a:lumOff val="80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34" name="CaixaDeTexto 33">
              <a:extLst>
                <a:ext uri="{FF2B5EF4-FFF2-40B4-BE49-F238E27FC236}">
                  <a16:creationId xmlns:a16="http://schemas.microsoft.com/office/drawing/2014/main" id="{20C8EDDC-259A-0BAF-F25D-D25E2E4CD3C6}"/>
                </a:ext>
              </a:extLst>
            </p:cNvPr>
            <p:cNvSpPr txBox="1"/>
            <p:nvPr/>
          </p:nvSpPr>
          <p:spPr>
            <a:xfrm>
              <a:off x="3501958" y="5632315"/>
              <a:ext cx="690664" cy="400110"/>
            </a:xfrm>
            <a:prstGeom prst="rect">
              <a:avLst/>
            </a:prstGeom>
            <a:noFill/>
          </p:spPr>
          <p:txBody>
            <a:bodyPr wrap="square" rtlCol="0">
              <a:spAutoFit/>
            </a:bodyPr>
            <a:lstStyle/>
            <a:p>
              <a:r>
                <a:rPr lang="pt-PT" sz="2000" b="1" dirty="0" err="1"/>
                <a:t>Tyr</a:t>
              </a:r>
              <a:endParaRPr lang="pt-PT" sz="2000" b="1" dirty="0"/>
            </a:p>
          </p:txBody>
        </p:sp>
      </p:grpSp>
      <p:grpSp>
        <p:nvGrpSpPr>
          <p:cNvPr id="36" name="Agrupar 35">
            <a:extLst>
              <a:ext uri="{FF2B5EF4-FFF2-40B4-BE49-F238E27FC236}">
                <a16:creationId xmlns:a16="http://schemas.microsoft.com/office/drawing/2014/main" id="{890B9F61-C102-8A0F-D9AD-E5CA9819EC7F}"/>
              </a:ext>
            </a:extLst>
          </p:cNvPr>
          <p:cNvGrpSpPr/>
          <p:nvPr/>
        </p:nvGrpSpPr>
        <p:grpSpPr>
          <a:xfrm>
            <a:off x="2652409" y="5639339"/>
            <a:ext cx="846307" cy="437745"/>
            <a:chOff x="3346315" y="5632315"/>
            <a:chExt cx="846307" cy="437745"/>
          </a:xfrm>
        </p:grpSpPr>
        <p:sp>
          <p:nvSpPr>
            <p:cNvPr id="37" name="Oval 36">
              <a:extLst>
                <a:ext uri="{FF2B5EF4-FFF2-40B4-BE49-F238E27FC236}">
                  <a16:creationId xmlns:a16="http://schemas.microsoft.com/office/drawing/2014/main" id="{760F4F9A-6642-9FD6-AFCC-2212106F3864}"/>
                </a:ext>
              </a:extLst>
            </p:cNvPr>
            <p:cNvSpPr/>
            <p:nvPr/>
          </p:nvSpPr>
          <p:spPr>
            <a:xfrm>
              <a:off x="3346315" y="5651770"/>
              <a:ext cx="836579" cy="418290"/>
            </a:xfrm>
            <a:prstGeom prst="ellipse">
              <a:avLst/>
            </a:prstGeom>
            <a:solidFill>
              <a:schemeClr val="accent5">
                <a:lumMod val="20000"/>
                <a:lumOff val="80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38" name="CaixaDeTexto 37">
              <a:extLst>
                <a:ext uri="{FF2B5EF4-FFF2-40B4-BE49-F238E27FC236}">
                  <a16:creationId xmlns:a16="http://schemas.microsoft.com/office/drawing/2014/main" id="{F2572FF7-1684-45E0-A5E7-CBE058C92E88}"/>
                </a:ext>
              </a:extLst>
            </p:cNvPr>
            <p:cNvSpPr txBox="1"/>
            <p:nvPr/>
          </p:nvSpPr>
          <p:spPr>
            <a:xfrm>
              <a:off x="3501958" y="5632315"/>
              <a:ext cx="690664" cy="400110"/>
            </a:xfrm>
            <a:prstGeom prst="rect">
              <a:avLst/>
            </a:prstGeom>
            <a:noFill/>
          </p:spPr>
          <p:txBody>
            <a:bodyPr wrap="square" rtlCol="0">
              <a:spAutoFit/>
            </a:bodyPr>
            <a:lstStyle/>
            <a:p>
              <a:r>
                <a:rPr lang="pt-PT" sz="2000" b="1" dirty="0" err="1"/>
                <a:t>Val</a:t>
              </a:r>
              <a:endParaRPr lang="pt-PT" sz="2000" b="1" dirty="0"/>
            </a:p>
          </p:txBody>
        </p:sp>
      </p:grpSp>
      <p:grpSp>
        <p:nvGrpSpPr>
          <p:cNvPr id="39" name="Agrupar 38">
            <a:extLst>
              <a:ext uri="{FF2B5EF4-FFF2-40B4-BE49-F238E27FC236}">
                <a16:creationId xmlns:a16="http://schemas.microsoft.com/office/drawing/2014/main" id="{637F5FD1-6049-EE9E-E5D6-73F923576602}"/>
              </a:ext>
            </a:extLst>
          </p:cNvPr>
          <p:cNvGrpSpPr/>
          <p:nvPr/>
        </p:nvGrpSpPr>
        <p:grpSpPr>
          <a:xfrm>
            <a:off x="3926733" y="5613939"/>
            <a:ext cx="846307" cy="437745"/>
            <a:chOff x="3346315" y="5632315"/>
            <a:chExt cx="846307" cy="437745"/>
          </a:xfrm>
        </p:grpSpPr>
        <p:sp>
          <p:nvSpPr>
            <p:cNvPr id="40" name="Oval 39">
              <a:extLst>
                <a:ext uri="{FF2B5EF4-FFF2-40B4-BE49-F238E27FC236}">
                  <a16:creationId xmlns:a16="http://schemas.microsoft.com/office/drawing/2014/main" id="{C42556C8-E833-EB87-DA64-6364BA461702}"/>
                </a:ext>
              </a:extLst>
            </p:cNvPr>
            <p:cNvSpPr/>
            <p:nvPr/>
          </p:nvSpPr>
          <p:spPr>
            <a:xfrm>
              <a:off x="3346315" y="5651770"/>
              <a:ext cx="836579" cy="418290"/>
            </a:xfrm>
            <a:prstGeom prst="ellipse">
              <a:avLst/>
            </a:prstGeom>
            <a:solidFill>
              <a:schemeClr val="accent5">
                <a:lumMod val="20000"/>
                <a:lumOff val="80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41" name="CaixaDeTexto 40">
              <a:extLst>
                <a:ext uri="{FF2B5EF4-FFF2-40B4-BE49-F238E27FC236}">
                  <a16:creationId xmlns:a16="http://schemas.microsoft.com/office/drawing/2014/main" id="{D8A106AF-FBBE-3B24-ABA0-A8BE39FEF52F}"/>
                </a:ext>
              </a:extLst>
            </p:cNvPr>
            <p:cNvSpPr txBox="1"/>
            <p:nvPr/>
          </p:nvSpPr>
          <p:spPr>
            <a:xfrm>
              <a:off x="3501958" y="5632315"/>
              <a:ext cx="690664" cy="400110"/>
            </a:xfrm>
            <a:prstGeom prst="rect">
              <a:avLst/>
            </a:prstGeom>
            <a:noFill/>
          </p:spPr>
          <p:txBody>
            <a:bodyPr wrap="square" rtlCol="0">
              <a:spAutoFit/>
            </a:bodyPr>
            <a:lstStyle/>
            <a:p>
              <a:r>
                <a:rPr lang="pt-PT" sz="2000" b="1" dirty="0" err="1"/>
                <a:t>Arg</a:t>
              </a:r>
              <a:endParaRPr lang="pt-PT" sz="2000" b="1" dirty="0"/>
            </a:p>
          </p:txBody>
        </p:sp>
      </p:grpSp>
      <p:sp>
        <p:nvSpPr>
          <p:cNvPr id="6" name="CaixaDeTexto 5">
            <a:extLst>
              <a:ext uri="{FF2B5EF4-FFF2-40B4-BE49-F238E27FC236}">
                <a16:creationId xmlns:a16="http://schemas.microsoft.com/office/drawing/2014/main" id="{B7B257D5-0E47-BB78-104A-E3447352188E}"/>
              </a:ext>
            </a:extLst>
          </p:cNvPr>
          <p:cNvSpPr txBox="1"/>
          <p:nvPr/>
        </p:nvSpPr>
        <p:spPr>
          <a:xfrm>
            <a:off x="204281" y="5657334"/>
            <a:ext cx="1014921" cy="369332"/>
          </a:xfrm>
          <a:prstGeom prst="rect">
            <a:avLst/>
          </a:prstGeom>
          <a:noFill/>
        </p:spPr>
        <p:txBody>
          <a:bodyPr wrap="square" rtlCol="0">
            <a:spAutoFit/>
          </a:bodyPr>
          <a:lstStyle/>
          <a:p>
            <a:r>
              <a:rPr lang="pt-PT" dirty="0"/>
              <a:t>Proteína</a:t>
            </a:r>
          </a:p>
        </p:txBody>
      </p:sp>
      <p:grpSp>
        <p:nvGrpSpPr>
          <p:cNvPr id="81" name="Agrupar 80">
            <a:extLst>
              <a:ext uri="{FF2B5EF4-FFF2-40B4-BE49-F238E27FC236}">
                <a16:creationId xmlns:a16="http://schemas.microsoft.com/office/drawing/2014/main" id="{6DD99ACA-F940-D53A-FE8F-F14B602A4B67}"/>
              </a:ext>
            </a:extLst>
          </p:cNvPr>
          <p:cNvGrpSpPr/>
          <p:nvPr/>
        </p:nvGrpSpPr>
        <p:grpSpPr>
          <a:xfrm>
            <a:off x="6008451" y="3640466"/>
            <a:ext cx="5118309" cy="2436618"/>
            <a:chOff x="6008451" y="3640466"/>
            <a:chExt cx="5118309" cy="2436618"/>
          </a:xfrm>
        </p:grpSpPr>
        <p:sp>
          <p:nvSpPr>
            <p:cNvPr id="7" name="CaixaDeTexto 6">
              <a:extLst>
                <a:ext uri="{FF2B5EF4-FFF2-40B4-BE49-F238E27FC236}">
                  <a16:creationId xmlns:a16="http://schemas.microsoft.com/office/drawing/2014/main" id="{BA43269C-1336-97C5-DF6B-98F05E27635A}"/>
                </a:ext>
              </a:extLst>
            </p:cNvPr>
            <p:cNvSpPr txBox="1"/>
            <p:nvPr/>
          </p:nvSpPr>
          <p:spPr>
            <a:xfrm>
              <a:off x="6310009" y="4377986"/>
              <a:ext cx="710119" cy="369332"/>
            </a:xfrm>
            <a:prstGeom prst="rect">
              <a:avLst/>
            </a:prstGeom>
            <a:noFill/>
          </p:spPr>
          <p:txBody>
            <a:bodyPr wrap="square" rtlCol="0">
              <a:spAutoFit/>
            </a:bodyPr>
            <a:lstStyle/>
            <a:p>
              <a:r>
                <a:rPr lang="pt-PT" dirty="0"/>
                <a:t>DNA</a:t>
              </a:r>
            </a:p>
          </p:txBody>
        </p:sp>
        <p:grpSp>
          <p:nvGrpSpPr>
            <p:cNvPr id="42" name="Agrupar 41">
              <a:extLst>
                <a:ext uri="{FF2B5EF4-FFF2-40B4-BE49-F238E27FC236}">
                  <a16:creationId xmlns:a16="http://schemas.microsoft.com/office/drawing/2014/main" id="{726B7A08-BD3F-E0E6-3F09-45E5737BD738}"/>
                </a:ext>
              </a:extLst>
            </p:cNvPr>
            <p:cNvGrpSpPr/>
            <p:nvPr/>
          </p:nvGrpSpPr>
          <p:grpSpPr>
            <a:xfrm>
              <a:off x="7020128" y="4365015"/>
              <a:ext cx="1066799" cy="403355"/>
              <a:chOff x="3142034" y="4374203"/>
              <a:chExt cx="1066799" cy="403355"/>
            </a:xfrm>
          </p:grpSpPr>
          <p:sp>
            <p:nvSpPr>
              <p:cNvPr id="43" name="CaixaDeTexto 42">
                <a:extLst>
                  <a:ext uri="{FF2B5EF4-FFF2-40B4-BE49-F238E27FC236}">
                    <a16:creationId xmlns:a16="http://schemas.microsoft.com/office/drawing/2014/main" id="{83D81D6C-547E-5B4F-DA0D-B1D880079F67}"/>
                  </a:ext>
                </a:extLst>
              </p:cNvPr>
              <p:cNvSpPr txBox="1"/>
              <p:nvPr/>
            </p:nvSpPr>
            <p:spPr>
              <a:xfrm>
                <a:off x="3142034" y="4377448"/>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sp>
            <p:nvSpPr>
              <p:cNvPr id="44" name="CaixaDeTexto 43">
                <a:extLst>
                  <a:ext uri="{FF2B5EF4-FFF2-40B4-BE49-F238E27FC236}">
                    <a16:creationId xmlns:a16="http://schemas.microsoft.com/office/drawing/2014/main" id="{21C94C0F-FC38-36D1-EA36-0D7A732138A0}"/>
                  </a:ext>
                </a:extLst>
              </p:cNvPr>
              <p:cNvSpPr txBox="1"/>
              <p:nvPr/>
            </p:nvSpPr>
            <p:spPr>
              <a:xfrm>
                <a:off x="3498714" y="4374203"/>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T</a:t>
                </a:r>
              </a:p>
            </p:txBody>
          </p:sp>
          <p:sp>
            <p:nvSpPr>
              <p:cNvPr id="45" name="CaixaDeTexto 44">
                <a:extLst>
                  <a:ext uri="{FF2B5EF4-FFF2-40B4-BE49-F238E27FC236}">
                    <a16:creationId xmlns:a16="http://schemas.microsoft.com/office/drawing/2014/main" id="{7D821901-DBDB-8C4E-3298-0F817B11B929}"/>
                  </a:ext>
                </a:extLst>
              </p:cNvPr>
              <p:cNvSpPr txBox="1"/>
              <p:nvPr/>
            </p:nvSpPr>
            <p:spPr>
              <a:xfrm>
                <a:off x="3848910" y="4374205"/>
                <a:ext cx="359923" cy="400110"/>
              </a:xfrm>
              <a:prstGeom prst="rect">
                <a:avLst/>
              </a:prstGeom>
              <a:solidFill>
                <a:srgbClr val="FF7C80"/>
              </a:solidFill>
              <a:ln w="28575">
                <a:solidFill>
                  <a:srgbClr val="C0000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grpSp>
        <p:grpSp>
          <p:nvGrpSpPr>
            <p:cNvPr id="46" name="Agrupar 45">
              <a:extLst>
                <a:ext uri="{FF2B5EF4-FFF2-40B4-BE49-F238E27FC236}">
                  <a16:creationId xmlns:a16="http://schemas.microsoft.com/office/drawing/2014/main" id="{95B3A533-BDCF-BE89-674B-D068E7892239}"/>
                </a:ext>
              </a:extLst>
            </p:cNvPr>
            <p:cNvGrpSpPr/>
            <p:nvPr/>
          </p:nvGrpSpPr>
          <p:grpSpPr>
            <a:xfrm>
              <a:off x="8312480" y="4371111"/>
              <a:ext cx="1066799" cy="403355"/>
              <a:chOff x="3142034" y="4374203"/>
              <a:chExt cx="1066799" cy="403355"/>
            </a:xfrm>
          </p:grpSpPr>
          <p:sp>
            <p:nvSpPr>
              <p:cNvPr id="47" name="CaixaDeTexto 46">
                <a:extLst>
                  <a:ext uri="{FF2B5EF4-FFF2-40B4-BE49-F238E27FC236}">
                    <a16:creationId xmlns:a16="http://schemas.microsoft.com/office/drawing/2014/main" id="{9A5E6A1B-BE28-054E-4E74-D960C6C741E8}"/>
                  </a:ext>
                </a:extLst>
              </p:cNvPr>
              <p:cNvSpPr txBox="1"/>
              <p:nvPr/>
            </p:nvSpPr>
            <p:spPr>
              <a:xfrm>
                <a:off x="3142034" y="4377448"/>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G</a:t>
                </a:r>
              </a:p>
            </p:txBody>
          </p:sp>
          <p:sp>
            <p:nvSpPr>
              <p:cNvPr id="48" name="CaixaDeTexto 47">
                <a:extLst>
                  <a:ext uri="{FF2B5EF4-FFF2-40B4-BE49-F238E27FC236}">
                    <a16:creationId xmlns:a16="http://schemas.microsoft.com/office/drawing/2014/main" id="{6F2A24BD-4A02-0E72-7C56-FDBCB6EFFA17}"/>
                  </a:ext>
                </a:extLst>
              </p:cNvPr>
              <p:cNvSpPr txBox="1"/>
              <p:nvPr/>
            </p:nvSpPr>
            <p:spPr>
              <a:xfrm>
                <a:off x="3498714" y="4374203"/>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C</a:t>
                </a:r>
              </a:p>
            </p:txBody>
          </p:sp>
          <p:sp>
            <p:nvSpPr>
              <p:cNvPr id="49" name="CaixaDeTexto 48">
                <a:extLst>
                  <a:ext uri="{FF2B5EF4-FFF2-40B4-BE49-F238E27FC236}">
                    <a16:creationId xmlns:a16="http://schemas.microsoft.com/office/drawing/2014/main" id="{B4D1D94B-DE82-1696-DC19-6DE8FE188A84}"/>
                  </a:ext>
                </a:extLst>
              </p:cNvPr>
              <p:cNvSpPr txBox="1"/>
              <p:nvPr/>
            </p:nvSpPr>
            <p:spPr>
              <a:xfrm>
                <a:off x="3848910" y="4374205"/>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grpSp>
        <p:grpSp>
          <p:nvGrpSpPr>
            <p:cNvPr id="50" name="Agrupar 49">
              <a:extLst>
                <a:ext uri="{FF2B5EF4-FFF2-40B4-BE49-F238E27FC236}">
                  <a16:creationId xmlns:a16="http://schemas.microsoft.com/office/drawing/2014/main" id="{F38266EF-3EE4-3A37-D3CE-B7CF06C7989F}"/>
                </a:ext>
              </a:extLst>
            </p:cNvPr>
            <p:cNvGrpSpPr/>
            <p:nvPr/>
          </p:nvGrpSpPr>
          <p:grpSpPr>
            <a:xfrm>
              <a:off x="9586544" y="4377207"/>
              <a:ext cx="1066799" cy="403355"/>
              <a:chOff x="3142034" y="4374203"/>
              <a:chExt cx="1066799" cy="403355"/>
            </a:xfrm>
          </p:grpSpPr>
          <p:sp>
            <p:nvSpPr>
              <p:cNvPr id="51" name="CaixaDeTexto 50">
                <a:extLst>
                  <a:ext uri="{FF2B5EF4-FFF2-40B4-BE49-F238E27FC236}">
                    <a16:creationId xmlns:a16="http://schemas.microsoft.com/office/drawing/2014/main" id="{3D51E6A7-514C-26BB-6C6C-66F56E00A56F}"/>
                  </a:ext>
                </a:extLst>
              </p:cNvPr>
              <p:cNvSpPr txBox="1"/>
              <p:nvPr/>
            </p:nvSpPr>
            <p:spPr>
              <a:xfrm>
                <a:off x="3142034" y="4377448"/>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T</a:t>
                </a:r>
              </a:p>
            </p:txBody>
          </p:sp>
          <p:sp>
            <p:nvSpPr>
              <p:cNvPr id="52" name="CaixaDeTexto 51">
                <a:extLst>
                  <a:ext uri="{FF2B5EF4-FFF2-40B4-BE49-F238E27FC236}">
                    <a16:creationId xmlns:a16="http://schemas.microsoft.com/office/drawing/2014/main" id="{4E93CD4F-CCA3-494A-FB2C-E9AD20E71825}"/>
                  </a:ext>
                </a:extLst>
              </p:cNvPr>
              <p:cNvSpPr txBox="1"/>
              <p:nvPr/>
            </p:nvSpPr>
            <p:spPr>
              <a:xfrm>
                <a:off x="3498714" y="4374203"/>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T</a:t>
                </a:r>
              </a:p>
            </p:txBody>
          </p:sp>
          <p:sp>
            <p:nvSpPr>
              <p:cNvPr id="53" name="CaixaDeTexto 52">
                <a:extLst>
                  <a:ext uri="{FF2B5EF4-FFF2-40B4-BE49-F238E27FC236}">
                    <a16:creationId xmlns:a16="http://schemas.microsoft.com/office/drawing/2014/main" id="{6917AAF0-FE76-ADEB-948F-FC4872185251}"/>
                  </a:ext>
                </a:extLst>
              </p:cNvPr>
              <p:cNvSpPr txBox="1"/>
              <p:nvPr/>
            </p:nvSpPr>
            <p:spPr>
              <a:xfrm>
                <a:off x="3848910" y="4374205"/>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C</a:t>
                </a:r>
              </a:p>
            </p:txBody>
          </p:sp>
        </p:grpSp>
        <p:sp>
          <p:nvSpPr>
            <p:cNvPr id="54" name="CaixaDeTexto 53">
              <a:extLst>
                <a:ext uri="{FF2B5EF4-FFF2-40B4-BE49-F238E27FC236}">
                  <a16:creationId xmlns:a16="http://schemas.microsoft.com/office/drawing/2014/main" id="{BC078F61-5D0A-A990-3A09-5DC137BC554B}"/>
                </a:ext>
              </a:extLst>
            </p:cNvPr>
            <p:cNvSpPr txBox="1"/>
            <p:nvPr/>
          </p:nvSpPr>
          <p:spPr>
            <a:xfrm>
              <a:off x="6144639" y="5007041"/>
              <a:ext cx="872247" cy="369332"/>
            </a:xfrm>
            <a:prstGeom prst="rect">
              <a:avLst/>
            </a:prstGeom>
            <a:noFill/>
          </p:spPr>
          <p:txBody>
            <a:bodyPr wrap="square" rtlCol="0">
              <a:spAutoFit/>
            </a:bodyPr>
            <a:lstStyle/>
            <a:p>
              <a:r>
                <a:rPr lang="pt-PT" dirty="0"/>
                <a:t>mRNA</a:t>
              </a:r>
            </a:p>
          </p:txBody>
        </p:sp>
        <p:grpSp>
          <p:nvGrpSpPr>
            <p:cNvPr id="55" name="Agrupar 54">
              <a:extLst>
                <a:ext uri="{FF2B5EF4-FFF2-40B4-BE49-F238E27FC236}">
                  <a16:creationId xmlns:a16="http://schemas.microsoft.com/office/drawing/2014/main" id="{FC501E52-C3B2-4B32-3C0C-7E001C071892}"/>
                </a:ext>
              </a:extLst>
            </p:cNvPr>
            <p:cNvGrpSpPr/>
            <p:nvPr/>
          </p:nvGrpSpPr>
          <p:grpSpPr>
            <a:xfrm>
              <a:off x="7016886" y="4994070"/>
              <a:ext cx="1066799" cy="403355"/>
              <a:chOff x="3142034" y="4374203"/>
              <a:chExt cx="1066799" cy="403355"/>
            </a:xfrm>
            <a:solidFill>
              <a:schemeClr val="accent2">
                <a:lumMod val="20000"/>
                <a:lumOff val="80000"/>
              </a:schemeClr>
            </a:solidFill>
          </p:grpSpPr>
          <p:sp>
            <p:nvSpPr>
              <p:cNvPr id="56" name="CaixaDeTexto 55">
                <a:extLst>
                  <a:ext uri="{FF2B5EF4-FFF2-40B4-BE49-F238E27FC236}">
                    <a16:creationId xmlns:a16="http://schemas.microsoft.com/office/drawing/2014/main" id="{EA9C9B4F-4B2C-1B05-9DE5-45974655B82D}"/>
                  </a:ext>
                </a:extLst>
              </p:cNvPr>
              <p:cNvSpPr txBox="1"/>
              <p:nvPr/>
            </p:nvSpPr>
            <p:spPr>
              <a:xfrm>
                <a:off x="3142034" y="4377448"/>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U</a:t>
                </a:r>
              </a:p>
            </p:txBody>
          </p:sp>
          <p:sp>
            <p:nvSpPr>
              <p:cNvPr id="57" name="CaixaDeTexto 56">
                <a:extLst>
                  <a:ext uri="{FF2B5EF4-FFF2-40B4-BE49-F238E27FC236}">
                    <a16:creationId xmlns:a16="http://schemas.microsoft.com/office/drawing/2014/main" id="{C2E9ECFE-2CD5-5347-A8D0-019053793BC1}"/>
                  </a:ext>
                </a:extLst>
              </p:cNvPr>
              <p:cNvSpPr txBox="1"/>
              <p:nvPr/>
            </p:nvSpPr>
            <p:spPr>
              <a:xfrm>
                <a:off x="3498714" y="4374203"/>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sp>
            <p:nvSpPr>
              <p:cNvPr id="58" name="CaixaDeTexto 57">
                <a:extLst>
                  <a:ext uri="{FF2B5EF4-FFF2-40B4-BE49-F238E27FC236}">
                    <a16:creationId xmlns:a16="http://schemas.microsoft.com/office/drawing/2014/main" id="{3231BBA3-2467-7D74-7C1A-DD27058E2323}"/>
                  </a:ext>
                </a:extLst>
              </p:cNvPr>
              <p:cNvSpPr txBox="1"/>
              <p:nvPr/>
            </p:nvSpPr>
            <p:spPr>
              <a:xfrm>
                <a:off x="3848910" y="4374205"/>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U</a:t>
                </a:r>
              </a:p>
            </p:txBody>
          </p:sp>
        </p:grpSp>
        <p:grpSp>
          <p:nvGrpSpPr>
            <p:cNvPr id="59" name="Agrupar 58">
              <a:extLst>
                <a:ext uri="{FF2B5EF4-FFF2-40B4-BE49-F238E27FC236}">
                  <a16:creationId xmlns:a16="http://schemas.microsoft.com/office/drawing/2014/main" id="{B8C4A2CF-09AC-4B0C-535A-F9D86CC2CCBE}"/>
                </a:ext>
              </a:extLst>
            </p:cNvPr>
            <p:cNvGrpSpPr/>
            <p:nvPr/>
          </p:nvGrpSpPr>
          <p:grpSpPr>
            <a:xfrm>
              <a:off x="8309238" y="5000166"/>
              <a:ext cx="1066799" cy="403355"/>
              <a:chOff x="3142034" y="4374203"/>
              <a:chExt cx="1066799" cy="403355"/>
            </a:xfrm>
            <a:solidFill>
              <a:schemeClr val="accent2">
                <a:lumMod val="20000"/>
                <a:lumOff val="80000"/>
              </a:schemeClr>
            </a:solidFill>
          </p:grpSpPr>
          <p:sp>
            <p:nvSpPr>
              <p:cNvPr id="60" name="CaixaDeTexto 59">
                <a:extLst>
                  <a:ext uri="{FF2B5EF4-FFF2-40B4-BE49-F238E27FC236}">
                    <a16:creationId xmlns:a16="http://schemas.microsoft.com/office/drawing/2014/main" id="{D74E8B14-901B-1FB7-DC36-D251B8CC38AA}"/>
                  </a:ext>
                </a:extLst>
              </p:cNvPr>
              <p:cNvSpPr txBox="1"/>
              <p:nvPr/>
            </p:nvSpPr>
            <p:spPr>
              <a:xfrm>
                <a:off x="3142034" y="4377448"/>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C</a:t>
                </a:r>
              </a:p>
            </p:txBody>
          </p:sp>
          <p:sp>
            <p:nvSpPr>
              <p:cNvPr id="61" name="CaixaDeTexto 60">
                <a:extLst>
                  <a:ext uri="{FF2B5EF4-FFF2-40B4-BE49-F238E27FC236}">
                    <a16:creationId xmlns:a16="http://schemas.microsoft.com/office/drawing/2014/main" id="{88C2F8E7-E1C5-7539-1000-7653CC2AC79A}"/>
                  </a:ext>
                </a:extLst>
              </p:cNvPr>
              <p:cNvSpPr txBox="1"/>
              <p:nvPr/>
            </p:nvSpPr>
            <p:spPr>
              <a:xfrm>
                <a:off x="3498714" y="4374203"/>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G</a:t>
                </a:r>
              </a:p>
            </p:txBody>
          </p:sp>
          <p:sp>
            <p:nvSpPr>
              <p:cNvPr id="62" name="CaixaDeTexto 61">
                <a:extLst>
                  <a:ext uri="{FF2B5EF4-FFF2-40B4-BE49-F238E27FC236}">
                    <a16:creationId xmlns:a16="http://schemas.microsoft.com/office/drawing/2014/main" id="{890B01EB-B96D-A0F9-47C4-96BA66D0ACF4}"/>
                  </a:ext>
                </a:extLst>
              </p:cNvPr>
              <p:cNvSpPr txBox="1"/>
              <p:nvPr/>
            </p:nvSpPr>
            <p:spPr>
              <a:xfrm>
                <a:off x="3848910" y="4374205"/>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U</a:t>
                </a:r>
              </a:p>
            </p:txBody>
          </p:sp>
        </p:grpSp>
        <p:grpSp>
          <p:nvGrpSpPr>
            <p:cNvPr id="63" name="Agrupar 62">
              <a:extLst>
                <a:ext uri="{FF2B5EF4-FFF2-40B4-BE49-F238E27FC236}">
                  <a16:creationId xmlns:a16="http://schemas.microsoft.com/office/drawing/2014/main" id="{44CCC589-80DD-D7E3-0370-2A770DB31540}"/>
                </a:ext>
              </a:extLst>
            </p:cNvPr>
            <p:cNvGrpSpPr/>
            <p:nvPr/>
          </p:nvGrpSpPr>
          <p:grpSpPr>
            <a:xfrm>
              <a:off x="9583302" y="5006262"/>
              <a:ext cx="1066799" cy="403355"/>
              <a:chOff x="3142034" y="4374203"/>
              <a:chExt cx="1066799" cy="403355"/>
            </a:xfrm>
            <a:solidFill>
              <a:schemeClr val="accent2">
                <a:lumMod val="20000"/>
                <a:lumOff val="80000"/>
              </a:schemeClr>
            </a:solidFill>
          </p:grpSpPr>
          <p:sp>
            <p:nvSpPr>
              <p:cNvPr id="64" name="CaixaDeTexto 63">
                <a:extLst>
                  <a:ext uri="{FF2B5EF4-FFF2-40B4-BE49-F238E27FC236}">
                    <a16:creationId xmlns:a16="http://schemas.microsoft.com/office/drawing/2014/main" id="{4AEAF5D9-1875-102A-19B8-6907C685A658}"/>
                  </a:ext>
                </a:extLst>
              </p:cNvPr>
              <p:cNvSpPr txBox="1"/>
              <p:nvPr/>
            </p:nvSpPr>
            <p:spPr>
              <a:xfrm>
                <a:off x="3142034" y="4377448"/>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U</a:t>
                </a:r>
              </a:p>
            </p:txBody>
          </p:sp>
          <p:sp>
            <p:nvSpPr>
              <p:cNvPr id="65" name="CaixaDeTexto 64">
                <a:extLst>
                  <a:ext uri="{FF2B5EF4-FFF2-40B4-BE49-F238E27FC236}">
                    <a16:creationId xmlns:a16="http://schemas.microsoft.com/office/drawing/2014/main" id="{BF8E6765-C9C7-CF3A-563B-E6A6E15D1D0B}"/>
                  </a:ext>
                </a:extLst>
              </p:cNvPr>
              <p:cNvSpPr txBox="1"/>
              <p:nvPr/>
            </p:nvSpPr>
            <p:spPr>
              <a:xfrm>
                <a:off x="3498714" y="4374203"/>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A</a:t>
                </a:r>
              </a:p>
            </p:txBody>
          </p:sp>
          <p:sp>
            <p:nvSpPr>
              <p:cNvPr id="66" name="CaixaDeTexto 65">
                <a:extLst>
                  <a:ext uri="{FF2B5EF4-FFF2-40B4-BE49-F238E27FC236}">
                    <a16:creationId xmlns:a16="http://schemas.microsoft.com/office/drawing/2014/main" id="{B5A29C47-2C81-7FB0-75B4-DDC631D70CC8}"/>
                  </a:ext>
                </a:extLst>
              </p:cNvPr>
              <p:cNvSpPr txBox="1"/>
              <p:nvPr/>
            </p:nvSpPr>
            <p:spPr>
              <a:xfrm>
                <a:off x="3848910" y="4374205"/>
                <a:ext cx="359923" cy="400110"/>
              </a:xfrm>
              <a:prstGeom prst="rect">
                <a:avLst/>
              </a:prstGeom>
              <a:grpFill/>
              <a:ln w="28575">
                <a:solidFill>
                  <a:schemeClr val="accent2"/>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G</a:t>
                </a:r>
              </a:p>
            </p:txBody>
          </p:sp>
        </p:grpSp>
        <p:grpSp>
          <p:nvGrpSpPr>
            <p:cNvPr id="67" name="Agrupar 66">
              <a:extLst>
                <a:ext uri="{FF2B5EF4-FFF2-40B4-BE49-F238E27FC236}">
                  <a16:creationId xmlns:a16="http://schemas.microsoft.com/office/drawing/2014/main" id="{86412867-A5E4-6228-6451-1FE8BCDAFB6D}"/>
                </a:ext>
              </a:extLst>
            </p:cNvPr>
            <p:cNvGrpSpPr/>
            <p:nvPr/>
          </p:nvGrpSpPr>
          <p:grpSpPr>
            <a:xfrm>
              <a:off x="7224409" y="5623127"/>
              <a:ext cx="846307" cy="437745"/>
              <a:chOff x="3346315" y="5632315"/>
              <a:chExt cx="846307" cy="437745"/>
            </a:xfrm>
          </p:grpSpPr>
          <p:sp>
            <p:nvSpPr>
              <p:cNvPr id="68" name="Oval 67">
                <a:extLst>
                  <a:ext uri="{FF2B5EF4-FFF2-40B4-BE49-F238E27FC236}">
                    <a16:creationId xmlns:a16="http://schemas.microsoft.com/office/drawing/2014/main" id="{CA647F02-6A60-2B14-4479-41970AD250F9}"/>
                  </a:ext>
                </a:extLst>
              </p:cNvPr>
              <p:cNvSpPr/>
              <p:nvPr/>
            </p:nvSpPr>
            <p:spPr>
              <a:xfrm>
                <a:off x="3346315" y="5651770"/>
                <a:ext cx="836579" cy="418290"/>
              </a:xfrm>
              <a:prstGeom prst="ellipse">
                <a:avLst/>
              </a:prstGeom>
              <a:solidFill>
                <a:schemeClr val="accent5">
                  <a:lumMod val="20000"/>
                  <a:lumOff val="80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69" name="CaixaDeTexto 68">
                <a:extLst>
                  <a:ext uri="{FF2B5EF4-FFF2-40B4-BE49-F238E27FC236}">
                    <a16:creationId xmlns:a16="http://schemas.microsoft.com/office/drawing/2014/main" id="{9BC3E5B7-A288-2760-D093-FA1B6DAF693C}"/>
                  </a:ext>
                </a:extLst>
              </p:cNvPr>
              <p:cNvSpPr txBox="1"/>
              <p:nvPr/>
            </p:nvSpPr>
            <p:spPr>
              <a:xfrm>
                <a:off x="3501958" y="5632315"/>
                <a:ext cx="690664" cy="400110"/>
              </a:xfrm>
              <a:prstGeom prst="rect">
                <a:avLst/>
              </a:prstGeom>
              <a:noFill/>
            </p:spPr>
            <p:txBody>
              <a:bodyPr wrap="square" rtlCol="0">
                <a:spAutoFit/>
              </a:bodyPr>
              <a:lstStyle/>
              <a:p>
                <a:r>
                  <a:rPr lang="pt-PT" sz="2000" b="1" dirty="0" err="1"/>
                  <a:t>Tyr</a:t>
                </a:r>
                <a:endParaRPr lang="pt-PT" sz="2000" b="1" dirty="0"/>
              </a:p>
            </p:txBody>
          </p:sp>
        </p:grpSp>
        <p:grpSp>
          <p:nvGrpSpPr>
            <p:cNvPr id="70" name="Agrupar 69">
              <a:extLst>
                <a:ext uri="{FF2B5EF4-FFF2-40B4-BE49-F238E27FC236}">
                  <a16:creationId xmlns:a16="http://schemas.microsoft.com/office/drawing/2014/main" id="{6A940F20-2737-6CE5-2725-F6121C872930}"/>
                </a:ext>
              </a:extLst>
            </p:cNvPr>
            <p:cNvGrpSpPr/>
            <p:nvPr/>
          </p:nvGrpSpPr>
          <p:grpSpPr>
            <a:xfrm>
              <a:off x="8456579" y="5649067"/>
              <a:ext cx="836579" cy="428017"/>
              <a:chOff x="3346315" y="5642043"/>
              <a:chExt cx="836579" cy="428017"/>
            </a:xfrm>
          </p:grpSpPr>
          <p:sp>
            <p:nvSpPr>
              <p:cNvPr id="71" name="Oval 70">
                <a:extLst>
                  <a:ext uri="{FF2B5EF4-FFF2-40B4-BE49-F238E27FC236}">
                    <a16:creationId xmlns:a16="http://schemas.microsoft.com/office/drawing/2014/main" id="{C6BCC08C-46BE-ECFF-56AD-E9A95A87EF7D}"/>
                  </a:ext>
                </a:extLst>
              </p:cNvPr>
              <p:cNvSpPr/>
              <p:nvPr/>
            </p:nvSpPr>
            <p:spPr>
              <a:xfrm>
                <a:off x="3346315" y="5651770"/>
                <a:ext cx="836579" cy="418290"/>
              </a:xfrm>
              <a:prstGeom prst="ellipse">
                <a:avLst/>
              </a:prstGeom>
              <a:solidFill>
                <a:schemeClr val="accent5">
                  <a:lumMod val="20000"/>
                  <a:lumOff val="8000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dirty="0">
                  <a:solidFill>
                    <a:srgbClr val="FF0000"/>
                  </a:solidFill>
                </a:endParaRPr>
              </a:p>
            </p:txBody>
          </p:sp>
          <p:sp>
            <p:nvSpPr>
              <p:cNvPr id="72" name="CaixaDeTexto 71">
                <a:extLst>
                  <a:ext uri="{FF2B5EF4-FFF2-40B4-BE49-F238E27FC236}">
                    <a16:creationId xmlns:a16="http://schemas.microsoft.com/office/drawing/2014/main" id="{C8AE7E60-030D-EAF2-A861-21F31CA44AE0}"/>
                  </a:ext>
                </a:extLst>
              </p:cNvPr>
              <p:cNvSpPr txBox="1"/>
              <p:nvPr/>
            </p:nvSpPr>
            <p:spPr>
              <a:xfrm>
                <a:off x="3472774" y="5642043"/>
                <a:ext cx="690664" cy="400110"/>
              </a:xfrm>
              <a:prstGeom prst="rect">
                <a:avLst/>
              </a:prstGeom>
              <a:noFill/>
            </p:spPr>
            <p:txBody>
              <a:bodyPr wrap="square" rtlCol="0">
                <a:spAutoFit/>
              </a:bodyPr>
              <a:lstStyle/>
              <a:p>
                <a:r>
                  <a:rPr lang="pt-PT" sz="2000" b="1" dirty="0" err="1">
                    <a:solidFill>
                      <a:srgbClr val="FF0000"/>
                    </a:solidFill>
                  </a:rPr>
                  <a:t>Arg</a:t>
                </a:r>
                <a:endParaRPr lang="pt-PT" sz="2000" b="1" dirty="0">
                  <a:solidFill>
                    <a:srgbClr val="FF0000"/>
                  </a:solidFill>
                </a:endParaRPr>
              </a:p>
            </p:txBody>
          </p:sp>
        </p:grpSp>
        <p:sp>
          <p:nvSpPr>
            <p:cNvPr id="75" name="CaixaDeTexto 74">
              <a:extLst>
                <a:ext uri="{FF2B5EF4-FFF2-40B4-BE49-F238E27FC236}">
                  <a16:creationId xmlns:a16="http://schemas.microsoft.com/office/drawing/2014/main" id="{9268DF17-9DE5-3302-8509-2A7FCFD85341}"/>
                </a:ext>
              </a:extLst>
            </p:cNvPr>
            <p:cNvSpPr txBox="1"/>
            <p:nvPr/>
          </p:nvSpPr>
          <p:spPr>
            <a:xfrm>
              <a:off x="9750356" y="5613939"/>
              <a:ext cx="794424" cy="400110"/>
            </a:xfrm>
            <a:prstGeom prst="rect">
              <a:avLst/>
            </a:prstGeom>
            <a:solidFill>
              <a:srgbClr val="FF7C80"/>
            </a:solidFill>
            <a:ln>
              <a:solidFill>
                <a:schemeClr val="tx1"/>
              </a:solidFill>
            </a:ln>
          </p:spPr>
          <p:txBody>
            <a:bodyPr wrap="square" rtlCol="0">
              <a:spAutoFit/>
            </a:bodyPr>
            <a:lstStyle/>
            <a:p>
              <a:pPr algn="ctr"/>
              <a:r>
                <a:rPr lang="pt-PT" sz="2000" b="1" dirty="0"/>
                <a:t>Stop</a:t>
              </a:r>
            </a:p>
          </p:txBody>
        </p:sp>
        <p:sp>
          <p:nvSpPr>
            <p:cNvPr id="76" name="CaixaDeTexto 75">
              <a:extLst>
                <a:ext uri="{FF2B5EF4-FFF2-40B4-BE49-F238E27FC236}">
                  <a16:creationId xmlns:a16="http://schemas.microsoft.com/office/drawing/2014/main" id="{D3C10083-78E0-688C-C824-C1D58D2E1E48}"/>
                </a:ext>
              </a:extLst>
            </p:cNvPr>
            <p:cNvSpPr txBox="1"/>
            <p:nvPr/>
          </p:nvSpPr>
          <p:spPr>
            <a:xfrm>
              <a:off x="6008451" y="5657334"/>
              <a:ext cx="1014921" cy="369332"/>
            </a:xfrm>
            <a:prstGeom prst="rect">
              <a:avLst/>
            </a:prstGeom>
            <a:noFill/>
          </p:spPr>
          <p:txBody>
            <a:bodyPr wrap="square" rtlCol="0">
              <a:spAutoFit/>
            </a:bodyPr>
            <a:lstStyle/>
            <a:p>
              <a:r>
                <a:rPr lang="pt-PT" dirty="0"/>
                <a:t>Proteína</a:t>
              </a:r>
            </a:p>
          </p:txBody>
        </p:sp>
        <p:sp>
          <p:nvSpPr>
            <p:cNvPr id="77" name="CaixaDeTexto 76">
              <a:extLst>
                <a:ext uri="{FF2B5EF4-FFF2-40B4-BE49-F238E27FC236}">
                  <a16:creationId xmlns:a16="http://schemas.microsoft.com/office/drawing/2014/main" id="{20977DFE-75D0-59A1-8917-0D54C8751A8F}"/>
                </a:ext>
              </a:extLst>
            </p:cNvPr>
            <p:cNvSpPr txBox="1"/>
            <p:nvPr/>
          </p:nvSpPr>
          <p:spPr>
            <a:xfrm>
              <a:off x="10766837" y="4373964"/>
              <a:ext cx="359923" cy="400110"/>
            </a:xfrm>
            <a:prstGeom prst="rect">
              <a:avLst/>
            </a:prstGeom>
            <a:solidFill>
              <a:schemeClr val="tx2">
                <a:lumMod val="10000"/>
                <a:lumOff val="90000"/>
              </a:schemeClr>
            </a:solidFill>
            <a:ln w="28575">
              <a:solidFill>
                <a:srgbClr val="0070C0"/>
              </a:solidFill>
            </a:ln>
          </p:spPr>
          <p:txBody>
            <a:bodyPr wrap="square" rtlCol="0">
              <a:spAutoFit/>
            </a:bodyPr>
            <a:lstStyle/>
            <a:p>
              <a:pPr algn="ctr"/>
              <a:r>
                <a:rPr lang="pt-PT" sz="2000" b="1" dirty="0">
                  <a:latin typeface="Courier New" panose="02070309020205020404" pitchFamily="49" charset="0"/>
                  <a:cs typeface="Courier New" panose="02070309020205020404" pitchFamily="49" charset="0"/>
                </a:rPr>
                <a:t>C</a:t>
              </a:r>
            </a:p>
          </p:txBody>
        </p:sp>
        <p:sp>
          <p:nvSpPr>
            <p:cNvPr id="78" name="CaixaDeTexto 77">
              <a:extLst>
                <a:ext uri="{FF2B5EF4-FFF2-40B4-BE49-F238E27FC236}">
                  <a16:creationId xmlns:a16="http://schemas.microsoft.com/office/drawing/2014/main" id="{6AA74D9E-E6E2-26EF-9678-4F630365CF04}"/>
                </a:ext>
              </a:extLst>
            </p:cNvPr>
            <p:cNvSpPr txBox="1"/>
            <p:nvPr/>
          </p:nvSpPr>
          <p:spPr>
            <a:xfrm>
              <a:off x="8252297" y="3640466"/>
              <a:ext cx="1251626" cy="338554"/>
            </a:xfrm>
            <a:prstGeom prst="rect">
              <a:avLst/>
            </a:prstGeom>
            <a:noFill/>
          </p:spPr>
          <p:txBody>
            <a:bodyPr wrap="square" rtlCol="0">
              <a:spAutoFit/>
            </a:bodyPr>
            <a:lstStyle/>
            <a:p>
              <a:r>
                <a:rPr lang="pt-PT" sz="1600" dirty="0"/>
                <a:t>Inserção</a:t>
              </a:r>
            </a:p>
          </p:txBody>
        </p:sp>
        <p:cxnSp>
          <p:nvCxnSpPr>
            <p:cNvPr id="80" name="Conexão: Curva 79">
              <a:extLst>
                <a:ext uri="{FF2B5EF4-FFF2-40B4-BE49-F238E27FC236}">
                  <a16:creationId xmlns:a16="http://schemas.microsoft.com/office/drawing/2014/main" id="{1C957560-B9A3-4AD8-0ECB-3AF00F1FAC2F}"/>
                </a:ext>
              </a:extLst>
            </p:cNvPr>
            <p:cNvCxnSpPr>
              <a:stCxn id="78" idx="1"/>
            </p:cNvCxnSpPr>
            <p:nvPr/>
          </p:nvCxnSpPr>
          <p:spPr>
            <a:xfrm rot="10800000" flipV="1">
              <a:off x="7918315" y="3809742"/>
              <a:ext cx="333982" cy="470427"/>
            </a:xfrm>
            <a:prstGeom prst="curved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87560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2A21D-3DD8-4A56-2EB6-92AA2ACDAD50}"/>
              </a:ext>
            </a:extLst>
          </p:cNvPr>
          <p:cNvSpPr>
            <a:spLocks noGrp="1"/>
          </p:cNvSpPr>
          <p:nvPr>
            <p:ph type="title"/>
          </p:nvPr>
        </p:nvSpPr>
        <p:spPr>
          <a:xfrm>
            <a:off x="215630" y="0"/>
            <a:ext cx="10515600" cy="1325563"/>
          </a:xfrm>
        </p:spPr>
        <p:txBody>
          <a:bodyPr/>
          <a:lstStyle/>
          <a:p>
            <a:r>
              <a:rPr lang="pt-PT" dirty="0"/>
              <a:t>Tipo de variante – por impacto na proteína</a:t>
            </a:r>
          </a:p>
        </p:txBody>
      </p:sp>
      <p:sp>
        <p:nvSpPr>
          <p:cNvPr id="4" name="Marcador de Posição do Número do Diapositivo 3">
            <a:extLst>
              <a:ext uri="{FF2B5EF4-FFF2-40B4-BE49-F238E27FC236}">
                <a16:creationId xmlns:a16="http://schemas.microsoft.com/office/drawing/2014/main" id="{078C4463-EAD0-5033-4E9F-F93611E6E425}"/>
              </a:ext>
            </a:extLst>
          </p:cNvPr>
          <p:cNvSpPr>
            <a:spLocks noGrp="1"/>
          </p:cNvSpPr>
          <p:nvPr>
            <p:ph type="sldNum" sz="quarter" idx="12"/>
          </p:nvPr>
        </p:nvSpPr>
        <p:spPr/>
        <p:txBody>
          <a:bodyPr/>
          <a:lstStyle/>
          <a:p>
            <a:fld id="{6D49FC33-1B8E-4C1B-8D07-84B8EBAC733E}" type="slidenum">
              <a:rPr lang="en-GB" smtClean="0"/>
              <a:t>6</a:t>
            </a:fld>
            <a:endParaRPr lang="en-GB" dirty="0"/>
          </a:p>
        </p:txBody>
      </p:sp>
      <p:pic>
        <p:nvPicPr>
          <p:cNvPr id="85" name="Picture 2" descr="undefined">
            <a:extLst>
              <a:ext uri="{FF2B5EF4-FFF2-40B4-BE49-F238E27FC236}">
                <a16:creationId xmlns:a16="http://schemas.microsoft.com/office/drawing/2014/main" id="{5CDE47CB-9259-6A65-139E-C32B128B3D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78" t="2127" r="-9" b="3687"/>
          <a:stretch/>
        </p:blipFill>
        <p:spPr bwMode="auto">
          <a:xfrm>
            <a:off x="4830662" y="1128409"/>
            <a:ext cx="7186995" cy="5175114"/>
          </a:xfrm>
          <a:prstGeom prst="rect">
            <a:avLst/>
          </a:prstGeom>
          <a:noFill/>
          <a:extLst>
            <a:ext uri="{909E8E84-426E-40DD-AFC4-6F175D3DCCD1}">
              <a14:hiddenFill xmlns:a14="http://schemas.microsoft.com/office/drawing/2010/main">
                <a:solidFill>
                  <a:srgbClr val="FFFFFF"/>
                </a:solidFill>
              </a14:hiddenFill>
            </a:ext>
          </a:extLst>
        </p:spPr>
      </p:pic>
      <p:sp>
        <p:nvSpPr>
          <p:cNvPr id="86" name="CaixaDeTexto 85">
            <a:extLst>
              <a:ext uri="{FF2B5EF4-FFF2-40B4-BE49-F238E27FC236}">
                <a16:creationId xmlns:a16="http://schemas.microsoft.com/office/drawing/2014/main" id="{A34ED829-FCDA-42D1-B0B0-C9BBE78127EF}"/>
              </a:ext>
            </a:extLst>
          </p:cNvPr>
          <p:cNvSpPr txBox="1"/>
          <p:nvPr/>
        </p:nvSpPr>
        <p:spPr>
          <a:xfrm>
            <a:off x="7006347" y="6360284"/>
            <a:ext cx="1884734" cy="369332"/>
          </a:xfrm>
          <a:prstGeom prst="rect">
            <a:avLst/>
          </a:prstGeom>
          <a:noFill/>
        </p:spPr>
        <p:txBody>
          <a:bodyPr wrap="square">
            <a:spAutoFit/>
          </a:bodyPr>
          <a:lstStyle/>
          <a:p>
            <a:r>
              <a:rPr lang="pt-PT" dirty="0" err="1">
                <a:hlinkClick r:id="rId3"/>
              </a:rPr>
              <a:t>Point</a:t>
            </a:r>
            <a:r>
              <a:rPr lang="pt-PT" dirty="0">
                <a:hlinkClick r:id="rId3"/>
              </a:rPr>
              <a:t> </a:t>
            </a:r>
            <a:r>
              <a:rPr lang="pt-PT" dirty="0" err="1">
                <a:hlinkClick r:id="rId3"/>
              </a:rPr>
              <a:t>mutations</a:t>
            </a:r>
            <a:endParaRPr lang="en-GB" dirty="0"/>
          </a:p>
        </p:txBody>
      </p:sp>
      <p:sp>
        <p:nvSpPr>
          <p:cNvPr id="88" name="CaixaDeTexto 87">
            <a:extLst>
              <a:ext uri="{FF2B5EF4-FFF2-40B4-BE49-F238E27FC236}">
                <a16:creationId xmlns:a16="http://schemas.microsoft.com/office/drawing/2014/main" id="{C805CD20-ED21-B883-DB14-72D3DB1A5A9B}"/>
              </a:ext>
            </a:extLst>
          </p:cNvPr>
          <p:cNvSpPr txBox="1"/>
          <p:nvPr/>
        </p:nvSpPr>
        <p:spPr>
          <a:xfrm>
            <a:off x="379379" y="4231932"/>
            <a:ext cx="4698460" cy="2246769"/>
          </a:xfrm>
          <a:prstGeom prst="rect">
            <a:avLst/>
          </a:prstGeom>
          <a:noFill/>
        </p:spPr>
        <p:txBody>
          <a:bodyPr wrap="square">
            <a:spAutoFit/>
          </a:bodyPr>
          <a:lstStyle/>
          <a:p>
            <a:r>
              <a:rPr lang="pt-PT" sz="2800" dirty="0"/>
              <a:t>Uma mutação por substituição pontual resulta na alteração de um único nucleótido e pode ser sinónima ou não sinónima.</a:t>
            </a:r>
          </a:p>
        </p:txBody>
      </p:sp>
    </p:spTree>
    <p:extLst>
      <p:ext uri="{BB962C8B-B14F-4D97-AF65-F5344CB8AC3E}">
        <p14:creationId xmlns:p14="http://schemas.microsoft.com/office/powerpoint/2010/main" val="1213860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D59190-26BE-90B2-0E06-F041EEFB802F}"/>
              </a:ext>
            </a:extLst>
          </p:cNvPr>
          <p:cNvSpPr>
            <a:spLocks noGrp="1"/>
          </p:cNvSpPr>
          <p:nvPr>
            <p:ph type="title"/>
          </p:nvPr>
        </p:nvSpPr>
        <p:spPr>
          <a:xfrm>
            <a:off x="128081" y="0"/>
            <a:ext cx="10515600" cy="1325563"/>
          </a:xfrm>
        </p:spPr>
        <p:txBody>
          <a:bodyPr/>
          <a:lstStyle/>
          <a:p>
            <a:r>
              <a:rPr lang="pt-PT"/>
              <a:t>Tipo de variante – por efeito na função</a:t>
            </a:r>
          </a:p>
        </p:txBody>
      </p:sp>
      <p:sp>
        <p:nvSpPr>
          <p:cNvPr id="4" name="Marcador de Posição do Número do Diapositivo 3">
            <a:extLst>
              <a:ext uri="{FF2B5EF4-FFF2-40B4-BE49-F238E27FC236}">
                <a16:creationId xmlns:a16="http://schemas.microsoft.com/office/drawing/2014/main" id="{A6AA1C84-6219-9A27-3C04-C92DEA80584D}"/>
              </a:ext>
            </a:extLst>
          </p:cNvPr>
          <p:cNvSpPr>
            <a:spLocks noGrp="1"/>
          </p:cNvSpPr>
          <p:nvPr>
            <p:ph type="sldNum" sz="quarter" idx="12"/>
          </p:nvPr>
        </p:nvSpPr>
        <p:spPr/>
        <p:txBody>
          <a:bodyPr/>
          <a:lstStyle/>
          <a:p>
            <a:fld id="{6D49FC33-1B8E-4C1B-8D07-84B8EBAC733E}" type="slidenum">
              <a:rPr lang="en-GB" smtClean="0"/>
              <a:t>7</a:t>
            </a:fld>
            <a:endParaRPr lang="en-GB"/>
          </a:p>
        </p:txBody>
      </p:sp>
      <p:pic>
        <p:nvPicPr>
          <p:cNvPr id="10" name="Imagem 9">
            <a:extLst>
              <a:ext uri="{FF2B5EF4-FFF2-40B4-BE49-F238E27FC236}">
                <a16:creationId xmlns:a16="http://schemas.microsoft.com/office/drawing/2014/main" id="{C992D45E-87F8-EF0C-1A41-82280D3B9B2E}"/>
              </a:ext>
            </a:extLst>
          </p:cNvPr>
          <p:cNvPicPr>
            <a:picLocks noChangeAspect="1"/>
          </p:cNvPicPr>
          <p:nvPr/>
        </p:nvPicPr>
        <p:blipFill>
          <a:blip r:embed="rId2"/>
          <a:stretch>
            <a:fillRect/>
          </a:stretch>
        </p:blipFill>
        <p:spPr>
          <a:xfrm>
            <a:off x="1388548" y="1006675"/>
            <a:ext cx="9302149" cy="5540041"/>
          </a:xfrm>
          <a:prstGeom prst="rect">
            <a:avLst/>
          </a:prstGeom>
        </p:spPr>
      </p:pic>
      <p:sp>
        <p:nvSpPr>
          <p:cNvPr id="12" name="CaixaDeTexto 11">
            <a:extLst>
              <a:ext uri="{FF2B5EF4-FFF2-40B4-BE49-F238E27FC236}">
                <a16:creationId xmlns:a16="http://schemas.microsoft.com/office/drawing/2014/main" id="{D2DF0328-6480-25DF-D7D5-69D12B2FDC18}"/>
              </a:ext>
            </a:extLst>
          </p:cNvPr>
          <p:cNvSpPr txBox="1"/>
          <p:nvPr/>
        </p:nvSpPr>
        <p:spPr>
          <a:xfrm>
            <a:off x="6957708" y="6488668"/>
            <a:ext cx="6094378" cy="369332"/>
          </a:xfrm>
          <a:prstGeom prst="rect">
            <a:avLst/>
          </a:prstGeom>
          <a:noFill/>
        </p:spPr>
        <p:txBody>
          <a:bodyPr wrap="square">
            <a:spAutoFit/>
          </a:bodyPr>
          <a:lstStyle/>
          <a:p>
            <a:pPr algn="l"/>
            <a:r>
              <a:rPr lang="pt-PT" b="0" i="0" u="none" strike="noStrike" dirty="0">
                <a:solidFill>
                  <a:srgbClr val="0071BC"/>
                </a:solidFill>
                <a:effectLst/>
                <a:latin typeface="BlinkMacSystemFont"/>
                <a:hlinkClick r:id="rId3"/>
              </a:rPr>
              <a:t>Doi:10.1007/s12265-011-9259-1</a:t>
            </a:r>
            <a:endParaRPr lang="pt-PT" b="0" i="0" dirty="0">
              <a:solidFill>
                <a:srgbClr val="212121"/>
              </a:solidFill>
              <a:effectLst/>
              <a:latin typeface="BlinkMacSystemFont"/>
            </a:endParaRPr>
          </a:p>
        </p:txBody>
      </p:sp>
    </p:spTree>
    <p:extLst>
      <p:ext uri="{BB962C8B-B14F-4D97-AF65-F5344CB8AC3E}">
        <p14:creationId xmlns:p14="http://schemas.microsoft.com/office/powerpoint/2010/main" val="2599002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6924A-E618-AA2A-3CB8-E9966663D36E}"/>
              </a:ext>
            </a:extLst>
          </p:cNvPr>
          <p:cNvSpPr>
            <a:spLocks noGrp="1"/>
          </p:cNvSpPr>
          <p:nvPr>
            <p:ph type="title"/>
          </p:nvPr>
        </p:nvSpPr>
        <p:spPr/>
        <p:txBody>
          <a:bodyPr/>
          <a:lstStyle/>
          <a:p>
            <a:r>
              <a:rPr lang="pt-PT" dirty="0"/>
              <a:t>Tipo de variante – por hereditariedade</a:t>
            </a:r>
          </a:p>
        </p:txBody>
      </p:sp>
      <p:sp>
        <p:nvSpPr>
          <p:cNvPr id="4" name="Marcador de Posição do Número do Diapositivo 3">
            <a:extLst>
              <a:ext uri="{FF2B5EF4-FFF2-40B4-BE49-F238E27FC236}">
                <a16:creationId xmlns:a16="http://schemas.microsoft.com/office/drawing/2014/main" id="{5431FD46-2F1A-0DE8-F7B5-AD84D7371F7E}"/>
              </a:ext>
            </a:extLst>
          </p:cNvPr>
          <p:cNvSpPr>
            <a:spLocks noGrp="1"/>
          </p:cNvSpPr>
          <p:nvPr>
            <p:ph type="sldNum" sz="quarter" idx="12"/>
          </p:nvPr>
        </p:nvSpPr>
        <p:spPr/>
        <p:txBody>
          <a:bodyPr/>
          <a:lstStyle/>
          <a:p>
            <a:fld id="{6D49FC33-1B8E-4C1B-8D07-84B8EBAC733E}" type="slidenum">
              <a:rPr lang="pt-PT" smtClean="0"/>
              <a:t>8</a:t>
            </a:fld>
            <a:endParaRPr lang="pt-PT" dirty="0"/>
          </a:p>
        </p:txBody>
      </p:sp>
      <p:pic>
        <p:nvPicPr>
          <p:cNvPr id="6" name="Picture 6" descr="Homozigoto e heterozigoto: conceitos e diferenças - Biologia Net">
            <a:extLst>
              <a:ext uri="{FF2B5EF4-FFF2-40B4-BE49-F238E27FC236}">
                <a16:creationId xmlns:a16="http://schemas.microsoft.com/office/drawing/2014/main" id="{729DD8A8-5AF3-D188-5FDC-1F701EF6E8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25" r="77960" b="10164"/>
          <a:stretch/>
        </p:blipFill>
        <p:spPr bwMode="auto">
          <a:xfrm>
            <a:off x="807395" y="1951511"/>
            <a:ext cx="953264" cy="28630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omozigoto e heterozigoto: conceitos e diferenças - Biologia Net">
            <a:extLst>
              <a:ext uri="{FF2B5EF4-FFF2-40B4-BE49-F238E27FC236}">
                <a16:creationId xmlns:a16="http://schemas.microsoft.com/office/drawing/2014/main" id="{FF811971-2147-6B34-540A-C5BD4E7D7C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231" r="4156" b="10756"/>
          <a:stretch/>
        </p:blipFill>
        <p:spPr bwMode="auto">
          <a:xfrm>
            <a:off x="2042809" y="1990424"/>
            <a:ext cx="1047731" cy="2844224"/>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a:extLst>
              <a:ext uri="{FF2B5EF4-FFF2-40B4-BE49-F238E27FC236}">
                <a16:creationId xmlns:a16="http://schemas.microsoft.com/office/drawing/2014/main" id="{8742BC91-F1D7-99F9-6CE9-118CCE708EE2}"/>
              </a:ext>
            </a:extLst>
          </p:cNvPr>
          <p:cNvSpPr txBox="1"/>
          <p:nvPr/>
        </p:nvSpPr>
        <p:spPr>
          <a:xfrm>
            <a:off x="1158945" y="5153596"/>
            <a:ext cx="2334638" cy="369332"/>
          </a:xfrm>
          <a:prstGeom prst="rect">
            <a:avLst/>
          </a:prstGeom>
          <a:noFill/>
        </p:spPr>
        <p:txBody>
          <a:bodyPr wrap="square">
            <a:spAutoFit/>
          </a:bodyPr>
          <a:lstStyle/>
          <a:p>
            <a:r>
              <a:rPr lang="pt-PT" b="1" dirty="0" err="1"/>
              <a:t>Homozigotia</a:t>
            </a:r>
            <a:endParaRPr lang="pt-PT" b="1" dirty="0"/>
          </a:p>
        </p:txBody>
      </p:sp>
      <p:pic>
        <p:nvPicPr>
          <p:cNvPr id="9" name="Picture 6" descr="Homozigoto e heterozigoto: conceitos e diferenças - Biologia Net">
            <a:extLst>
              <a:ext uri="{FF2B5EF4-FFF2-40B4-BE49-F238E27FC236}">
                <a16:creationId xmlns:a16="http://schemas.microsoft.com/office/drawing/2014/main" id="{FD5C6EAD-972F-5C91-3E75-C6CBDBC9E6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48" r="50318" b="12103"/>
          <a:stretch/>
        </p:blipFill>
        <p:spPr bwMode="auto">
          <a:xfrm>
            <a:off x="4105075" y="2029331"/>
            <a:ext cx="924204" cy="2844000"/>
          </a:xfrm>
          <a:prstGeom prst="rect">
            <a:avLst/>
          </a:prstGeom>
          <a:noFill/>
          <a:extLst>
            <a:ext uri="{909E8E84-426E-40DD-AFC4-6F175D3DCCD1}">
              <a14:hiddenFill xmlns:a14="http://schemas.microsoft.com/office/drawing/2010/main">
                <a:solidFill>
                  <a:srgbClr val="FFFFFF"/>
                </a:solidFill>
              </a14:hiddenFill>
            </a:ext>
          </a:extLst>
        </p:spPr>
      </p:pic>
      <p:sp>
        <p:nvSpPr>
          <p:cNvPr id="10" name="CaixaDeTexto 9">
            <a:extLst>
              <a:ext uri="{FF2B5EF4-FFF2-40B4-BE49-F238E27FC236}">
                <a16:creationId xmlns:a16="http://schemas.microsoft.com/office/drawing/2014/main" id="{FCF67587-E91C-6B02-16C8-818D23B52F09}"/>
              </a:ext>
            </a:extLst>
          </p:cNvPr>
          <p:cNvSpPr txBox="1"/>
          <p:nvPr/>
        </p:nvSpPr>
        <p:spPr>
          <a:xfrm>
            <a:off x="3761362" y="5154540"/>
            <a:ext cx="2334638" cy="369332"/>
          </a:xfrm>
          <a:prstGeom prst="rect">
            <a:avLst/>
          </a:prstGeom>
          <a:noFill/>
        </p:spPr>
        <p:txBody>
          <a:bodyPr wrap="square">
            <a:spAutoFit/>
          </a:bodyPr>
          <a:lstStyle/>
          <a:p>
            <a:r>
              <a:rPr lang="pt-PT" b="1" dirty="0" err="1"/>
              <a:t>Heterozigotia</a:t>
            </a:r>
            <a:endParaRPr lang="pt-PT" b="1" dirty="0"/>
          </a:p>
        </p:txBody>
      </p:sp>
      <p:pic>
        <p:nvPicPr>
          <p:cNvPr id="13" name="Imagem 12">
            <a:extLst>
              <a:ext uri="{FF2B5EF4-FFF2-40B4-BE49-F238E27FC236}">
                <a16:creationId xmlns:a16="http://schemas.microsoft.com/office/drawing/2014/main" id="{1B073FF1-D5CE-E0D1-BA69-792652A2AF22}"/>
              </a:ext>
            </a:extLst>
          </p:cNvPr>
          <p:cNvPicPr>
            <a:picLocks noChangeAspect="1"/>
          </p:cNvPicPr>
          <p:nvPr/>
        </p:nvPicPr>
        <p:blipFill>
          <a:blip r:embed="rId3">
            <a:grayscl/>
          </a:blip>
          <a:stretch>
            <a:fillRect/>
          </a:stretch>
        </p:blipFill>
        <p:spPr>
          <a:xfrm>
            <a:off x="6555914" y="2811470"/>
            <a:ext cx="400468" cy="2107447"/>
          </a:xfrm>
          <a:prstGeom prst="rect">
            <a:avLst/>
          </a:prstGeom>
        </p:spPr>
      </p:pic>
      <p:pic>
        <p:nvPicPr>
          <p:cNvPr id="21" name="Imagem 20">
            <a:extLst>
              <a:ext uri="{FF2B5EF4-FFF2-40B4-BE49-F238E27FC236}">
                <a16:creationId xmlns:a16="http://schemas.microsoft.com/office/drawing/2014/main" id="{6DAA57D3-2F48-9C00-F250-B2590F3AC2CE}"/>
              </a:ext>
            </a:extLst>
          </p:cNvPr>
          <p:cNvPicPr>
            <a:picLocks noChangeAspect="1"/>
          </p:cNvPicPr>
          <p:nvPr/>
        </p:nvPicPr>
        <p:blipFill>
          <a:blip r:embed="rId4"/>
          <a:stretch>
            <a:fillRect/>
          </a:stretch>
        </p:blipFill>
        <p:spPr>
          <a:xfrm>
            <a:off x="6068992" y="2025509"/>
            <a:ext cx="361470" cy="2979210"/>
          </a:xfrm>
          <a:prstGeom prst="rect">
            <a:avLst/>
          </a:prstGeom>
        </p:spPr>
      </p:pic>
      <p:sp>
        <p:nvSpPr>
          <p:cNvPr id="22" name="CaixaDeTexto 21">
            <a:extLst>
              <a:ext uri="{FF2B5EF4-FFF2-40B4-BE49-F238E27FC236}">
                <a16:creationId xmlns:a16="http://schemas.microsoft.com/office/drawing/2014/main" id="{26928AFF-0D5B-C0B4-E809-3CBCBF5838B4}"/>
              </a:ext>
            </a:extLst>
          </p:cNvPr>
          <p:cNvSpPr txBox="1"/>
          <p:nvPr/>
        </p:nvSpPr>
        <p:spPr>
          <a:xfrm>
            <a:off x="6494916" y="5436156"/>
            <a:ext cx="2334638" cy="369332"/>
          </a:xfrm>
          <a:prstGeom prst="rect">
            <a:avLst/>
          </a:prstGeom>
          <a:noFill/>
        </p:spPr>
        <p:txBody>
          <a:bodyPr wrap="square">
            <a:spAutoFit/>
          </a:bodyPr>
          <a:lstStyle/>
          <a:p>
            <a:r>
              <a:rPr lang="pt-PT" b="1" dirty="0" err="1"/>
              <a:t>Hemizigotia</a:t>
            </a:r>
            <a:endParaRPr lang="pt-PT" b="1" dirty="0"/>
          </a:p>
        </p:txBody>
      </p:sp>
      <p:sp>
        <p:nvSpPr>
          <p:cNvPr id="23" name="CaixaDeTexto 22">
            <a:extLst>
              <a:ext uri="{FF2B5EF4-FFF2-40B4-BE49-F238E27FC236}">
                <a16:creationId xmlns:a16="http://schemas.microsoft.com/office/drawing/2014/main" id="{4840C5F9-189B-97D8-F13A-C7B0AD58E212}"/>
              </a:ext>
            </a:extLst>
          </p:cNvPr>
          <p:cNvSpPr txBox="1"/>
          <p:nvPr/>
        </p:nvSpPr>
        <p:spPr>
          <a:xfrm>
            <a:off x="6096000" y="5019502"/>
            <a:ext cx="505838" cy="369332"/>
          </a:xfrm>
          <a:prstGeom prst="rect">
            <a:avLst/>
          </a:prstGeom>
          <a:noFill/>
        </p:spPr>
        <p:txBody>
          <a:bodyPr wrap="square">
            <a:spAutoFit/>
          </a:bodyPr>
          <a:lstStyle/>
          <a:p>
            <a:r>
              <a:rPr lang="pt-PT" b="1" dirty="0"/>
              <a:t>X</a:t>
            </a:r>
          </a:p>
        </p:txBody>
      </p:sp>
      <p:sp>
        <p:nvSpPr>
          <p:cNvPr id="24" name="CaixaDeTexto 23">
            <a:extLst>
              <a:ext uri="{FF2B5EF4-FFF2-40B4-BE49-F238E27FC236}">
                <a16:creationId xmlns:a16="http://schemas.microsoft.com/office/drawing/2014/main" id="{6C7A2EDE-4FF3-ED89-11A0-D42E6B1C0D6B}"/>
              </a:ext>
            </a:extLst>
          </p:cNvPr>
          <p:cNvSpPr txBox="1"/>
          <p:nvPr/>
        </p:nvSpPr>
        <p:spPr>
          <a:xfrm>
            <a:off x="6602944" y="4998282"/>
            <a:ext cx="457610" cy="369332"/>
          </a:xfrm>
          <a:prstGeom prst="rect">
            <a:avLst/>
          </a:prstGeom>
          <a:noFill/>
        </p:spPr>
        <p:txBody>
          <a:bodyPr wrap="square">
            <a:spAutoFit/>
          </a:bodyPr>
          <a:lstStyle/>
          <a:p>
            <a:r>
              <a:rPr lang="pt-PT" b="1" dirty="0"/>
              <a:t>Y</a:t>
            </a:r>
          </a:p>
        </p:txBody>
      </p:sp>
      <p:pic>
        <p:nvPicPr>
          <p:cNvPr id="25" name="Imagem 24">
            <a:extLst>
              <a:ext uri="{FF2B5EF4-FFF2-40B4-BE49-F238E27FC236}">
                <a16:creationId xmlns:a16="http://schemas.microsoft.com/office/drawing/2014/main" id="{80450D1B-D1D1-38DF-616C-2CC92ED11110}"/>
              </a:ext>
            </a:extLst>
          </p:cNvPr>
          <p:cNvPicPr>
            <a:picLocks noChangeAspect="1"/>
          </p:cNvPicPr>
          <p:nvPr/>
        </p:nvPicPr>
        <p:blipFill>
          <a:blip r:embed="rId4"/>
          <a:stretch>
            <a:fillRect/>
          </a:stretch>
        </p:blipFill>
        <p:spPr>
          <a:xfrm>
            <a:off x="7378860" y="2073736"/>
            <a:ext cx="361470" cy="2979210"/>
          </a:xfrm>
          <a:prstGeom prst="rect">
            <a:avLst/>
          </a:prstGeom>
        </p:spPr>
      </p:pic>
      <p:pic>
        <p:nvPicPr>
          <p:cNvPr id="27" name="Imagem 26">
            <a:extLst>
              <a:ext uri="{FF2B5EF4-FFF2-40B4-BE49-F238E27FC236}">
                <a16:creationId xmlns:a16="http://schemas.microsoft.com/office/drawing/2014/main" id="{1B54CA09-3606-851D-91F9-CC880906E7E7}"/>
              </a:ext>
            </a:extLst>
          </p:cNvPr>
          <p:cNvPicPr>
            <a:picLocks noChangeAspect="1"/>
          </p:cNvPicPr>
          <p:nvPr/>
        </p:nvPicPr>
        <p:blipFill>
          <a:blip r:embed="rId5"/>
          <a:stretch>
            <a:fillRect/>
          </a:stretch>
        </p:blipFill>
        <p:spPr>
          <a:xfrm>
            <a:off x="7892964" y="2048661"/>
            <a:ext cx="362531" cy="2988000"/>
          </a:xfrm>
          <a:prstGeom prst="rect">
            <a:avLst/>
          </a:prstGeom>
        </p:spPr>
      </p:pic>
      <p:sp>
        <p:nvSpPr>
          <p:cNvPr id="28" name="CaixaDeTexto 27">
            <a:extLst>
              <a:ext uri="{FF2B5EF4-FFF2-40B4-BE49-F238E27FC236}">
                <a16:creationId xmlns:a16="http://schemas.microsoft.com/office/drawing/2014/main" id="{590FB405-592E-3C54-45D1-19D290CB02D8}"/>
              </a:ext>
            </a:extLst>
          </p:cNvPr>
          <p:cNvSpPr txBox="1"/>
          <p:nvPr/>
        </p:nvSpPr>
        <p:spPr>
          <a:xfrm>
            <a:off x="7915154" y="5033006"/>
            <a:ext cx="505838" cy="369332"/>
          </a:xfrm>
          <a:prstGeom prst="rect">
            <a:avLst/>
          </a:prstGeom>
          <a:noFill/>
        </p:spPr>
        <p:txBody>
          <a:bodyPr wrap="square">
            <a:spAutoFit/>
          </a:bodyPr>
          <a:lstStyle/>
          <a:p>
            <a:r>
              <a:rPr lang="pt-PT" b="1" dirty="0"/>
              <a:t>X</a:t>
            </a:r>
          </a:p>
        </p:txBody>
      </p:sp>
      <p:sp>
        <p:nvSpPr>
          <p:cNvPr id="29" name="CaixaDeTexto 28">
            <a:extLst>
              <a:ext uri="{FF2B5EF4-FFF2-40B4-BE49-F238E27FC236}">
                <a16:creationId xmlns:a16="http://schemas.microsoft.com/office/drawing/2014/main" id="{F42AD742-D512-C9F6-43E0-191A49A68E44}"/>
              </a:ext>
            </a:extLst>
          </p:cNvPr>
          <p:cNvSpPr txBox="1"/>
          <p:nvPr/>
        </p:nvSpPr>
        <p:spPr>
          <a:xfrm>
            <a:off x="7396222" y="5034935"/>
            <a:ext cx="505838" cy="369332"/>
          </a:xfrm>
          <a:prstGeom prst="rect">
            <a:avLst/>
          </a:prstGeom>
          <a:noFill/>
        </p:spPr>
        <p:txBody>
          <a:bodyPr wrap="square">
            <a:spAutoFit/>
          </a:bodyPr>
          <a:lstStyle/>
          <a:p>
            <a:r>
              <a:rPr lang="pt-PT" b="1" dirty="0"/>
              <a:t>X</a:t>
            </a:r>
          </a:p>
        </p:txBody>
      </p:sp>
      <p:grpSp>
        <p:nvGrpSpPr>
          <p:cNvPr id="35" name="Agrupar 34">
            <a:extLst>
              <a:ext uri="{FF2B5EF4-FFF2-40B4-BE49-F238E27FC236}">
                <a16:creationId xmlns:a16="http://schemas.microsoft.com/office/drawing/2014/main" id="{A242346C-AC94-163B-B7D6-A6C7AC041BCE}"/>
              </a:ext>
            </a:extLst>
          </p:cNvPr>
          <p:cNvGrpSpPr/>
          <p:nvPr/>
        </p:nvGrpSpPr>
        <p:grpSpPr>
          <a:xfrm>
            <a:off x="9401186" y="2037074"/>
            <a:ext cx="965222" cy="3084209"/>
            <a:chOff x="9685666" y="828034"/>
            <a:chExt cx="965222" cy="3084209"/>
          </a:xfrm>
        </p:grpSpPr>
        <p:pic>
          <p:nvPicPr>
            <p:cNvPr id="19" name="Imagem 18">
              <a:extLst>
                <a:ext uri="{FF2B5EF4-FFF2-40B4-BE49-F238E27FC236}">
                  <a16:creationId xmlns:a16="http://schemas.microsoft.com/office/drawing/2014/main" id="{AF9E76E5-AFEC-9264-4E14-895DDF8AC6E5}"/>
                </a:ext>
              </a:extLst>
            </p:cNvPr>
            <p:cNvPicPr>
              <a:picLocks noChangeAspect="1"/>
            </p:cNvPicPr>
            <p:nvPr/>
          </p:nvPicPr>
          <p:blipFill>
            <a:blip r:embed="rId6"/>
            <a:stretch>
              <a:fillRect/>
            </a:stretch>
          </p:blipFill>
          <p:spPr>
            <a:xfrm>
              <a:off x="9685666" y="828034"/>
              <a:ext cx="372164" cy="3067352"/>
            </a:xfrm>
            <a:prstGeom prst="rect">
              <a:avLst/>
            </a:prstGeom>
          </p:spPr>
        </p:pic>
        <p:pic>
          <p:nvPicPr>
            <p:cNvPr id="33" name="Imagem 32">
              <a:extLst>
                <a:ext uri="{FF2B5EF4-FFF2-40B4-BE49-F238E27FC236}">
                  <a16:creationId xmlns:a16="http://schemas.microsoft.com/office/drawing/2014/main" id="{CC3C2FE6-AD20-AEC2-2A92-C42E2650081F}"/>
                </a:ext>
              </a:extLst>
            </p:cNvPr>
            <p:cNvPicPr>
              <a:picLocks noChangeAspect="1"/>
            </p:cNvPicPr>
            <p:nvPr/>
          </p:nvPicPr>
          <p:blipFill>
            <a:blip r:embed="rId7"/>
            <a:stretch>
              <a:fillRect/>
            </a:stretch>
          </p:blipFill>
          <p:spPr>
            <a:xfrm>
              <a:off x="10280128" y="856466"/>
              <a:ext cx="370760" cy="3055777"/>
            </a:xfrm>
            <a:prstGeom prst="rect">
              <a:avLst/>
            </a:prstGeom>
          </p:spPr>
        </p:pic>
        <p:sp>
          <p:nvSpPr>
            <p:cNvPr id="34" name="CaixaDeTexto 33">
              <a:extLst>
                <a:ext uri="{FF2B5EF4-FFF2-40B4-BE49-F238E27FC236}">
                  <a16:creationId xmlns:a16="http://schemas.microsoft.com/office/drawing/2014/main" id="{72DBAF4E-E12E-FC5E-A5EE-858D8861963B}"/>
                </a:ext>
              </a:extLst>
            </p:cNvPr>
            <p:cNvSpPr txBox="1"/>
            <p:nvPr/>
          </p:nvSpPr>
          <p:spPr>
            <a:xfrm>
              <a:off x="10338816" y="2578608"/>
              <a:ext cx="274320" cy="338554"/>
            </a:xfrm>
            <a:prstGeom prst="rect">
              <a:avLst/>
            </a:prstGeom>
            <a:noFill/>
          </p:spPr>
          <p:txBody>
            <a:bodyPr wrap="square" rtlCol="0">
              <a:spAutoFit/>
            </a:bodyPr>
            <a:lstStyle/>
            <a:p>
              <a:r>
                <a:rPr lang="pt-PT" sz="1600" b="1" dirty="0">
                  <a:solidFill>
                    <a:schemeClr val="bg1"/>
                  </a:solidFill>
                </a:rPr>
                <a:t>b</a:t>
              </a:r>
            </a:p>
          </p:txBody>
        </p:sp>
      </p:grpSp>
      <p:sp>
        <p:nvSpPr>
          <p:cNvPr id="36" name="CaixaDeTexto 35">
            <a:extLst>
              <a:ext uri="{FF2B5EF4-FFF2-40B4-BE49-F238E27FC236}">
                <a16:creationId xmlns:a16="http://schemas.microsoft.com/office/drawing/2014/main" id="{FFD054FB-1F14-2656-E856-11AF44C44920}"/>
              </a:ext>
            </a:extLst>
          </p:cNvPr>
          <p:cNvSpPr txBox="1"/>
          <p:nvPr/>
        </p:nvSpPr>
        <p:spPr>
          <a:xfrm>
            <a:off x="9085202" y="5103740"/>
            <a:ext cx="2334638" cy="646331"/>
          </a:xfrm>
          <a:prstGeom prst="rect">
            <a:avLst/>
          </a:prstGeom>
          <a:noFill/>
        </p:spPr>
        <p:txBody>
          <a:bodyPr wrap="square">
            <a:spAutoFit/>
          </a:bodyPr>
          <a:lstStyle/>
          <a:p>
            <a:r>
              <a:rPr lang="pt-PT" b="1" dirty="0" err="1"/>
              <a:t>Heterozigotia</a:t>
            </a:r>
            <a:endParaRPr lang="pt-PT" b="1" dirty="0"/>
          </a:p>
          <a:p>
            <a:r>
              <a:rPr lang="pt-PT" b="1" dirty="0"/>
              <a:t>composta</a:t>
            </a:r>
          </a:p>
        </p:txBody>
      </p:sp>
    </p:spTree>
    <p:extLst>
      <p:ext uri="{BB962C8B-B14F-4D97-AF65-F5344CB8AC3E}">
        <p14:creationId xmlns:p14="http://schemas.microsoft.com/office/powerpoint/2010/main" val="2709813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6924A-E618-AA2A-3CB8-E9966663D36E}"/>
              </a:ext>
            </a:extLst>
          </p:cNvPr>
          <p:cNvSpPr>
            <a:spLocks noGrp="1"/>
          </p:cNvSpPr>
          <p:nvPr>
            <p:ph type="title"/>
          </p:nvPr>
        </p:nvSpPr>
        <p:spPr/>
        <p:txBody>
          <a:bodyPr/>
          <a:lstStyle/>
          <a:p>
            <a:r>
              <a:rPr lang="pt-PT"/>
              <a:t>Tipo de variante – por classificação clínica</a:t>
            </a:r>
          </a:p>
        </p:txBody>
      </p:sp>
      <p:pic>
        <p:nvPicPr>
          <p:cNvPr id="5" name="Imagem 4">
            <a:extLst>
              <a:ext uri="{FF2B5EF4-FFF2-40B4-BE49-F238E27FC236}">
                <a16:creationId xmlns:a16="http://schemas.microsoft.com/office/drawing/2014/main" id="{48137309-E178-9155-15A9-C30C7C0F61C3}"/>
              </a:ext>
            </a:extLst>
          </p:cNvPr>
          <p:cNvPicPr>
            <a:picLocks noChangeAspect="1"/>
          </p:cNvPicPr>
          <p:nvPr/>
        </p:nvPicPr>
        <p:blipFill>
          <a:blip r:embed="rId2"/>
          <a:stretch>
            <a:fillRect/>
          </a:stretch>
        </p:blipFill>
        <p:spPr>
          <a:xfrm rot="16200000" flipH="1">
            <a:off x="4758279" y="-2024185"/>
            <a:ext cx="2675441" cy="10157089"/>
          </a:xfrm>
          <a:prstGeom prst="rect">
            <a:avLst/>
          </a:prstGeom>
        </p:spPr>
      </p:pic>
      <p:pic>
        <p:nvPicPr>
          <p:cNvPr id="12" name="Imagem 11">
            <a:extLst>
              <a:ext uri="{FF2B5EF4-FFF2-40B4-BE49-F238E27FC236}">
                <a16:creationId xmlns:a16="http://schemas.microsoft.com/office/drawing/2014/main" id="{B0695D49-9DB7-9300-FCF0-853FC9AE0501}"/>
              </a:ext>
            </a:extLst>
          </p:cNvPr>
          <p:cNvPicPr>
            <a:picLocks noChangeAspect="1"/>
          </p:cNvPicPr>
          <p:nvPr/>
        </p:nvPicPr>
        <p:blipFill>
          <a:blip r:embed="rId3"/>
          <a:stretch>
            <a:fillRect/>
          </a:stretch>
        </p:blipFill>
        <p:spPr>
          <a:xfrm>
            <a:off x="1382263" y="2989362"/>
            <a:ext cx="1190625" cy="1352550"/>
          </a:xfrm>
          <a:prstGeom prst="rect">
            <a:avLst/>
          </a:prstGeom>
        </p:spPr>
      </p:pic>
      <p:pic>
        <p:nvPicPr>
          <p:cNvPr id="15" name="Imagem 14">
            <a:extLst>
              <a:ext uri="{FF2B5EF4-FFF2-40B4-BE49-F238E27FC236}">
                <a16:creationId xmlns:a16="http://schemas.microsoft.com/office/drawing/2014/main" id="{D35B7CA4-C019-CE92-EF62-6AAB6AD65585}"/>
              </a:ext>
            </a:extLst>
          </p:cNvPr>
          <p:cNvPicPr>
            <a:picLocks noChangeAspect="1"/>
          </p:cNvPicPr>
          <p:nvPr/>
        </p:nvPicPr>
        <p:blipFill>
          <a:blip r:embed="rId4"/>
          <a:stretch>
            <a:fillRect/>
          </a:stretch>
        </p:blipFill>
        <p:spPr>
          <a:xfrm>
            <a:off x="2780216" y="4317782"/>
            <a:ext cx="1219200" cy="1276350"/>
          </a:xfrm>
          <a:prstGeom prst="rect">
            <a:avLst/>
          </a:prstGeom>
        </p:spPr>
      </p:pic>
      <p:pic>
        <p:nvPicPr>
          <p:cNvPr id="17" name="Imagem 16">
            <a:extLst>
              <a:ext uri="{FF2B5EF4-FFF2-40B4-BE49-F238E27FC236}">
                <a16:creationId xmlns:a16="http://schemas.microsoft.com/office/drawing/2014/main" id="{31B3BD6E-68B4-008C-F471-2B1AD439E1C5}"/>
              </a:ext>
            </a:extLst>
          </p:cNvPr>
          <p:cNvPicPr>
            <a:picLocks noChangeAspect="1"/>
          </p:cNvPicPr>
          <p:nvPr/>
        </p:nvPicPr>
        <p:blipFill>
          <a:blip r:embed="rId5"/>
          <a:stretch>
            <a:fillRect/>
          </a:stretch>
        </p:blipFill>
        <p:spPr>
          <a:xfrm>
            <a:off x="5446263" y="3044607"/>
            <a:ext cx="1190625" cy="1181100"/>
          </a:xfrm>
          <a:prstGeom prst="rect">
            <a:avLst/>
          </a:prstGeom>
        </p:spPr>
      </p:pic>
      <p:pic>
        <p:nvPicPr>
          <p:cNvPr id="20" name="Imagem 19">
            <a:extLst>
              <a:ext uri="{FF2B5EF4-FFF2-40B4-BE49-F238E27FC236}">
                <a16:creationId xmlns:a16="http://schemas.microsoft.com/office/drawing/2014/main" id="{3A0146F0-F687-7F46-2A98-7755AE651745}"/>
              </a:ext>
            </a:extLst>
          </p:cNvPr>
          <p:cNvPicPr>
            <a:picLocks noChangeAspect="1"/>
          </p:cNvPicPr>
          <p:nvPr/>
        </p:nvPicPr>
        <p:blipFill>
          <a:blip r:embed="rId6"/>
          <a:srcRect t="11585"/>
          <a:stretch/>
        </p:blipFill>
        <p:spPr>
          <a:xfrm>
            <a:off x="8095801" y="4320957"/>
            <a:ext cx="1276350" cy="1204277"/>
          </a:xfrm>
          <a:prstGeom prst="rect">
            <a:avLst/>
          </a:prstGeom>
        </p:spPr>
      </p:pic>
      <p:pic>
        <p:nvPicPr>
          <p:cNvPr id="30" name="Imagem 29">
            <a:extLst>
              <a:ext uri="{FF2B5EF4-FFF2-40B4-BE49-F238E27FC236}">
                <a16:creationId xmlns:a16="http://schemas.microsoft.com/office/drawing/2014/main" id="{95F22BE0-794E-A32E-563E-C8C729932732}"/>
              </a:ext>
            </a:extLst>
          </p:cNvPr>
          <p:cNvPicPr>
            <a:picLocks noChangeAspect="1"/>
          </p:cNvPicPr>
          <p:nvPr/>
        </p:nvPicPr>
        <p:blipFill>
          <a:blip r:embed="rId7"/>
          <a:stretch>
            <a:fillRect/>
          </a:stretch>
        </p:blipFill>
        <p:spPr>
          <a:xfrm>
            <a:off x="9775058" y="2990314"/>
            <a:ext cx="1209675" cy="1228725"/>
          </a:xfrm>
          <a:prstGeom prst="rect">
            <a:avLst/>
          </a:prstGeom>
        </p:spPr>
      </p:pic>
      <p:sp>
        <p:nvSpPr>
          <p:cNvPr id="31" name="CaixaDeTexto 30">
            <a:extLst>
              <a:ext uri="{FF2B5EF4-FFF2-40B4-BE49-F238E27FC236}">
                <a16:creationId xmlns:a16="http://schemas.microsoft.com/office/drawing/2014/main" id="{088054EA-730A-0519-9E43-81D934CE3D86}"/>
              </a:ext>
            </a:extLst>
          </p:cNvPr>
          <p:cNvSpPr txBox="1"/>
          <p:nvPr/>
        </p:nvSpPr>
        <p:spPr>
          <a:xfrm>
            <a:off x="356948" y="4076220"/>
            <a:ext cx="2334638" cy="923330"/>
          </a:xfrm>
          <a:prstGeom prst="rect">
            <a:avLst/>
          </a:prstGeom>
          <a:noFill/>
        </p:spPr>
        <p:txBody>
          <a:bodyPr wrap="square">
            <a:spAutoFit/>
          </a:bodyPr>
          <a:lstStyle/>
          <a:p>
            <a:r>
              <a:rPr lang="pt-PT" b="1" dirty="0"/>
              <a:t>Benigna</a:t>
            </a:r>
          </a:p>
          <a:p>
            <a:r>
              <a:rPr lang="pt-PT" dirty="0"/>
              <a:t>Definitivamente não causa doença</a:t>
            </a:r>
          </a:p>
        </p:txBody>
      </p:sp>
      <p:sp>
        <p:nvSpPr>
          <p:cNvPr id="32" name="CaixaDeTexto 31">
            <a:extLst>
              <a:ext uri="{FF2B5EF4-FFF2-40B4-BE49-F238E27FC236}">
                <a16:creationId xmlns:a16="http://schemas.microsoft.com/office/drawing/2014/main" id="{C64E5748-850F-3580-6498-D8457985B32E}"/>
              </a:ext>
            </a:extLst>
          </p:cNvPr>
          <p:cNvSpPr txBox="1"/>
          <p:nvPr/>
        </p:nvSpPr>
        <p:spPr>
          <a:xfrm>
            <a:off x="1977402" y="5460107"/>
            <a:ext cx="2822981" cy="1200329"/>
          </a:xfrm>
          <a:prstGeom prst="rect">
            <a:avLst/>
          </a:prstGeom>
          <a:noFill/>
        </p:spPr>
        <p:txBody>
          <a:bodyPr wrap="square">
            <a:spAutoFit/>
          </a:bodyPr>
          <a:lstStyle/>
          <a:p>
            <a:r>
              <a:rPr lang="pt-PT" b="1" dirty="0"/>
              <a:t>Provavelmente Benigna</a:t>
            </a:r>
          </a:p>
          <a:p>
            <a:r>
              <a:rPr lang="pt-PT" dirty="0"/>
              <a:t>Pelo menos 90% de probabilidade de não causar doença</a:t>
            </a:r>
          </a:p>
        </p:txBody>
      </p:sp>
      <p:sp>
        <p:nvSpPr>
          <p:cNvPr id="37" name="CaixaDeTexto 36">
            <a:extLst>
              <a:ext uri="{FF2B5EF4-FFF2-40B4-BE49-F238E27FC236}">
                <a16:creationId xmlns:a16="http://schemas.microsoft.com/office/drawing/2014/main" id="{CCD22C56-3C52-D7AA-106E-CE4719C59B16}"/>
              </a:ext>
            </a:extLst>
          </p:cNvPr>
          <p:cNvSpPr txBox="1"/>
          <p:nvPr/>
        </p:nvSpPr>
        <p:spPr>
          <a:xfrm>
            <a:off x="5104497" y="4147597"/>
            <a:ext cx="2334638" cy="1477328"/>
          </a:xfrm>
          <a:prstGeom prst="rect">
            <a:avLst/>
          </a:prstGeom>
          <a:noFill/>
        </p:spPr>
        <p:txBody>
          <a:bodyPr wrap="square">
            <a:spAutoFit/>
          </a:bodyPr>
          <a:lstStyle/>
          <a:p>
            <a:r>
              <a:rPr lang="pt-PT" b="1" dirty="0"/>
              <a:t>Variante de significado incerto</a:t>
            </a:r>
          </a:p>
          <a:p>
            <a:r>
              <a:rPr lang="pt-PT" dirty="0"/>
              <a:t>O efeito no organismo ainda é desconhecido</a:t>
            </a:r>
          </a:p>
        </p:txBody>
      </p:sp>
      <p:sp>
        <p:nvSpPr>
          <p:cNvPr id="38" name="CaixaDeTexto 37">
            <a:extLst>
              <a:ext uri="{FF2B5EF4-FFF2-40B4-BE49-F238E27FC236}">
                <a16:creationId xmlns:a16="http://schemas.microsoft.com/office/drawing/2014/main" id="{4176B9BB-CA41-2704-F481-A6EDAA7F62AC}"/>
              </a:ext>
            </a:extLst>
          </p:cNvPr>
          <p:cNvSpPr txBox="1"/>
          <p:nvPr/>
        </p:nvSpPr>
        <p:spPr>
          <a:xfrm>
            <a:off x="7697225" y="5462036"/>
            <a:ext cx="2986207" cy="1200329"/>
          </a:xfrm>
          <a:prstGeom prst="rect">
            <a:avLst/>
          </a:prstGeom>
          <a:noFill/>
        </p:spPr>
        <p:txBody>
          <a:bodyPr wrap="square">
            <a:spAutoFit/>
          </a:bodyPr>
          <a:lstStyle/>
          <a:p>
            <a:r>
              <a:rPr lang="pt-PT" b="1" dirty="0"/>
              <a:t>Provavelmente Patogénica</a:t>
            </a:r>
          </a:p>
          <a:p>
            <a:r>
              <a:rPr lang="pt-PT" dirty="0"/>
              <a:t>Pelo menos 90% de probabilidade de causar doença</a:t>
            </a:r>
          </a:p>
        </p:txBody>
      </p:sp>
      <p:sp>
        <p:nvSpPr>
          <p:cNvPr id="39" name="CaixaDeTexto 38">
            <a:extLst>
              <a:ext uri="{FF2B5EF4-FFF2-40B4-BE49-F238E27FC236}">
                <a16:creationId xmlns:a16="http://schemas.microsoft.com/office/drawing/2014/main" id="{4705EAAC-183C-C27A-77F1-7B15C0890297}"/>
              </a:ext>
            </a:extLst>
          </p:cNvPr>
          <p:cNvSpPr txBox="1"/>
          <p:nvPr/>
        </p:nvSpPr>
        <p:spPr>
          <a:xfrm>
            <a:off x="9857362" y="4147597"/>
            <a:ext cx="2334638" cy="923330"/>
          </a:xfrm>
          <a:prstGeom prst="rect">
            <a:avLst/>
          </a:prstGeom>
          <a:noFill/>
        </p:spPr>
        <p:txBody>
          <a:bodyPr wrap="square">
            <a:spAutoFit/>
          </a:bodyPr>
          <a:lstStyle/>
          <a:p>
            <a:r>
              <a:rPr lang="pt-PT" b="1" dirty="0"/>
              <a:t>Patogénica</a:t>
            </a:r>
          </a:p>
          <a:p>
            <a:r>
              <a:rPr lang="pt-PT" dirty="0"/>
              <a:t>Definitivamente causa doença</a:t>
            </a:r>
          </a:p>
        </p:txBody>
      </p:sp>
    </p:spTree>
    <p:extLst>
      <p:ext uri="{BB962C8B-B14F-4D97-AF65-F5344CB8AC3E}">
        <p14:creationId xmlns:p14="http://schemas.microsoft.com/office/powerpoint/2010/main" val="2586908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552E6-DC67-3FED-38D4-BF48731DB402}"/>
              </a:ext>
            </a:extLst>
          </p:cNvPr>
          <p:cNvSpPr>
            <a:spLocks noGrp="1"/>
          </p:cNvSpPr>
          <p:nvPr>
            <p:ph type="title"/>
          </p:nvPr>
        </p:nvSpPr>
        <p:spPr/>
        <p:txBody>
          <a:bodyPr/>
          <a:lstStyle/>
          <a:p>
            <a:r>
              <a:rPr lang="pt-PT" dirty="0"/>
              <a:t>Classificação</a:t>
            </a:r>
          </a:p>
        </p:txBody>
      </p:sp>
      <p:sp>
        <p:nvSpPr>
          <p:cNvPr id="4" name="Marcador de Posição do Número do Diapositivo 3">
            <a:extLst>
              <a:ext uri="{FF2B5EF4-FFF2-40B4-BE49-F238E27FC236}">
                <a16:creationId xmlns:a16="http://schemas.microsoft.com/office/drawing/2014/main" id="{6788D115-64D2-CFE4-3B43-7CF6147BA995}"/>
              </a:ext>
            </a:extLst>
          </p:cNvPr>
          <p:cNvSpPr>
            <a:spLocks noGrp="1"/>
          </p:cNvSpPr>
          <p:nvPr>
            <p:ph type="sldNum" sz="quarter" idx="12"/>
          </p:nvPr>
        </p:nvSpPr>
        <p:spPr/>
        <p:txBody>
          <a:bodyPr/>
          <a:lstStyle/>
          <a:p>
            <a:fld id="{6D49FC33-1B8E-4C1B-8D07-84B8EBAC733E}" type="slidenum">
              <a:rPr lang="en-GB" smtClean="0"/>
              <a:t>10</a:t>
            </a:fld>
            <a:endParaRPr lang="en-GB"/>
          </a:p>
        </p:txBody>
      </p:sp>
      <p:sp>
        <p:nvSpPr>
          <p:cNvPr id="6" name="CaixaDeTexto 5">
            <a:extLst>
              <a:ext uri="{FF2B5EF4-FFF2-40B4-BE49-F238E27FC236}">
                <a16:creationId xmlns:a16="http://schemas.microsoft.com/office/drawing/2014/main" id="{B1E8939C-0124-CB88-B669-3D761D4CD4E3}"/>
              </a:ext>
            </a:extLst>
          </p:cNvPr>
          <p:cNvSpPr txBox="1"/>
          <p:nvPr/>
        </p:nvSpPr>
        <p:spPr>
          <a:xfrm>
            <a:off x="396240" y="1559898"/>
            <a:ext cx="3799840" cy="3139321"/>
          </a:xfrm>
          <a:prstGeom prst="rect">
            <a:avLst/>
          </a:prstGeom>
          <a:noFill/>
        </p:spPr>
        <p:txBody>
          <a:bodyPr wrap="square">
            <a:spAutoFit/>
          </a:bodyPr>
          <a:lstStyle/>
          <a:p>
            <a:pPr algn="just"/>
            <a:r>
              <a:rPr lang="pt-PT" dirty="0"/>
              <a:t>As orientações atualmente utilizadas para a classificação e interpretação de variantes resultam da opinião especializada do grupo de trabalho reunido pelo </a:t>
            </a:r>
            <a:r>
              <a:rPr lang="pt-PT" i="1" dirty="0" err="1"/>
              <a:t>American</a:t>
            </a:r>
            <a:r>
              <a:rPr lang="pt-PT" i="1" dirty="0"/>
              <a:t> </a:t>
            </a:r>
            <a:r>
              <a:rPr lang="pt-PT" i="1" dirty="0" err="1"/>
              <a:t>College</a:t>
            </a:r>
            <a:r>
              <a:rPr lang="pt-PT" i="1" dirty="0"/>
              <a:t> </a:t>
            </a:r>
            <a:r>
              <a:rPr lang="pt-PT" i="1" dirty="0" err="1"/>
              <a:t>of</a:t>
            </a:r>
            <a:r>
              <a:rPr lang="pt-PT" i="1" dirty="0"/>
              <a:t> Medical </a:t>
            </a:r>
            <a:r>
              <a:rPr lang="pt-PT" i="1" dirty="0" err="1"/>
              <a:t>Genetics</a:t>
            </a:r>
            <a:r>
              <a:rPr lang="pt-PT" i="1" dirty="0"/>
              <a:t> </a:t>
            </a:r>
            <a:r>
              <a:rPr lang="pt-PT" i="1" dirty="0" err="1"/>
              <a:t>and</a:t>
            </a:r>
            <a:r>
              <a:rPr lang="pt-PT" i="1" dirty="0"/>
              <a:t> </a:t>
            </a:r>
            <a:r>
              <a:rPr lang="pt-PT" i="1" dirty="0" err="1"/>
              <a:t>Genomics</a:t>
            </a:r>
            <a:r>
              <a:rPr lang="pt-PT" dirty="0"/>
              <a:t> (ACMG) em 2013, composto por representantes do ACMG, da </a:t>
            </a:r>
            <a:r>
              <a:rPr lang="pt-PT" i="1" dirty="0" err="1"/>
              <a:t>Association</a:t>
            </a:r>
            <a:r>
              <a:rPr lang="pt-PT" i="1" dirty="0"/>
              <a:t> for Molecular </a:t>
            </a:r>
            <a:r>
              <a:rPr lang="pt-PT" i="1" dirty="0" err="1"/>
              <a:t>Pathology</a:t>
            </a:r>
            <a:r>
              <a:rPr lang="pt-PT" dirty="0"/>
              <a:t> (AMP) e do </a:t>
            </a:r>
            <a:r>
              <a:rPr lang="pt-PT" i="1" dirty="0" err="1"/>
              <a:t>College</a:t>
            </a:r>
            <a:r>
              <a:rPr lang="pt-PT" i="1" dirty="0"/>
              <a:t> </a:t>
            </a:r>
            <a:r>
              <a:rPr lang="pt-PT" i="1" dirty="0" err="1"/>
              <a:t>of</a:t>
            </a:r>
            <a:r>
              <a:rPr lang="pt-PT" i="1" dirty="0"/>
              <a:t> </a:t>
            </a:r>
            <a:r>
              <a:rPr lang="pt-PT" i="1" dirty="0" err="1"/>
              <a:t>American</a:t>
            </a:r>
            <a:r>
              <a:rPr lang="pt-PT" i="1" dirty="0"/>
              <a:t> </a:t>
            </a:r>
            <a:r>
              <a:rPr lang="pt-PT" i="1" dirty="0" err="1"/>
              <a:t>Pathologists</a:t>
            </a:r>
            <a:r>
              <a:rPr lang="pt-PT" i="1" dirty="0"/>
              <a:t> </a:t>
            </a:r>
            <a:r>
              <a:rPr lang="pt-PT" dirty="0"/>
              <a:t>(CAP).</a:t>
            </a:r>
          </a:p>
        </p:txBody>
      </p:sp>
      <p:pic>
        <p:nvPicPr>
          <p:cNvPr id="7170" name="Picture 2">
            <a:extLst>
              <a:ext uri="{FF2B5EF4-FFF2-40B4-BE49-F238E27FC236}">
                <a16:creationId xmlns:a16="http://schemas.microsoft.com/office/drawing/2014/main" id="{A1765F8A-5648-C68F-2AE6-9DE954FF7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9303" y="487680"/>
            <a:ext cx="7137257" cy="5805488"/>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695C3C8E-0DF1-8AEB-347A-706F494D84D2}"/>
              </a:ext>
            </a:extLst>
          </p:cNvPr>
          <p:cNvSpPr txBox="1"/>
          <p:nvPr/>
        </p:nvSpPr>
        <p:spPr>
          <a:xfrm>
            <a:off x="8351520" y="6309360"/>
            <a:ext cx="2336800" cy="369332"/>
          </a:xfrm>
          <a:prstGeom prst="rect">
            <a:avLst/>
          </a:prstGeom>
          <a:noFill/>
        </p:spPr>
        <p:txBody>
          <a:bodyPr wrap="square" rtlCol="0">
            <a:spAutoFit/>
          </a:bodyPr>
          <a:lstStyle/>
          <a:p>
            <a:r>
              <a:rPr lang="pt-PT" dirty="0" err="1">
                <a:hlinkClick r:id="rId3"/>
              </a:rPr>
              <a:t>Genetics</a:t>
            </a:r>
            <a:r>
              <a:rPr lang="pt-PT" dirty="0">
                <a:hlinkClick r:id="rId3"/>
              </a:rPr>
              <a:t> in Medicine</a:t>
            </a:r>
            <a:endParaRPr lang="en-GB" dirty="0"/>
          </a:p>
        </p:txBody>
      </p:sp>
      <p:sp>
        <p:nvSpPr>
          <p:cNvPr id="9" name="CaixaDeTexto 8">
            <a:extLst>
              <a:ext uri="{FF2B5EF4-FFF2-40B4-BE49-F238E27FC236}">
                <a16:creationId xmlns:a16="http://schemas.microsoft.com/office/drawing/2014/main" id="{3489A78F-C66A-E6DD-6BAC-4313A9E72DED}"/>
              </a:ext>
            </a:extLst>
          </p:cNvPr>
          <p:cNvSpPr txBox="1"/>
          <p:nvPr/>
        </p:nvSpPr>
        <p:spPr>
          <a:xfrm>
            <a:off x="355600" y="5205323"/>
            <a:ext cx="4043680" cy="1169551"/>
          </a:xfrm>
          <a:prstGeom prst="rect">
            <a:avLst/>
          </a:prstGeom>
          <a:noFill/>
        </p:spPr>
        <p:txBody>
          <a:bodyPr wrap="square">
            <a:spAutoFit/>
          </a:bodyPr>
          <a:lstStyle/>
          <a:p>
            <a:r>
              <a:rPr lang="pt-PT" sz="1400" b="0" i="1" dirty="0">
                <a:solidFill>
                  <a:srgbClr val="3A343A"/>
                </a:solidFill>
                <a:effectLst/>
                <a:latin typeface="Europa"/>
              </a:rPr>
              <a:t>BA, </a:t>
            </a:r>
            <a:r>
              <a:rPr lang="pt-PT" sz="1400" b="0" i="1" dirty="0" err="1">
                <a:solidFill>
                  <a:srgbClr val="3A343A"/>
                </a:solidFill>
                <a:effectLst/>
                <a:latin typeface="Europa"/>
              </a:rPr>
              <a:t>benign</a:t>
            </a:r>
            <a:r>
              <a:rPr lang="pt-PT" sz="1400" b="0" i="1" dirty="0">
                <a:solidFill>
                  <a:srgbClr val="3A343A"/>
                </a:solidFill>
                <a:effectLst/>
                <a:latin typeface="Europa"/>
              </a:rPr>
              <a:t> stand-</a:t>
            </a:r>
            <a:r>
              <a:rPr lang="pt-PT" sz="1400" b="0" i="1" dirty="0" err="1">
                <a:solidFill>
                  <a:srgbClr val="3A343A"/>
                </a:solidFill>
                <a:effectLst/>
                <a:latin typeface="Europa"/>
              </a:rPr>
              <a:t>alone</a:t>
            </a:r>
            <a:r>
              <a:rPr lang="pt-PT" sz="1400" b="0" i="1" dirty="0">
                <a:solidFill>
                  <a:srgbClr val="3A343A"/>
                </a:solidFill>
                <a:effectLst/>
                <a:latin typeface="Europa"/>
              </a:rPr>
              <a:t>; BS, </a:t>
            </a:r>
            <a:r>
              <a:rPr lang="pt-PT" sz="1400" b="0" i="1" dirty="0" err="1">
                <a:solidFill>
                  <a:srgbClr val="3A343A"/>
                </a:solidFill>
                <a:effectLst/>
                <a:latin typeface="Europa"/>
              </a:rPr>
              <a:t>benign</a:t>
            </a:r>
            <a:r>
              <a:rPr lang="pt-PT" sz="1400" b="0" i="1" dirty="0">
                <a:solidFill>
                  <a:srgbClr val="3A343A"/>
                </a:solidFill>
                <a:effectLst/>
                <a:latin typeface="Europa"/>
              </a:rPr>
              <a:t> </a:t>
            </a:r>
            <a:r>
              <a:rPr lang="pt-PT" sz="1400" b="0" i="1" dirty="0" err="1">
                <a:solidFill>
                  <a:srgbClr val="3A343A"/>
                </a:solidFill>
                <a:effectLst/>
                <a:latin typeface="Europa"/>
              </a:rPr>
              <a:t>strong</a:t>
            </a:r>
            <a:r>
              <a:rPr lang="pt-PT" sz="1400" b="0" i="1" dirty="0">
                <a:solidFill>
                  <a:srgbClr val="3A343A"/>
                </a:solidFill>
                <a:effectLst/>
                <a:latin typeface="Europa"/>
              </a:rPr>
              <a:t>; BP, </a:t>
            </a:r>
            <a:r>
              <a:rPr lang="pt-PT" sz="1400" b="0" i="1" dirty="0" err="1">
                <a:solidFill>
                  <a:srgbClr val="3A343A"/>
                </a:solidFill>
                <a:effectLst/>
                <a:latin typeface="Europa"/>
              </a:rPr>
              <a:t>benign</a:t>
            </a:r>
            <a:r>
              <a:rPr lang="pt-PT" sz="1400" b="0" i="1" dirty="0">
                <a:solidFill>
                  <a:srgbClr val="3A343A"/>
                </a:solidFill>
                <a:effectLst/>
                <a:latin typeface="Europa"/>
              </a:rPr>
              <a:t> </a:t>
            </a:r>
            <a:r>
              <a:rPr lang="pt-PT" sz="1400" b="0" i="1" dirty="0" err="1">
                <a:solidFill>
                  <a:srgbClr val="3A343A"/>
                </a:solidFill>
                <a:effectLst/>
                <a:latin typeface="Europa"/>
              </a:rPr>
              <a:t>supporting</a:t>
            </a:r>
            <a:r>
              <a:rPr lang="pt-PT" sz="1400" b="0" i="1" dirty="0">
                <a:solidFill>
                  <a:srgbClr val="3A343A"/>
                </a:solidFill>
                <a:effectLst/>
                <a:latin typeface="Europa"/>
              </a:rPr>
              <a:t>; FH, </a:t>
            </a:r>
            <a:r>
              <a:rPr lang="pt-PT" sz="1400" b="0" i="1" dirty="0" err="1">
                <a:solidFill>
                  <a:srgbClr val="3A343A"/>
                </a:solidFill>
                <a:effectLst/>
                <a:latin typeface="Europa"/>
              </a:rPr>
              <a:t>family</a:t>
            </a:r>
            <a:r>
              <a:rPr lang="pt-PT" sz="1400" b="0" i="1" dirty="0">
                <a:solidFill>
                  <a:srgbClr val="3A343A"/>
                </a:solidFill>
                <a:effectLst/>
                <a:latin typeface="Europa"/>
              </a:rPr>
              <a:t> </a:t>
            </a:r>
            <a:r>
              <a:rPr lang="pt-PT" sz="1400" b="0" i="1" dirty="0" err="1">
                <a:solidFill>
                  <a:srgbClr val="3A343A"/>
                </a:solidFill>
                <a:effectLst/>
                <a:latin typeface="Europa"/>
              </a:rPr>
              <a:t>history</a:t>
            </a:r>
            <a:r>
              <a:rPr lang="pt-PT" sz="1400" b="0" i="1" dirty="0">
                <a:solidFill>
                  <a:srgbClr val="3A343A"/>
                </a:solidFill>
                <a:effectLst/>
                <a:latin typeface="Europa"/>
              </a:rPr>
              <a:t>; LOF, </a:t>
            </a:r>
            <a:r>
              <a:rPr lang="pt-PT" sz="1400" b="0" i="1" dirty="0" err="1">
                <a:solidFill>
                  <a:srgbClr val="3A343A"/>
                </a:solidFill>
                <a:effectLst/>
                <a:latin typeface="Europa"/>
              </a:rPr>
              <a:t>loss</a:t>
            </a:r>
            <a:r>
              <a:rPr lang="pt-PT" sz="1400" b="0" i="1" dirty="0">
                <a:solidFill>
                  <a:srgbClr val="3A343A"/>
                </a:solidFill>
                <a:effectLst/>
                <a:latin typeface="Europa"/>
              </a:rPr>
              <a:t> </a:t>
            </a:r>
            <a:r>
              <a:rPr lang="pt-PT" sz="1400" b="0" i="1" dirty="0" err="1">
                <a:solidFill>
                  <a:srgbClr val="3A343A"/>
                </a:solidFill>
                <a:effectLst/>
                <a:latin typeface="Europa"/>
              </a:rPr>
              <a:t>of</a:t>
            </a:r>
            <a:r>
              <a:rPr lang="pt-PT" sz="1400" b="0" i="1" dirty="0">
                <a:solidFill>
                  <a:srgbClr val="3A343A"/>
                </a:solidFill>
                <a:effectLst/>
                <a:latin typeface="Europa"/>
              </a:rPr>
              <a:t> </a:t>
            </a:r>
            <a:r>
              <a:rPr lang="pt-PT" sz="1400" b="0" i="1" dirty="0" err="1">
                <a:solidFill>
                  <a:srgbClr val="3A343A"/>
                </a:solidFill>
                <a:effectLst/>
                <a:latin typeface="Europa"/>
              </a:rPr>
              <a:t>function</a:t>
            </a:r>
            <a:r>
              <a:rPr lang="pt-PT" sz="1400" b="0" i="1" dirty="0">
                <a:solidFill>
                  <a:srgbClr val="3A343A"/>
                </a:solidFill>
                <a:effectLst/>
                <a:latin typeface="Europa"/>
              </a:rPr>
              <a:t>; MAF, </a:t>
            </a:r>
            <a:r>
              <a:rPr lang="pt-PT" sz="1400" b="0" i="1" dirty="0" err="1">
                <a:solidFill>
                  <a:srgbClr val="3A343A"/>
                </a:solidFill>
                <a:effectLst/>
                <a:latin typeface="Europa"/>
              </a:rPr>
              <a:t>minor</a:t>
            </a:r>
            <a:r>
              <a:rPr lang="pt-PT" sz="1400" b="0" i="1" dirty="0">
                <a:solidFill>
                  <a:srgbClr val="3A343A"/>
                </a:solidFill>
                <a:effectLst/>
                <a:latin typeface="Europa"/>
              </a:rPr>
              <a:t> </a:t>
            </a:r>
            <a:r>
              <a:rPr lang="pt-PT" sz="1400" b="0" i="1" dirty="0" err="1">
                <a:solidFill>
                  <a:srgbClr val="3A343A"/>
                </a:solidFill>
                <a:effectLst/>
                <a:latin typeface="Europa"/>
              </a:rPr>
              <a:t>allele</a:t>
            </a:r>
            <a:r>
              <a:rPr lang="pt-PT" sz="1400" b="0" i="1" dirty="0">
                <a:solidFill>
                  <a:srgbClr val="3A343A"/>
                </a:solidFill>
                <a:effectLst/>
                <a:latin typeface="Europa"/>
              </a:rPr>
              <a:t> </a:t>
            </a:r>
            <a:r>
              <a:rPr lang="pt-PT" sz="1400" b="0" i="1" dirty="0" err="1">
                <a:solidFill>
                  <a:srgbClr val="3A343A"/>
                </a:solidFill>
                <a:effectLst/>
                <a:latin typeface="Europa"/>
              </a:rPr>
              <a:t>frequency</a:t>
            </a:r>
            <a:r>
              <a:rPr lang="pt-PT" sz="1400" b="0" i="1" dirty="0">
                <a:solidFill>
                  <a:srgbClr val="3A343A"/>
                </a:solidFill>
                <a:effectLst/>
                <a:latin typeface="Europa"/>
              </a:rPr>
              <a:t>; </a:t>
            </a:r>
            <a:r>
              <a:rPr lang="pt-PT" sz="1400" b="0" i="1" dirty="0" err="1">
                <a:solidFill>
                  <a:srgbClr val="3A343A"/>
                </a:solidFill>
                <a:effectLst/>
                <a:latin typeface="Europa"/>
              </a:rPr>
              <a:t>path</a:t>
            </a:r>
            <a:r>
              <a:rPr lang="pt-PT" sz="1400" b="0" i="1" dirty="0">
                <a:solidFill>
                  <a:srgbClr val="3A343A"/>
                </a:solidFill>
                <a:effectLst/>
                <a:latin typeface="Europa"/>
              </a:rPr>
              <a:t>., </a:t>
            </a:r>
            <a:r>
              <a:rPr lang="pt-PT" sz="1400" b="0" i="1" dirty="0" err="1">
                <a:solidFill>
                  <a:srgbClr val="3A343A"/>
                </a:solidFill>
                <a:effectLst/>
                <a:latin typeface="Europa"/>
              </a:rPr>
              <a:t>pathogenic</a:t>
            </a:r>
            <a:r>
              <a:rPr lang="pt-PT" sz="1400" b="0" i="1" dirty="0">
                <a:solidFill>
                  <a:srgbClr val="3A343A"/>
                </a:solidFill>
                <a:effectLst/>
                <a:latin typeface="Europa"/>
              </a:rPr>
              <a:t>; PM, </a:t>
            </a:r>
            <a:r>
              <a:rPr lang="pt-PT" sz="1400" b="0" i="1" dirty="0" err="1">
                <a:solidFill>
                  <a:srgbClr val="3A343A"/>
                </a:solidFill>
                <a:effectLst/>
                <a:latin typeface="Europa"/>
              </a:rPr>
              <a:t>pathogenic</a:t>
            </a:r>
            <a:r>
              <a:rPr lang="pt-PT" sz="1400" b="0" i="1" dirty="0">
                <a:solidFill>
                  <a:srgbClr val="3A343A"/>
                </a:solidFill>
                <a:effectLst/>
                <a:latin typeface="Europa"/>
              </a:rPr>
              <a:t> </a:t>
            </a:r>
            <a:r>
              <a:rPr lang="pt-PT" sz="1400" b="0" i="1" dirty="0" err="1">
                <a:solidFill>
                  <a:srgbClr val="3A343A"/>
                </a:solidFill>
                <a:effectLst/>
                <a:latin typeface="Europa"/>
              </a:rPr>
              <a:t>moderate</a:t>
            </a:r>
            <a:r>
              <a:rPr lang="pt-PT" sz="1400" b="0" i="1" dirty="0">
                <a:solidFill>
                  <a:srgbClr val="3A343A"/>
                </a:solidFill>
                <a:effectLst/>
                <a:latin typeface="Europa"/>
              </a:rPr>
              <a:t>; PP, </a:t>
            </a:r>
            <a:r>
              <a:rPr lang="pt-PT" sz="1400" b="0" i="1" dirty="0" err="1">
                <a:solidFill>
                  <a:srgbClr val="3A343A"/>
                </a:solidFill>
                <a:effectLst/>
                <a:latin typeface="Europa"/>
              </a:rPr>
              <a:t>pathogenic</a:t>
            </a:r>
            <a:r>
              <a:rPr lang="pt-PT" sz="1400" b="0" i="1" dirty="0">
                <a:solidFill>
                  <a:srgbClr val="3A343A"/>
                </a:solidFill>
                <a:effectLst/>
                <a:latin typeface="Europa"/>
              </a:rPr>
              <a:t> </a:t>
            </a:r>
            <a:r>
              <a:rPr lang="pt-PT" sz="1400" b="0" i="1" dirty="0" err="1">
                <a:solidFill>
                  <a:srgbClr val="3A343A"/>
                </a:solidFill>
                <a:effectLst/>
                <a:latin typeface="Europa"/>
              </a:rPr>
              <a:t>supporting</a:t>
            </a:r>
            <a:r>
              <a:rPr lang="pt-PT" sz="1400" b="0" i="1" dirty="0">
                <a:solidFill>
                  <a:srgbClr val="3A343A"/>
                </a:solidFill>
                <a:effectLst/>
                <a:latin typeface="Europa"/>
              </a:rPr>
              <a:t>; PS, </a:t>
            </a:r>
            <a:r>
              <a:rPr lang="pt-PT" sz="1400" b="0" i="1" dirty="0" err="1">
                <a:solidFill>
                  <a:srgbClr val="3A343A"/>
                </a:solidFill>
                <a:effectLst/>
                <a:latin typeface="Europa"/>
              </a:rPr>
              <a:t>pathogenic</a:t>
            </a:r>
            <a:r>
              <a:rPr lang="pt-PT" sz="1400" b="0" i="1" dirty="0">
                <a:solidFill>
                  <a:srgbClr val="3A343A"/>
                </a:solidFill>
                <a:effectLst/>
                <a:latin typeface="Europa"/>
              </a:rPr>
              <a:t> </a:t>
            </a:r>
            <a:r>
              <a:rPr lang="pt-PT" sz="1400" b="0" i="1" dirty="0" err="1">
                <a:solidFill>
                  <a:srgbClr val="3A343A"/>
                </a:solidFill>
                <a:effectLst/>
                <a:latin typeface="Europa"/>
              </a:rPr>
              <a:t>strong</a:t>
            </a:r>
            <a:r>
              <a:rPr lang="pt-PT" sz="1400" b="0" i="1" dirty="0">
                <a:solidFill>
                  <a:srgbClr val="3A343A"/>
                </a:solidFill>
                <a:effectLst/>
                <a:latin typeface="Europa"/>
              </a:rPr>
              <a:t>; PVS, </a:t>
            </a:r>
            <a:r>
              <a:rPr lang="pt-PT" sz="1400" b="0" i="1" dirty="0" err="1">
                <a:solidFill>
                  <a:srgbClr val="3A343A"/>
                </a:solidFill>
                <a:effectLst/>
                <a:latin typeface="Europa"/>
              </a:rPr>
              <a:t>pathogenic</a:t>
            </a:r>
            <a:r>
              <a:rPr lang="pt-PT" sz="1400" b="0" i="1" dirty="0">
                <a:solidFill>
                  <a:srgbClr val="3A343A"/>
                </a:solidFill>
                <a:effectLst/>
                <a:latin typeface="Europa"/>
              </a:rPr>
              <a:t> </a:t>
            </a:r>
            <a:r>
              <a:rPr lang="pt-PT" sz="1400" b="0" i="1" dirty="0" err="1">
                <a:solidFill>
                  <a:srgbClr val="3A343A"/>
                </a:solidFill>
                <a:effectLst/>
                <a:latin typeface="Europa"/>
              </a:rPr>
              <a:t>very</a:t>
            </a:r>
            <a:r>
              <a:rPr lang="pt-PT" sz="1400" b="0" i="1" dirty="0">
                <a:solidFill>
                  <a:srgbClr val="3A343A"/>
                </a:solidFill>
                <a:effectLst/>
                <a:latin typeface="Europa"/>
              </a:rPr>
              <a:t> </a:t>
            </a:r>
            <a:r>
              <a:rPr lang="pt-PT" sz="1400" b="0" i="1" dirty="0" err="1">
                <a:solidFill>
                  <a:srgbClr val="3A343A"/>
                </a:solidFill>
                <a:effectLst/>
                <a:latin typeface="Europa"/>
              </a:rPr>
              <a:t>strong</a:t>
            </a:r>
            <a:r>
              <a:rPr lang="pt-PT" sz="1400" b="0" i="1" dirty="0">
                <a:solidFill>
                  <a:srgbClr val="3A343A"/>
                </a:solidFill>
                <a:effectLst/>
                <a:latin typeface="Europa"/>
              </a:rPr>
              <a:t>.</a:t>
            </a:r>
            <a:endParaRPr lang="pt-PT" sz="1400" dirty="0"/>
          </a:p>
        </p:txBody>
      </p:sp>
    </p:spTree>
    <p:extLst>
      <p:ext uri="{BB962C8B-B14F-4D97-AF65-F5344CB8AC3E}">
        <p14:creationId xmlns:p14="http://schemas.microsoft.com/office/powerpoint/2010/main" val="1195792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247BE-A3B7-23CD-82C4-AD9384E9986B}"/>
              </a:ext>
            </a:extLst>
          </p:cNvPr>
          <p:cNvSpPr>
            <a:spLocks noGrp="1"/>
          </p:cNvSpPr>
          <p:nvPr>
            <p:ph type="title"/>
          </p:nvPr>
        </p:nvSpPr>
        <p:spPr/>
        <p:txBody>
          <a:bodyPr/>
          <a:lstStyle/>
          <a:p>
            <a:r>
              <a:rPr lang="pt-PT" dirty="0"/>
              <a:t>IGV – validação de variantes</a:t>
            </a:r>
          </a:p>
        </p:txBody>
      </p:sp>
      <p:sp>
        <p:nvSpPr>
          <p:cNvPr id="3" name="Marcador de Posição de Conteúdo 2">
            <a:extLst>
              <a:ext uri="{FF2B5EF4-FFF2-40B4-BE49-F238E27FC236}">
                <a16:creationId xmlns:a16="http://schemas.microsoft.com/office/drawing/2014/main" id="{E7FFF1EE-A716-CDE4-40CB-9E0F796E6FA2}"/>
              </a:ext>
            </a:extLst>
          </p:cNvPr>
          <p:cNvSpPr>
            <a:spLocks noGrp="1"/>
          </p:cNvSpPr>
          <p:nvPr>
            <p:ph idx="1"/>
          </p:nvPr>
        </p:nvSpPr>
        <p:spPr>
          <a:xfrm>
            <a:off x="731194" y="1582433"/>
            <a:ext cx="11019817" cy="5207473"/>
          </a:xfrm>
        </p:spPr>
        <p:txBody>
          <a:bodyPr>
            <a:normAutofit fontScale="92500"/>
          </a:bodyPr>
          <a:lstStyle/>
          <a:p>
            <a:pPr algn="just"/>
            <a:r>
              <a:rPr lang="pt-PT" dirty="0"/>
              <a:t>A elevada precisão do NGS relativamente ao sequenciamento de </a:t>
            </a:r>
            <a:r>
              <a:rPr lang="pt-PT" dirty="0" err="1"/>
              <a:t>Sanger</a:t>
            </a:r>
            <a:r>
              <a:rPr lang="pt-PT" dirty="0"/>
              <a:t> (&gt;99%) está bem documentada.</a:t>
            </a:r>
          </a:p>
          <a:p>
            <a:pPr algn="just"/>
            <a:r>
              <a:rPr lang="pt-PT" dirty="0"/>
              <a:t>Apesar da sua elevada precisão, o NGS pode gerar variantes falsas positivas.</a:t>
            </a:r>
          </a:p>
          <a:p>
            <a:pPr algn="just"/>
            <a:r>
              <a:rPr lang="pt-PT" dirty="0"/>
              <a:t>Muitos destes artefactos resultam de erros no alinhamento de leituras curtas.</a:t>
            </a:r>
          </a:p>
          <a:p>
            <a:pPr algn="just"/>
            <a:r>
              <a:rPr lang="pt-PT" dirty="0"/>
              <a:t>A aplicação de filtros bioinformáticos permite eliminar sistematicamente a maioria destes artefactos, mantendo uma elevada sensibilidade.</a:t>
            </a:r>
          </a:p>
          <a:p>
            <a:pPr algn="just"/>
            <a:r>
              <a:rPr lang="pt-PT" dirty="0"/>
              <a:t>As variantes clinicamente relevantes devem ser confirmadas através da inspeção visual dos alinhamentos (por exemplo, utilizando o IGV) para detetar falsos positivos que possam escapar aos filtros automáticos.</a:t>
            </a:r>
          </a:p>
          <a:p>
            <a:pPr marL="0" indent="0" algn="just">
              <a:buNone/>
            </a:pPr>
            <a:endParaRPr lang="en-US" sz="1400" dirty="0">
              <a:hlinkClick r:id="rId2"/>
            </a:endParaRPr>
          </a:p>
          <a:p>
            <a:pPr marL="0" indent="0" algn="just">
              <a:buNone/>
            </a:pPr>
            <a:r>
              <a:rPr lang="en-US" sz="1050" dirty="0">
                <a:hlinkClick r:id="rId2"/>
              </a:rPr>
              <a:t>Best practices for variant calling in clinical sequencing - PMC</a:t>
            </a:r>
            <a:endParaRPr lang="pt-PT" sz="1050" dirty="0"/>
          </a:p>
        </p:txBody>
      </p:sp>
      <p:sp>
        <p:nvSpPr>
          <p:cNvPr id="4" name="Marcador de Posição do Número do Diapositivo 3">
            <a:extLst>
              <a:ext uri="{FF2B5EF4-FFF2-40B4-BE49-F238E27FC236}">
                <a16:creationId xmlns:a16="http://schemas.microsoft.com/office/drawing/2014/main" id="{07B54A4E-3030-7C95-A555-9C1B3BB41AF7}"/>
              </a:ext>
            </a:extLst>
          </p:cNvPr>
          <p:cNvSpPr>
            <a:spLocks noGrp="1"/>
          </p:cNvSpPr>
          <p:nvPr>
            <p:ph type="sldNum" sz="quarter" idx="12"/>
          </p:nvPr>
        </p:nvSpPr>
        <p:spPr/>
        <p:txBody>
          <a:bodyPr/>
          <a:lstStyle/>
          <a:p>
            <a:fld id="{6D49FC33-1B8E-4C1B-8D07-84B8EBAC733E}" type="slidenum">
              <a:rPr lang="en-GB" smtClean="0"/>
              <a:t>11</a:t>
            </a:fld>
            <a:endParaRPr lang="en-GB"/>
          </a:p>
        </p:txBody>
      </p:sp>
    </p:spTree>
    <p:extLst>
      <p:ext uri="{BB962C8B-B14F-4D97-AF65-F5344CB8AC3E}">
        <p14:creationId xmlns:p14="http://schemas.microsoft.com/office/powerpoint/2010/main" val="3011953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3B0558-FC7F-591B-28ED-5101FD5636F9}"/>
              </a:ext>
            </a:extLst>
          </p:cNvPr>
          <p:cNvSpPr>
            <a:spLocks noGrp="1"/>
          </p:cNvSpPr>
          <p:nvPr>
            <p:ph type="title"/>
          </p:nvPr>
        </p:nvSpPr>
        <p:spPr/>
        <p:txBody>
          <a:bodyPr/>
          <a:lstStyle/>
          <a:p>
            <a:r>
              <a:rPr lang="pt-PT" dirty="0"/>
              <a:t>IGV – como usar</a:t>
            </a:r>
          </a:p>
        </p:txBody>
      </p:sp>
      <p:sp>
        <p:nvSpPr>
          <p:cNvPr id="4" name="Marcador de Posição do Número do Diapositivo 3">
            <a:extLst>
              <a:ext uri="{FF2B5EF4-FFF2-40B4-BE49-F238E27FC236}">
                <a16:creationId xmlns:a16="http://schemas.microsoft.com/office/drawing/2014/main" id="{A0401DBD-6904-4F86-310B-5EDFDAE1AA45}"/>
              </a:ext>
            </a:extLst>
          </p:cNvPr>
          <p:cNvSpPr>
            <a:spLocks noGrp="1"/>
          </p:cNvSpPr>
          <p:nvPr>
            <p:ph type="sldNum" sz="quarter" idx="12"/>
          </p:nvPr>
        </p:nvSpPr>
        <p:spPr/>
        <p:txBody>
          <a:bodyPr/>
          <a:lstStyle/>
          <a:p>
            <a:fld id="{6D49FC33-1B8E-4C1B-8D07-84B8EBAC733E}" type="slidenum">
              <a:rPr lang="en-GB" smtClean="0"/>
              <a:t>12</a:t>
            </a:fld>
            <a:endParaRPr lang="en-GB"/>
          </a:p>
        </p:txBody>
      </p:sp>
      <p:pic>
        <p:nvPicPr>
          <p:cNvPr id="6" name="Imagem 5">
            <a:extLst>
              <a:ext uri="{FF2B5EF4-FFF2-40B4-BE49-F238E27FC236}">
                <a16:creationId xmlns:a16="http://schemas.microsoft.com/office/drawing/2014/main" id="{87F4E657-1BE5-6EF1-F8E1-3779A5C41086}"/>
              </a:ext>
            </a:extLst>
          </p:cNvPr>
          <p:cNvPicPr>
            <a:picLocks noChangeAspect="1"/>
          </p:cNvPicPr>
          <p:nvPr/>
        </p:nvPicPr>
        <p:blipFill>
          <a:blip r:embed="rId2"/>
          <a:stretch>
            <a:fillRect/>
          </a:stretch>
        </p:blipFill>
        <p:spPr>
          <a:xfrm>
            <a:off x="6498860" y="191983"/>
            <a:ext cx="5540038" cy="2162112"/>
          </a:xfrm>
          <a:prstGeom prst="rect">
            <a:avLst/>
          </a:prstGeom>
        </p:spPr>
      </p:pic>
      <p:sp>
        <p:nvSpPr>
          <p:cNvPr id="7" name="Marcador de Posição de Conteúdo 5">
            <a:extLst>
              <a:ext uri="{FF2B5EF4-FFF2-40B4-BE49-F238E27FC236}">
                <a16:creationId xmlns:a16="http://schemas.microsoft.com/office/drawing/2014/main" id="{69617D6E-5C35-3E53-C467-D7DB8740D1FC}"/>
              </a:ext>
            </a:extLst>
          </p:cNvPr>
          <p:cNvSpPr>
            <a:spLocks noGrp="1"/>
          </p:cNvSpPr>
          <p:nvPr>
            <p:ph idx="1"/>
          </p:nvPr>
        </p:nvSpPr>
        <p:spPr>
          <a:xfrm>
            <a:off x="643647" y="2506662"/>
            <a:ext cx="10515600" cy="4351338"/>
          </a:xfrm>
        </p:spPr>
        <p:txBody>
          <a:bodyPr/>
          <a:lstStyle/>
          <a:p>
            <a:r>
              <a:rPr lang="pt-PT" dirty="0"/>
              <a:t>O IGV é uma plataforma que nos permite navegar através do genoma, e dos alinhamentos genómicos das amostras</a:t>
            </a:r>
          </a:p>
          <a:p>
            <a:r>
              <a:rPr lang="pt-PT" dirty="0"/>
              <a:t>Mostra-nos como as </a:t>
            </a:r>
            <a:r>
              <a:rPr lang="pt-PT" dirty="0" err="1"/>
              <a:t>reads</a:t>
            </a:r>
            <a:r>
              <a:rPr lang="pt-PT" dirty="0"/>
              <a:t> foram mapeadas, utilizando sinalética e código de cores para interpretar qualidade, </a:t>
            </a:r>
            <a:r>
              <a:rPr lang="pt-PT" dirty="0" err="1"/>
              <a:t>mismatches</a:t>
            </a:r>
            <a:r>
              <a:rPr lang="pt-PT" dirty="0"/>
              <a:t>, onde os pares estão mapeados entre outras informações</a:t>
            </a:r>
          </a:p>
          <a:p>
            <a:r>
              <a:rPr lang="pt-PT" dirty="0"/>
              <a:t>É muito pratico para perceber a estrutura de um alinhamento e para validar variantes</a:t>
            </a:r>
          </a:p>
          <a:p>
            <a:pPr lvl="1"/>
            <a:endParaRPr lang="pt-PT" dirty="0"/>
          </a:p>
        </p:txBody>
      </p:sp>
      <p:sp>
        <p:nvSpPr>
          <p:cNvPr id="3" name="Título 1">
            <a:extLst>
              <a:ext uri="{FF2B5EF4-FFF2-40B4-BE49-F238E27FC236}">
                <a16:creationId xmlns:a16="http://schemas.microsoft.com/office/drawing/2014/main" id="{80B792BB-7A1A-1E9A-3CAE-58B263FB7F23}"/>
              </a:ext>
            </a:extLst>
          </p:cNvPr>
          <p:cNvSpPr txBox="1">
            <a:spLocks/>
          </p:cNvSpPr>
          <p:nvPr/>
        </p:nvSpPr>
        <p:spPr>
          <a:xfrm>
            <a:off x="7869677" y="5371627"/>
            <a:ext cx="265586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PT" sz="3600" dirty="0">
                <a:solidFill>
                  <a:srgbClr val="0070C0"/>
                </a:solidFill>
              </a:rPr>
              <a:t>Abrir o IGV</a:t>
            </a:r>
          </a:p>
        </p:txBody>
      </p:sp>
    </p:spTree>
    <p:extLst>
      <p:ext uri="{BB962C8B-B14F-4D97-AF65-F5344CB8AC3E}">
        <p14:creationId xmlns:p14="http://schemas.microsoft.com/office/powerpoint/2010/main" val="2279429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247BE-A3B7-23CD-82C4-AD9384E9986B}"/>
              </a:ext>
            </a:extLst>
          </p:cNvPr>
          <p:cNvSpPr>
            <a:spLocks noGrp="1"/>
          </p:cNvSpPr>
          <p:nvPr>
            <p:ph type="title"/>
          </p:nvPr>
        </p:nvSpPr>
        <p:spPr/>
        <p:txBody>
          <a:bodyPr/>
          <a:lstStyle/>
          <a:p>
            <a:r>
              <a:rPr lang="pt-PT" dirty="0"/>
              <a:t>Falsos positivos</a:t>
            </a:r>
          </a:p>
        </p:txBody>
      </p:sp>
      <p:sp>
        <p:nvSpPr>
          <p:cNvPr id="4" name="Marcador de Posição do Número do Diapositivo 3">
            <a:extLst>
              <a:ext uri="{FF2B5EF4-FFF2-40B4-BE49-F238E27FC236}">
                <a16:creationId xmlns:a16="http://schemas.microsoft.com/office/drawing/2014/main" id="{07B54A4E-3030-7C95-A555-9C1B3BB41AF7}"/>
              </a:ext>
            </a:extLst>
          </p:cNvPr>
          <p:cNvSpPr>
            <a:spLocks noGrp="1"/>
          </p:cNvSpPr>
          <p:nvPr>
            <p:ph type="sldNum" sz="quarter" idx="12"/>
          </p:nvPr>
        </p:nvSpPr>
        <p:spPr/>
        <p:txBody>
          <a:bodyPr/>
          <a:lstStyle/>
          <a:p>
            <a:fld id="{6D49FC33-1B8E-4C1B-8D07-84B8EBAC733E}" type="slidenum">
              <a:rPr lang="en-GB" smtClean="0"/>
              <a:t>13</a:t>
            </a:fld>
            <a:endParaRPr lang="en-GB"/>
          </a:p>
        </p:txBody>
      </p:sp>
      <p:sp>
        <p:nvSpPr>
          <p:cNvPr id="6" name="Marcador de Posição de Conteúdo 5">
            <a:extLst>
              <a:ext uri="{FF2B5EF4-FFF2-40B4-BE49-F238E27FC236}">
                <a16:creationId xmlns:a16="http://schemas.microsoft.com/office/drawing/2014/main" id="{2F28992A-2859-EBDC-B000-B009FE64EE88}"/>
              </a:ext>
            </a:extLst>
          </p:cNvPr>
          <p:cNvSpPr>
            <a:spLocks noGrp="1"/>
          </p:cNvSpPr>
          <p:nvPr>
            <p:ph idx="1"/>
          </p:nvPr>
        </p:nvSpPr>
        <p:spPr>
          <a:xfrm>
            <a:off x="838200" y="1747804"/>
            <a:ext cx="10515600" cy="4351338"/>
          </a:xfrm>
        </p:spPr>
        <p:txBody>
          <a:bodyPr>
            <a:normAutofit lnSpcReduction="10000"/>
          </a:bodyPr>
          <a:lstStyle/>
          <a:p>
            <a:pPr algn="just"/>
            <a:r>
              <a:rPr lang="pt-PT" sz="3200" dirty="0"/>
              <a:t>Ter atenção em:</a:t>
            </a:r>
          </a:p>
          <a:p>
            <a:pPr lvl="1" algn="just"/>
            <a:r>
              <a:rPr lang="pt-PT" sz="2800" dirty="0"/>
              <a:t>Aspeto geral da região – muita variação de cobertura, muitas </a:t>
            </a:r>
            <a:r>
              <a:rPr lang="pt-PT" sz="2800" dirty="0" err="1"/>
              <a:t>reads</a:t>
            </a:r>
            <a:r>
              <a:rPr lang="pt-PT" sz="2800" dirty="0"/>
              <a:t> parcialmente mapeadas, com muitos </a:t>
            </a:r>
            <a:r>
              <a:rPr lang="pt-PT" sz="2800" dirty="0" err="1"/>
              <a:t>mismatches</a:t>
            </a:r>
            <a:r>
              <a:rPr lang="pt-PT" sz="2800" dirty="0"/>
              <a:t>, e/ou pouca qualidade</a:t>
            </a:r>
          </a:p>
          <a:p>
            <a:pPr lvl="1" algn="just"/>
            <a:r>
              <a:rPr lang="pt-PT" sz="2800" dirty="0"/>
              <a:t>Quantas </a:t>
            </a:r>
            <a:r>
              <a:rPr lang="pt-PT" sz="2800" dirty="0" err="1"/>
              <a:t>reads</a:t>
            </a:r>
            <a:r>
              <a:rPr lang="pt-PT" sz="2800" dirty="0"/>
              <a:t> suportam cada alelo, e qualidade/mapeamento das mesmas</a:t>
            </a:r>
          </a:p>
          <a:p>
            <a:pPr lvl="1" algn="just"/>
            <a:r>
              <a:rPr lang="pt-PT" sz="2800" dirty="0"/>
              <a:t>Especialmente para </a:t>
            </a:r>
            <a:r>
              <a:rPr lang="pt-PT" sz="2800" dirty="0" err="1"/>
              <a:t>indels</a:t>
            </a:r>
            <a:r>
              <a:rPr lang="pt-PT" sz="2800" dirty="0"/>
              <a:t>, perceber se será uma região de baixa complexidade que poderá </a:t>
            </a:r>
            <a:r>
              <a:rPr lang="pt-PT" sz="2800" dirty="0" err="1"/>
              <a:t>afectar</a:t>
            </a:r>
            <a:r>
              <a:rPr lang="pt-PT" sz="2800" dirty="0"/>
              <a:t> a capacidade de </a:t>
            </a:r>
            <a:r>
              <a:rPr lang="pt-PT" sz="2800" dirty="0" err="1"/>
              <a:t>calling</a:t>
            </a:r>
            <a:r>
              <a:rPr lang="pt-PT" sz="2800" dirty="0"/>
              <a:t> das ferramentas (com repetição de sequencia i.e. AAAATTTAAAATTAA…)</a:t>
            </a:r>
          </a:p>
          <a:p>
            <a:pPr lvl="1" algn="just"/>
            <a:r>
              <a:rPr lang="pt-PT" sz="2800" dirty="0"/>
              <a:t>Comparação com outros casos pode ajudar</a:t>
            </a:r>
          </a:p>
          <a:p>
            <a:pPr marL="457200" lvl="1" indent="0" algn="just">
              <a:buNone/>
            </a:pPr>
            <a:endParaRPr lang="pt-PT" dirty="0"/>
          </a:p>
        </p:txBody>
      </p:sp>
    </p:spTree>
    <p:extLst>
      <p:ext uri="{BB962C8B-B14F-4D97-AF65-F5344CB8AC3E}">
        <p14:creationId xmlns:p14="http://schemas.microsoft.com/office/powerpoint/2010/main" val="3161832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247BE-A3B7-23CD-82C4-AD9384E9986B}"/>
              </a:ext>
            </a:extLst>
          </p:cNvPr>
          <p:cNvSpPr>
            <a:spLocks noGrp="1"/>
          </p:cNvSpPr>
          <p:nvPr>
            <p:ph type="title"/>
          </p:nvPr>
        </p:nvSpPr>
        <p:spPr>
          <a:xfrm>
            <a:off x="205902" y="0"/>
            <a:ext cx="10515600" cy="1325563"/>
          </a:xfrm>
        </p:spPr>
        <p:txBody>
          <a:bodyPr/>
          <a:lstStyle/>
          <a:p>
            <a:r>
              <a:rPr lang="pt-PT" dirty="0"/>
              <a:t>Bons exemplos</a:t>
            </a:r>
          </a:p>
        </p:txBody>
      </p:sp>
      <p:sp>
        <p:nvSpPr>
          <p:cNvPr id="4" name="Marcador de Posição do Número do Diapositivo 3">
            <a:extLst>
              <a:ext uri="{FF2B5EF4-FFF2-40B4-BE49-F238E27FC236}">
                <a16:creationId xmlns:a16="http://schemas.microsoft.com/office/drawing/2014/main" id="{07B54A4E-3030-7C95-A555-9C1B3BB41AF7}"/>
              </a:ext>
            </a:extLst>
          </p:cNvPr>
          <p:cNvSpPr>
            <a:spLocks noGrp="1"/>
          </p:cNvSpPr>
          <p:nvPr>
            <p:ph type="sldNum" sz="quarter" idx="12"/>
          </p:nvPr>
        </p:nvSpPr>
        <p:spPr/>
        <p:txBody>
          <a:bodyPr/>
          <a:lstStyle/>
          <a:p>
            <a:fld id="{6D49FC33-1B8E-4C1B-8D07-84B8EBAC733E}" type="slidenum">
              <a:rPr lang="en-GB" smtClean="0"/>
              <a:t>14</a:t>
            </a:fld>
            <a:endParaRPr lang="en-GB"/>
          </a:p>
        </p:txBody>
      </p:sp>
      <p:pic>
        <p:nvPicPr>
          <p:cNvPr id="8" name="Imagem 7">
            <a:extLst>
              <a:ext uri="{FF2B5EF4-FFF2-40B4-BE49-F238E27FC236}">
                <a16:creationId xmlns:a16="http://schemas.microsoft.com/office/drawing/2014/main" id="{1EA17608-186D-825B-A76C-0F89AE651220}"/>
              </a:ext>
            </a:extLst>
          </p:cNvPr>
          <p:cNvPicPr>
            <a:picLocks noChangeAspect="1"/>
          </p:cNvPicPr>
          <p:nvPr/>
        </p:nvPicPr>
        <p:blipFill>
          <a:blip r:embed="rId2"/>
          <a:stretch>
            <a:fillRect/>
          </a:stretch>
        </p:blipFill>
        <p:spPr>
          <a:xfrm>
            <a:off x="0" y="920199"/>
            <a:ext cx="12192000" cy="5854181"/>
          </a:xfrm>
          <a:prstGeom prst="rect">
            <a:avLst/>
          </a:prstGeom>
        </p:spPr>
      </p:pic>
    </p:spTree>
    <p:extLst>
      <p:ext uri="{BB962C8B-B14F-4D97-AF65-F5344CB8AC3E}">
        <p14:creationId xmlns:p14="http://schemas.microsoft.com/office/powerpoint/2010/main" val="291125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C46C7-AC8A-D129-62E7-DDF7C6C05813}"/>
              </a:ext>
            </a:extLst>
          </p:cNvPr>
          <p:cNvSpPr>
            <a:spLocks noGrp="1"/>
          </p:cNvSpPr>
          <p:nvPr>
            <p:ph type="title"/>
          </p:nvPr>
        </p:nvSpPr>
        <p:spPr>
          <a:xfrm>
            <a:off x="264269" y="0"/>
            <a:ext cx="10515600" cy="1325563"/>
          </a:xfrm>
        </p:spPr>
        <p:txBody>
          <a:bodyPr/>
          <a:lstStyle/>
          <a:p>
            <a:r>
              <a:rPr lang="pt-PT" dirty="0"/>
              <a:t>Bons exemplos</a:t>
            </a:r>
          </a:p>
        </p:txBody>
      </p:sp>
      <p:sp>
        <p:nvSpPr>
          <p:cNvPr id="4" name="Marcador de Posição do Número do Diapositivo 3">
            <a:extLst>
              <a:ext uri="{FF2B5EF4-FFF2-40B4-BE49-F238E27FC236}">
                <a16:creationId xmlns:a16="http://schemas.microsoft.com/office/drawing/2014/main" id="{EA4263C3-E241-0283-E00C-BDAF562E943A}"/>
              </a:ext>
            </a:extLst>
          </p:cNvPr>
          <p:cNvSpPr>
            <a:spLocks noGrp="1"/>
          </p:cNvSpPr>
          <p:nvPr>
            <p:ph type="sldNum" sz="quarter" idx="12"/>
          </p:nvPr>
        </p:nvSpPr>
        <p:spPr/>
        <p:txBody>
          <a:bodyPr/>
          <a:lstStyle/>
          <a:p>
            <a:fld id="{6D49FC33-1B8E-4C1B-8D07-84B8EBAC733E}" type="slidenum">
              <a:rPr lang="en-GB" smtClean="0"/>
              <a:t>15</a:t>
            </a:fld>
            <a:endParaRPr lang="en-GB"/>
          </a:p>
        </p:txBody>
      </p:sp>
      <p:pic>
        <p:nvPicPr>
          <p:cNvPr id="8" name="Imagem 7">
            <a:extLst>
              <a:ext uri="{FF2B5EF4-FFF2-40B4-BE49-F238E27FC236}">
                <a16:creationId xmlns:a16="http://schemas.microsoft.com/office/drawing/2014/main" id="{36F93E4E-A404-4A05-DA89-5371E6922E38}"/>
              </a:ext>
            </a:extLst>
          </p:cNvPr>
          <p:cNvPicPr>
            <a:picLocks noChangeAspect="1"/>
          </p:cNvPicPr>
          <p:nvPr/>
        </p:nvPicPr>
        <p:blipFill>
          <a:blip r:embed="rId2"/>
          <a:stretch>
            <a:fillRect/>
          </a:stretch>
        </p:blipFill>
        <p:spPr>
          <a:xfrm>
            <a:off x="0" y="1020552"/>
            <a:ext cx="12192000" cy="5770205"/>
          </a:xfrm>
          <a:prstGeom prst="rect">
            <a:avLst/>
          </a:prstGeom>
        </p:spPr>
      </p:pic>
    </p:spTree>
    <p:extLst>
      <p:ext uri="{BB962C8B-B14F-4D97-AF65-F5344CB8AC3E}">
        <p14:creationId xmlns:p14="http://schemas.microsoft.com/office/powerpoint/2010/main" val="447587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A82DBE14-21BA-71B4-9157-009AC1D7A0DA}"/>
              </a:ext>
            </a:extLst>
          </p:cNvPr>
          <p:cNvPicPr>
            <a:picLocks noChangeAspect="1"/>
          </p:cNvPicPr>
          <p:nvPr/>
        </p:nvPicPr>
        <p:blipFill>
          <a:blip r:embed="rId2"/>
          <a:stretch>
            <a:fillRect/>
          </a:stretch>
        </p:blipFill>
        <p:spPr>
          <a:xfrm>
            <a:off x="0" y="910845"/>
            <a:ext cx="12192000" cy="5872888"/>
          </a:xfrm>
          <a:prstGeom prst="rect">
            <a:avLst/>
          </a:prstGeom>
        </p:spPr>
      </p:pic>
      <p:sp>
        <p:nvSpPr>
          <p:cNvPr id="7" name="Título 1">
            <a:extLst>
              <a:ext uri="{FF2B5EF4-FFF2-40B4-BE49-F238E27FC236}">
                <a16:creationId xmlns:a16="http://schemas.microsoft.com/office/drawing/2014/main" id="{E0AAC0E4-8114-1B2C-2E7C-B0E670198408}"/>
              </a:ext>
            </a:extLst>
          </p:cNvPr>
          <p:cNvSpPr>
            <a:spLocks noGrp="1"/>
          </p:cNvSpPr>
          <p:nvPr>
            <p:ph type="title"/>
          </p:nvPr>
        </p:nvSpPr>
        <p:spPr>
          <a:xfrm>
            <a:off x="273995" y="0"/>
            <a:ext cx="10515600" cy="1325563"/>
          </a:xfrm>
        </p:spPr>
        <p:txBody>
          <a:bodyPr/>
          <a:lstStyle/>
          <a:p>
            <a:r>
              <a:rPr lang="pt-PT" dirty="0"/>
              <a:t>Bons exemplos</a:t>
            </a:r>
          </a:p>
        </p:txBody>
      </p:sp>
    </p:spTree>
    <p:extLst>
      <p:ext uri="{BB962C8B-B14F-4D97-AF65-F5344CB8AC3E}">
        <p14:creationId xmlns:p14="http://schemas.microsoft.com/office/powerpoint/2010/main" val="4080404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C46C7-AC8A-D129-62E7-DDF7C6C05813}"/>
              </a:ext>
            </a:extLst>
          </p:cNvPr>
          <p:cNvSpPr>
            <a:spLocks noGrp="1"/>
          </p:cNvSpPr>
          <p:nvPr>
            <p:ph type="title"/>
          </p:nvPr>
        </p:nvSpPr>
        <p:spPr>
          <a:xfrm>
            <a:off x="0" y="0"/>
            <a:ext cx="10515600" cy="1325563"/>
          </a:xfrm>
        </p:spPr>
        <p:txBody>
          <a:bodyPr/>
          <a:lstStyle/>
          <a:p>
            <a:r>
              <a:rPr lang="pt-PT" dirty="0"/>
              <a:t>Maus exemplos</a:t>
            </a:r>
          </a:p>
        </p:txBody>
      </p:sp>
      <p:sp>
        <p:nvSpPr>
          <p:cNvPr id="4" name="Marcador de Posição do Número do Diapositivo 3">
            <a:extLst>
              <a:ext uri="{FF2B5EF4-FFF2-40B4-BE49-F238E27FC236}">
                <a16:creationId xmlns:a16="http://schemas.microsoft.com/office/drawing/2014/main" id="{EA4263C3-E241-0283-E00C-BDAF562E943A}"/>
              </a:ext>
            </a:extLst>
          </p:cNvPr>
          <p:cNvSpPr>
            <a:spLocks noGrp="1"/>
          </p:cNvSpPr>
          <p:nvPr>
            <p:ph type="sldNum" sz="quarter" idx="12"/>
          </p:nvPr>
        </p:nvSpPr>
        <p:spPr/>
        <p:txBody>
          <a:bodyPr/>
          <a:lstStyle/>
          <a:p>
            <a:fld id="{6D49FC33-1B8E-4C1B-8D07-84B8EBAC733E}" type="slidenum">
              <a:rPr lang="en-GB" smtClean="0"/>
              <a:t>17</a:t>
            </a:fld>
            <a:endParaRPr lang="en-GB"/>
          </a:p>
        </p:txBody>
      </p:sp>
      <p:pic>
        <p:nvPicPr>
          <p:cNvPr id="6" name="Imagem 5">
            <a:extLst>
              <a:ext uri="{FF2B5EF4-FFF2-40B4-BE49-F238E27FC236}">
                <a16:creationId xmlns:a16="http://schemas.microsoft.com/office/drawing/2014/main" id="{B3EE23B6-F9D8-B40A-3829-22BEA3E0F7E3}"/>
              </a:ext>
            </a:extLst>
          </p:cNvPr>
          <p:cNvPicPr>
            <a:picLocks noChangeAspect="1"/>
          </p:cNvPicPr>
          <p:nvPr/>
        </p:nvPicPr>
        <p:blipFill>
          <a:blip r:embed="rId2"/>
          <a:stretch>
            <a:fillRect/>
          </a:stretch>
        </p:blipFill>
        <p:spPr>
          <a:xfrm>
            <a:off x="0" y="999254"/>
            <a:ext cx="12192000" cy="5954063"/>
          </a:xfrm>
          <a:prstGeom prst="rect">
            <a:avLst/>
          </a:prstGeom>
        </p:spPr>
      </p:pic>
      <p:pic>
        <p:nvPicPr>
          <p:cNvPr id="5" name="Imagem 4">
            <a:extLst>
              <a:ext uri="{FF2B5EF4-FFF2-40B4-BE49-F238E27FC236}">
                <a16:creationId xmlns:a16="http://schemas.microsoft.com/office/drawing/2014/main" id="{0226F6A8-2FF7-5960-2A36-CF2C41068B31}"/>
              </a:ext>
            </a:extLst>
          </p:cNvPr>
          <p:cNvPicPr>
            <a:picLocks noChangeAspect="1"/>
          </p:cNvPicPr>
          <p:nvPr/>
        </p:nvPicPr>
        <p:blipFill>
          <a:blip r:embed="rId3"/>
          <a:stretch>
            <a:fillRect/>
          </a:stretch>
        </p:blipFill>
        <p:spPr>
          <a:xfrm>
            <a:off x="0" y="1040432"/>
            <a:ext cx="12192000" cy="5930073"/>
          </a:xfrm>
          <a:prstGeom prst="rect">
            <a:avLst/>
          </a:prstGeom>
        </p:spPr>
      </p:pic>
      <p:sp>
        <p:nvSpPr>
          <p:cNvPr id="7" name="CaixaDeTexto 6">
            <a:extLst>
              <a:ext uri="{FF2B5EF4-FFF2-40B4-BE49-F238E27FC236}">
                <a16:creationId xmlns:a16="http://schemas.microsoft.com/office/drawing/2014/main" id="{D16241CA-86A3-A687-BF5C-8507C6A78677}"/>
              </a:ext>
            </a:extLst>
          </p:cNvPr>
          <p:cNvSpPr txBox="1"/>
          <p:nvPr/>
        </p:nvSpPr>
        <p:spPr>
          <a:xfrm>
            <a:off x="9834664" y="389106"/>
            <a:ext cx="1741251" cy="369332"/>
          </a:xfrm>
          <a:prstGeom prst="rect">
            <a:avLst/>
          </a:prstGeom>
          <a:noFill/>
        </p:spPr>
        <p:txBody>
          <a:bodyPr wrap="square" rtlCol="0">
            <a:spAutoFit/>
          </a:bodyPr>
          <a:lstStyle/>
          <a:p>
            <a:r>
              <a:rPr lang="pt-PT" b="1" dirty="0"/>
              <a:t>Zoom out</a:t>
            </a:r>
          </a:p>
        </p:txBody>
      </p:sp>
    </p:spTree>
    <p:extLst>
      <p:ext uri="{BB962C8B-B14F-4D97-AF65-F5344CB8AC3E}">
        <p14:creationId xmlns:p14="http://schemas.microsoft.com/office/powerpoint/2010/main" val="2608120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C46C7-AC8A-D129-62E7-DDF7C6C05813}"/>
              </a:ext>
            </a:extLst>
          </p:cNvPr>
          <p:cNvSpPr>
            <a:spLocks noGrp="1"/>
          </p:cNvSpPr>
          <p:nvPr>
            <p:ph type="title"/>
          </p:nvPr>
        </p:nvSpPr>
        <p:spPr>
          <a:xfrm>
            <a:off x="0" y="0"/>
            <a:ext cx="10515600" cy="1325563"/>
          </a:xfrm>
        </p:spPr>
        <p:txBody>
          <a:bodyPr/>
          <a:lstStyle/>
          <a:p>
            <a:r>
              <a:rPr lang="pt-PT" dirty="0"/>
              <a:t>Maus exemplos</a:t>
            </a:r>
          </a:p>
        </p:txBody>
      </p:sp>
      <p:sp>
        <p:nvSpPr>
          <p:cNvPr id="4" name="Marcador de Posição do Número do Diapositivo 3">
            <a:extLst>
              <a:ext uri="{FF2B5EF4-FFF2-40B4-BE49-F238E27FC236}">
                <a16:creationId xmlns:a16="http://schemas.microsoft.com/office/drawing/2014/main" id="{EA4263C3-E241-0283-E00C-BDAF562E943A}"/>
              </a:ext>
            </a:extLst>
          </p:cNvPr>
          <p:cNvSpPr>
            <a:spLocks noGrp="1"/>
          </p:cNvSpPr>
          <p:nvPr>
            <p:ph type="sldNum" sz="quarter" idx="12"/>
          </p:nvPr>
        </p:nvSpPr>
        <p:spPr/>
        <p:txBody>
          <a:bodyPr/>
          <a:lstStyle/>
          <a:p>
            <a:fld id="{6D49FC33-1B8E-4C1B-8D07-84B8EBAC733E}" type="slidenum">
              <a:rPr lang="en-GB" smtClean="0"/>
              <a:t>18</a:t>
            </a:fld>
            <a:endParaRPr lang="en-GB"/>
          </a:p>
        </p:txBody>
      </p:sp>
      <p:pic>
        <p:nvPicPr>
          <p:cNvPr id="8" name="Imagem 7">
            <a:extLst>
              <a:ext uri="{FF2B5EF4-FFF2-40B4-BE49-F238E27FC236}">
                <a16:creationId xmlns:a16="http://schemas.microsoft.com/office/drawing/2014/main" id="{6C6D65BB-8916-55AD-5095-27C2D6C57062}"/>
              </a:ext>
            </a:extLst>
          </p:cNvPr>
          <p:cNvPicPr>
            <a:picLocks noChangeAspect="1"/>
          </p:cNvPicPr>
          <p:nvPr/>
        </p:nvPicPr>
        <p:blipFill>
          <a:blip r:embed="rId2"/>
          <a:stretch>
            <a:fillRect/>
          </a:stretch>
        </p:blipFill>
        <p:spPr>
          <a:xfrm>
            <a:off x="0" y="1035492"/>
            <a:ext cx="12192000" cy="5822508"/>
          </a:xfrm>
          <a:prstGeom prst="rect">
            <a:avLst/>
          </a:prstGeom>
        </p:spPr>
      </p:pic>
    </p:spTree>
    <p:extLst>
      <p:ext uri="{BB962C8B-B14F-4D97-AF65-F5344CB8AC3E}">
        <p14:creationId xmlns:p14="http://schemas.microsoft.com/office/powerpoint/2010/main" val="1428161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C46C7-AC8A-D129-62E7-DDF7C6C05813}"/>
              </a:ext>
            </a:extLst>
          </p:cNvPr>
          <p:cNvSpPr>
            <a:spLocks noGrp="1"/>
          </p:cNvSpPr>
          <p:nvPr>
            <p:ph type="title"/>
          </p:nvPr>
        </p:nvSpPr>
        <p:spPr>
          <a:xfrm>
            <a:off x="0" y="0"/>
            <a:ext cx="10515600" cy="1325563"/>
          </a:xfrm>
        </p:spPr>
        <p:txBody>
          <a:bodyPr/>
          <a:lstStyle/>
          <a:p>
            <a:r>
              <a:rPr lang="pt-PT" dirty="0"/>
              <a:t>Maus exemplos</a:t>
            </a:r>
          </a:p>
        </p:txBody>
      </p:sp>
      <p:sp>
        <p:nvSpPr>
          <p:cNvPr id="4" name="Marcador de Posição do Número do Diapositivo 3">
            <a:extLst>
              <a:ext uri="{FF2B5EF4-FFF2-40B4-BE49-F238E27FC236}">
                <a16:creationId xmlns:a16="http://schemas.microsoft.com/office/drawing/2014/main" id="{EA4263C3-E241-0283-E00C-BDAF562E943A}"/>
              </a:ext>
            </a:extLst>
          </p:cNvPr>
          <p:cNvSpPr>
            <a:spLocks noGrp="1"/>
          </p:cNvSpPr>
          <p:nvPr>
            <p:ph type="sldNum" sz="quarter" idx="12"/>
          </p:nvPr>
        </p:nvSpPr>
        <p:spPr/>
        <p:txBody>
          <a:bodyPr/>
          <a:lstStyle/>
          <a:p>
            <a:fld id="{6D49FC33-1B8E-4C1B-8D07-84B8EBAC733E}" type="slidenum">
              <a:rPr lang="en-GB" smtClean="0"/>
              <a:t>19</a:t>
            </a:fld>
            <a:endParaRPr lang="en-GB"/>
          </a:p>
        </p:txBody>
      </p:sp>
      <p:pic>
        <p:nvPicPr>
          <p:cNvPr id="5" name="Imagem 4">
            <a:extLst>
              <a:ext uri="{FF2B5EF4-FFF2-40B4-BE49-F238E27FC236}">
                <a16:creationId xmlns:a16="http://schemas.microsoft.com/office/drawing/2014/main" id="{215D4191-AEF1-1EF0-2816-2B4C9CA002EE}"/>
              </a:ext>
            </a:extLst>
          </p:cNvPr>
          <p:cNvPicPr>
            <a:picLocks noChangeAspect="1"/>
          </p:cNvPicPr>
          <p:nvPr/>
        </p:nvPicPr>
        <p:blipFill>
          <a:blip r:embed="rId2"/>
          <a:stretch>
            <a:fillRect/>
          </a:stretch>
        </p:blipFill>
        <p:spPr>
          <a:xfrm>
            <a:off x="0" y="1185007"/>
            <a:ext cx="12192000" cy="4487986"/>
          </a:xfrm>
          <a:prstGeom prst="rect">
            <a:avLst/>
          </a:prstGeom>
        </p:spPr>
      </p:pic>
    </p:spTree>
    <p:extLst>
      <p:ext uri="{BB962C8B-B14F-4D97-AF65-F5344CB8AC3E}">
        <p14:creationId xmlns:p14="http://schemas.microsoft.com/office/powerpoint/2010/main" val="708484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612BC-28B2-E918-5CBE-0ECDCB6ECDCF}"/>
              </a:ext>
            </a:extLst>
          </p:cNvPr>
          <p:cNvSpPr>
            <a:spLocks noGrp="1"/>
          </p:cNvSpPr>
          <p:nvPr>
            <p:ph type="title"/>
          </p:nvPr>
        </p:nvSpPr>
        <p:spPr/>
        <p:txBody>
          <a:bodyPr/>
          <a:lstStyle/>
          <a:p>
            <a:r>
              <a:rPr lang="pt-PT" dirty="0"/>
              <a:t>Exercício  - IGV</a:t>
            </a:r>
          </a:p>
        </p:txBody>
      </p:sp>
      <p:sp>
        <p:nvSpPr>
          <p:cNvPr id="3" name="Marcador de Posição de Conteúdo 2">
            <a:extLst>
              <a:ext uri="{FF2B5EF4-FFF2-40B4-BE49-F238E27FC236}">
                <a16:creationId xmlns:a16="http://schemas.microsoft.com/office/drawing/2014/main" id="{977F20B5-1B73-04FC-EB12-75B72C17DE03}"/>
              </a:ext>
            </a:extLst>
          </p:cNvPr>
          <p:cNvSpPr>
            <a:spLocks noGrp="1"/>
          </p:cNvSpPr>
          <p:nvPr>
            <p:ph idx="1"/>
          </p:nvPr>
        </p:nvSpPr>
        <p:spPr>
          <a:xfrm>
            <a:off x="380999" y="1825625"/>
            <a:ext cx="11353800" cy="4351338"/>
          </a:xfrm>
        </p:spPr>
        <p:txBody>
          <a:bodyPr/>
          <a:lstStyle/>
          <a:p>
            <a:r>
              <a:rPr lang="pt-PT" dirty="0"/>
              <a:t>Abrir o BAM </a:t>
            </a:r>
            <a:r>
              <a:rPr lang="pt-PT" b="1" dirty="0" err="1"/>
              <a:t>selected_regs.bam</a:t>
            </a:r>
            <a:r>
              <a:rPr lang="pt-PT" b="1" dirty="0"/>
              <a:t> </a:t>
            </a:r>
            <a:r>
              <a:rPr lang="pt-PT" dirty="0"/>
              <a:t>no IGV (</a:t>
            </a:r>
            <a:r>
              <a:rPr lang="pt-PT" dirty="0" err="1">
                <a:solidFill>
                  <a:schemeClr val="accent1"/>
                </a:solidFill>
              </a:rPr>
              <a:t>curso_variantes</a:t>
            </a:r>
            <a:r>
              <a:rPr lang="pt-PT" dirty="0">
                <a:solidFill>
                  <a:schemeClr val="accent1"/>
                </a:solidFill>
              </a:rPr>
              <a:t>/</a:t>
            </a:r>
            <a:r>
              <a:rPr lang="pt-PT" dirty="0" err="1">
                <a:solidFill>
                  <a:schemeClr val="accent1"/>
                </a:solidFill>
              </a:rPr>
              <a:t>exercício_IGV</a:t>
            </a:r>
            <a:r>
              <a:rPr lang="pt-PT" dirty="0"/>
              <a:t>) e verificar:</a:t>
            </a:r>
          </a:p>
          <a:p>
            <a:pPr marL="0" indent="0">
              <a:buNone/>
            </a:pPr>
            <a:endParaRPr lang="pt-PT" dirty="0"/>
          </a:p>
          <a:p>
            <a:pPr marL="514350" indent="-514350">
              <a:buFont typeface="+mj-lt"/>
              <a:buAutoNum type="arabicPeriod"/>
            </a:pPr>
            <a:r>
              <a:rPr lang="pt-PT" dirty="0"/>
              <a:t>Existe algum SNV, em exão, válido no gene </a:t>
            </a:r>
            <a:r>
              <a:rPr lang="pt-PT" i="1" dirty="0"/>
              <a:t>TMEM201</a:t>
            </a:r>
            <a:r>
              <a:rPr lang="pt-PT" dirty="0"/>
              <a:t>? </a:t>
            </a:r>
            <a:endParaRPr lang="pt-PT" dirty="0">
              <a:solidFill>
                <a:srgbClr val="FF0000"/>
              </a:solidFill>
            </a:endParaRPr>
          </a:p>
          <a:p>
            <a:pPr marL="514350" indent="-514350">
              <a:buFont typeface="+mj-lt"/>
              <a:buAutoNum type="arabicPeriod"/>
            </a:pPr>
            <a:r>
              <a:rPr lang="pt-PT" dirty="0"/>
              <a:t>Quantos </a:t>
            </a:r>
            <a:r>
              <a:rPr lang="pt-PT" dirty="0" err="1"/>
              <a:t>SNVs</a:t>
            </a:r>
            <a:r>
              <a:rPr lang="pt-PT" dirty="0"/>
              <a:t>/</a:t>
            </a:r>
            <a:r>
              <a:rPr lang="pt-PT" dirty="0" err="1"/>
              <a:t>InDels</a:t>
            </a:r>
            <a:r>
              <a:rPr lang="pt-PT" dirty="0"/>
              <a:t> validos conseguem encontrar no gene </a:t>
            </a:r>
            <a:r>
              <a:rPr lang="pt-PT" i="1" dirty="0"/>
              <a:t>CCNT2</a:t>
            </a:r>
            <a:r>
              <a:rPr lang="pt-PT" dirty="0"/>
              <a:t>, incluindo em exões e em intrões? </a:t>
            </a:r>
          </a:p>
          <a:p>
            <a:pPr marL="514350" indent="-514350">
              <a:buFont typeface="+mj-lt"/>
              <a:buAutoNum type="arabicPeriod"/>
            </a:pPr>
            <a:r>
              <a:rPr lang="pt-PT" dirty="0"/>
              <a:t>O SNV na posição chr1:240,207,923 é valido?</a:t>
            </a:r>
            <a:endParaRPr lang="pt-PT" dirty="0">
              <a:solidFill>
                <a:srgbClr val="FF0000"/>
              </a:solidFill>
            </a:endParaRPr>
          </a:p>
        </p:txBody>
      </p:sp>
      <p:sp>
        <p:nvSpPr>
          <p:cNvPr id="4" name="Marcador de Posição do Número do Diapositivo 3">
            <a:extLst>
              <a:ext uri="{FF2B5EF4-FFF2-40B4-BE49-F238E27FC236}">
                <a16:creationId xmlns:a16="http://schemas.microsoft.com/office/drawing/2014/main" id="{209A9665-2016-C3E9-DF0B-AD17FA6D0FF1}"/>
              </a:ext>
            </a:extLst>
          </p:cNvPr>
          <p:cNvSpPr>
            <a:spLocks noGrp="1"/>
          </p:cNvSpPr>
          <p:nvPr>
            <p:ph type="sldNum" sz="quarter" idx="12"/>
          </p:nvPr>
        </p:nvSpPr>
        <p:spPr/>
        <p:txBody>
          <a:bodyPr/>
          <a:lstStyle/>
          <a:p>
            <a:fld id="{6D49FC33-1B8E-4C1B-8D07-84B8EBAC733E}" type="slidenum">
              <a:rPr lang="en-GB" smtClean="0"/>
              <a:t>20</a:t>
            </a:fld>
            <a:endParaRPr lang="en-GB"/>
          </a:p>
        </p:txBody>
      </p:sp>
    </p:spTree>
    <p:extLst>
      <p:ext uri="{BB962C8B-B14F-4D97-AF65-F5344CB8AC3E}">
        <p14:creationId xmlns:p14="http://schemas.microsoft.com/office/powerpoint/2010/main" val="2082875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612BC-28B2-E918-5CBE-0ECDCB6ECDCF}"/>
              </a:ext>
            </a:extLst>
          </p:cNvPr>
          <p:cNvSpPr>
            <a:spLocks noGrp="1"/>
          </p:cNvSpPr>
          <p:nvPr>
            <p:ph type="title"/>
          </p:nvPr>
        </p:nvSpPr>
        <p:spPr>
          <a:xfrm>
            <a:off x="595009" y="0"/>
            <a:ext cx="10515600" cy="1325563"/>
          </a:xfrm>
        </p:spPr>
        <p:txBody>
          <a:bodyPr/>
          <a:lstStyle/>
          <a:p>
            <a:r>
              <a:rPr lang="pt-PT" dirty="0" err="1"/>
              <a:t>Exercicio</a:t>
            </a:r>
            <a:r>
              <a:rPr lang="pt-PT" dirty="0"/>
              <a:t>  - IGV – Solução 1</a:t>
            </a:r>
          </a:p>
        </p:txBody>
      </p:sp>
      <p:sp>
        <p:nvSpPr>
          <p:cNvPr id="4" name="Marcador de Posição do Número do Diapositivo 3">
            <a:extLst>
              <a:ext uri="{FF2B5EF4-FFF2-40B4-BE49-F238E27FC236}">
                <a16:creationId xmlns:a16="http://schemas.microsoft.com/office/drawing/2014/main" id="{209A9665-2016-C3E9-DF0B-AD17FA6D0FF1}"/>
              </a:ext>
            </a:extLst>
          </p:cNvPr>
          <p:cNvSpPr>
            <a:spLocks noGrp="1"/>
          </p:cNvSpPr>
          <p:nvPr>
            <p:ph type="sldNum" sz="quarter" idx="12"/>
          </p:nvPr>
        </p:nvSpPr>
        <p:spPr/>
        <p:txBody>
          <a:bodyPr/>
          <a:lstStyle/>
          <a:p>
            <a:fld id="{6D49FC33-1B8E-4C1B-8D07-84B8EBAC733E}" type="slidenum">
              <a:rPr lang="en-GB" smtClean="0"/>
              <a:t>21</a:t>
            </a:fld>
            <a:endParaRPr lang="en-GB"/>
          </a:p>
        </p:txBody>
      </p:sp>
      <p:pic>
        <p:nvPicPr>
          <p:cNvPr id="8" name="Imagem 7">
            <a:extLst>
              <a:ext uri="{FF2B5EF4-FFF2-40B4-BE49-F238E27FC236}">
                <a16:creationId xmlns:a16="http://schemas.microsoft.com/office/drawing/2014/main" id="{8BB8FF2C-242D-CBDF-3FCE-D583B0AA58C3}"/>
              </a:ext>
            </a:extLst>
          </p:cNvPr>
          <p:cNvPicPr>
            <a:picLocks noChangeAspect="1"/>
          </p:cNvPicPr>
          <p:nvPr/>
        </p:nvPicPr>
        <p:blipFill>
          <a:blip r:embed="rId2"/>
          <a:stretch>
            <a:fillRect/>
          </a:stretch>
        </p:blipFill>
        <p:spPr>
          <a:xfrm>
            <a:off x="176589" y="1174377"/>
            <a:ext cx="11838822" cy="5177784"/>
          </a:xfrm>
          <a:prstGeom prst="rect">
            <a:avLst/>
          </a:prstGeom>
        </p:spPr>
      </p:pic>
      <p:pic>
        <p:nvPicPr>
          <p:cNvPr id="10" name="Imagem 9">
            <a:extLst>
              <a:ext uri="{FF2B5EF4-FFF2-40B4-BE49-F238E27FC236}">
                <a16:creationId xmlns:a16="http://schemas.microsoft.com/office/drawing/2014/main" id="{30DB18E3-BA10-19A8-64CC-A6232A03F638}"/>
              </a:ext>
            </a:extLst>
          </p:cNvPr>
          <p:cNvPicPr>
            <a:picLocks noChangeAspect="1"/>
          </p:cNvPicPr>
          <p:nvPr/>
        </p:nvPicPr>
        <p:blipFill>
          <a:blip r:embed="rId3"/>
          <a:stretch>
            <a:fillRect/>
          </a:stretch>
        </p:blipFill>
        <p:spPr>
          <a:xfrm>
            <a:off x="0" y="1210347"/>
            <a:ext cx="12192000" cy="5332249"/>
          </a:xfrm>
          <a:prstGeom prst="rect">
            <a:avLst/>
          </a:prstGeom>
        </p:spPr>
      </p:pic>
      <p:sp>
        <p:nvSpPr>
          <p:cNvPr id="11" name="CaixaDeTexto 10">
            <a:extLst>
              <a:ext uri="{FF2B5EF4-FFF2-40B4-BE49-F238E27FC236}">
                <a16:creationId xmlns:a16="http://schemas.microsoft.com/office/drawing/2014/main" id="{D98CD705-3E1B-FA78-A84E-885D37B8E10C}"/>
              </a:ext>
            </a:extLst>
          </p:cNvPr>
          <p:cNvSpPr txBox="1"/>
          <p:nvPr/>
        </p:nvSpPr>
        <p:spPr>
          <a:xfrm>
            <a:off x="6274339" y="2626468"/>
            <a:ext cx="5807413" cy="1200329"/>
          </a:xfrm>
          <a:prstGeom prst="rect">
            <a:avLst/>
          </a:prstGeom>
          <a:solidFill>
            <a:schemeClr val="bg1">
              <a:alpha val="49000"/>
            </a:schemeClr>
          </a:solidFill>
        </p:spPr>
        <p:txBody>
          <a:bodyPr wrap="square" rtlCol="0">
            <a:spAutoFit/>
          </a:bodyPr>
          <a:lstStyle/>
          <a:p>
            <a:pPr marL="285750" indent="-285750">
              <a:buFont typeface="Wingdings" panose="05000000000000000000" pitchFamily="2" charset="2"/>
              <a:buChar char="ü"/>
            </a:pPr>
            <a:r>
              <a:rPr lang="pt-PT" dirty="0"/>
              <a:t>Cobertura regular</a:t>
            </a:r>
          </a:p>
          <a:p>
            <a:pPr marL="285750" indent="-285750">
              <a:buFont typeface="Wingdings" panose="05000000000000000000" pitchFamily="2" charset="2"/>
              <a:buChar char="ü"/>
            </a:pPr>
            <a:r>
              <a:rPr lang="pt-PT" dirty="0"/>
              <a:t>Região bem mapeada</a:t>
            </a:r>
          </a:p>
          <a:p>
            <a:pPr marL="285750" indent="-285750">
              <a:buFont typeface="Wingdings" panose="05000000000000000000" pitchFamily="2" charset="2"/>
              <a:buChar char="ü"/>
            </a:pPr>
            <a:r>
              <a:rPr lang="pt-PT" dirty="0" err="1"/>
              <a:t>Reads</a:t>
            </a:r>
            <a:r>
              <a:rPr lang="pt-PT" dirty="0"/>
              <a:t> de suporte bem mapeadas e sem </a:t>
            </a:r>
            <a:r>
              <a:rPr lang="pt-PT" dirty="0" err="1"/>
              <a:t>mismatches</a:t>
            </a:r>
            <a:endParaRPr lang="pt-PT" dirty="0"/>
          </a:p>
          <a:p>
            <a:pPr marL="285750" indent="-285750">
              <a:buFont typeface="Wingdings" panose="05000000000000000000" pitchFamily="2" charset="2"/>
              <a:buChar char="ü"/>
            </a:pPr>
            <a:r>
              <a:rPr lang="pt-PT" dirty="0"/>
              <a:t>Boa cobertura da variante</a:t>
            </a:r>
          </a:p>
        </p:txBody>
      </p:sp>
      <p:sp>
        <p:nvSpPr>
          <p:cNvPr id="12" name="CaixaDeTexto 11">
            <a:extLst>
              <a:ext uri="{FF2B5EF4-FFF2-40B4-BE49-F238E27FC236}">
                <a16:creationId xmlns:a16="http://schemas.microsoft.com/office/drawing/2014/main" id="{202FDECA-A033-F29D-0C19-ECFB444B9AFA}"/>
              </a:ext>
            </a:extLst>
          </p:cNvPr>
          <p:cNvSpPr txBox="1"/>
          <p:nvPr/>
        </p:nvSpPr>
        <p:spPr>
          <a:xfrm>
            <a:off x="6569413" y="4714673"/>
            <a:ext cx="5269149" cy="461665"/>
          </a:xfrm>
          <a:prstGeom prst="rect">
            <a:avLst/>
          </a:prstGeom>
          <a:solidFill>
            <a:schemeClr val="bg1">
              <a:alpha val="80000"/>
            </a:schemeClr>
          </a:solidFill>
        </p:spPr>
        <p:txBody>
          <a:bodyPr wrap="square" rtlCol="0">
            <a:spAutoFit/>
          </a:bodyPr>
          <a:lstStyle/>
          <a:p>
            <a:r>
              <a:rPr lang="pt-PT" sz="2400" b="1" dirty="0">
                <a:solidFill>
                  <a:srgbClr val="00B050"/>
                </a:solidFill>
              </a:rPr>
              <a:t>Variante aparentemente verdadeira</a:t>
            </a:r>
          </a:p>
        </p:txBody>
      </p:sp>
      <p:sp>
        <p:nvSpPr>
          <p:cNvPr id="13" name="Seta: Para Baixo 12">
            <a:extLst>
              <a:ext uri="{FF2B5EF4-FFF2-40B4-BE49-F238E27FC236}">
                <a16:creationId xmlns:a16="http://schemas.microsoft.com/office/drawing/2014/main" id="{334B1C02-417C-6CDD-AC99-68E5496AC88E}"/>
              </a:ext>
            </a:extLst>
          </p:cNvPr>
          <p:cNvSpPr/>
          <p:nvPr/>
        </p:nvSpPr>
        <p:spPr>
          <a:xfrm>
            <a:off x="8638162" y="3891064"/>
            <a:ext cx="749029" cy="719847"/>
          </a:xfrm>
          <a:prstGeom prst="down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pt-PT"/>
          </a:p>
        </p:txBody>
      </p:sp>
      <p:sp>
        <p:nvSpPr>
          <p:cNvPr id="15" name="CaixaDeTexto 14">
            <a:extLst>
              <a:ext uri="{FF2B5EF4-FFF2-40B4-BE49-F238E27FC236}">
                <a16:creationId xmlns:a16="http://schemas.microsoft.com/office/drawing/2014/main" id="{ACE7B0A1-72FB-7D6A-D1D9-119291DB09DB}"/>
              </a:ext>
            </a:extLst>
          </p:cNvPr>
          <p:cNvSpPr txBox="1"/>
          <p:nvPr/>
        </p:nvSpPr>
        <p:spPr>
          <a:xfrm>
            <a:off x="8725710" y="452496"/>
            <a:ext cx="1855549" cy="369332"/>
          </a:xfrm>
          <a:prstGeom prst="rect">
            <a:avLst/>
          </a:prstGeom>
          <a:noFill/>
        </p:spPr>
        <p:txBody>
          <a:bodyPr wrap="square">
            <a:spAutoFit/>
          </a:bodyPr>
          <a:lstStyle/>
          <a:p>
            <a:r>
              <a:rPr lang="pt-PT" b="1" dirty="0">
                <a:solidFill>
                  <a:schemeClr val="accent1">
                    <a:lumMod val="75000"/>
                  </a:schemeClr>
                </a:solidFill>
              </a:rPr>
              <a:t>chr1:9,610,776</a:t>
            </a:r>
          </a:p>
        </p:txBody>
      </p:sp>
    </p:spTree>
    <p:extLst>
      <p:ext uri="{BB962C8B-B14F-4D97-AF65-F5344CB8AC3E}">
        <p14:creationId xmlns:p14="http://schemas.microsoft.com/office/powerpoint/2010/main" val="245536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612BC-28B2-E918-5CBE-0ECDCB6ECDCF}"/>
              </a:ext>
            </a:extLst>
          </p:cNvPr>
          <p:cNvSpPr>
            <a:spLocks noGrp="1"/>
          </p:cNvSpPr>
          <p:nvPr>
            <p:ph type="title"/>
          </p:nvPr>
        </p:nvSpPr>
        <p:spPr>
          <a:xfrm>
            <a:off x="595009" y="0"/>
            <a:ext cx="10515600" cy="1325563"/>
          </a:xfrm>
        </p:spPr>
        <p:txBody>
          <a:bodyPr/>
          <a:lstStyle/>
          <a:p>
            <a:r>
              <a:rPr lang="pt-PT" dirty="0" err="1"/>
              <a:t>Exercicio</a:t>
            </a:r>
            <a:r>
              <a:rPr lang="pt-PT" dirty="0"/>
              <a:t>  - IGV – Solução 2</a:t>
            </a:r>
          </a:p>
        </p:txBody>
      </p:sp>
      <p:pic>
        <p:nvPicPr>
          <p:cNvPr id="5" name="Imagem 4">
            <a:extLst>
              <a:ext uri="{FF2B5EF4-FFF2-40B4-BE49-F238E27FC236}">
                <a16:creationId xmlns:a16="http://schemas.microsoft.com/office/drawing/2014/main" id="{4744E602-446C-6558-0B63-7C6C1FD9BC78}"/>
              </a:ext>
            </a:extLst>
          </p:cNvPr>
          <p:cNvPicPr>
            <a:picLocks noChangeAspect="1"/>
          </p:cNvPicPr>
          <p:nvPr/>
        </p:nvPicPr>
        <p:blipFill>
          <a:blip r:embed="rId2"/>
          <a:stretch>
            <a:fillRect/>
          </a:stretch>
        </p:blipFill>
        <p:spPr>
          <a:xfrm>
            <a:off x="77822" y="1567530"/>
            <a:ext cx="12192000" cy="5290470"/>
          </a:xfrm>
          <a:prstGeom prst="rect">
            <a:avLst/>
          </a:prstGeom>
        </p:spPr>
      </p:pic>
      <p:sp>
        <p:nvSpPr>
          <p:cNvPr id="6" name="CaixaDeTexto 5">
            <a:extLst>
              <a:ext uri="{FF2B5EF4-FFF2-40B4-BE49-F238E27FC236}">
                <a16:creationId xmlns:a16="http://schemas.microsoft.com/office/drawing/2014/main" id="{C68635E3-C01D-89ED-D56B-147F4CF6F4D3}"/>
              </a:ext>
            </a:extLst>
          </p:cNvPr>
          <p:cNvSpPr txBox="1"/>
          <p:nvPr/>
        </p:nvSpPr>
        <p:spPr>
          <a:xfrm>
            <a:off x="1031131" y="1045883"/>
            <a:ext cx="2120631" cy="369332"/>
          </a:xfrm>
          <a:prstGeom prst="rect">
            <a:avLst/>
          </a:prstGeom>
          <a:noFill/>
        </p:spPr>
        <p:txBody>
          <a:bodyPr wrap="square">
            <a:spAutoFit/>
          </a:bodyPr>
          <a:lstStyle/>
          <a:p>
            <a:r>
              <a:rPr lang="pt-PT" b="1" dirty="0">
                <a:solidFill>
                  <a:schemeClr val="accent1">
                    <a:lumMod val="75000"/>
                  </a:schemeClr>
                </a:solidFill>
              </a:rPr>
              <a:t>chr2:134,953,946</a:t>
            </a:r>
          </a:p>
        </p:txBody>
      </p:sp>
      <p:sp>
        <p:nvSpPr>
          <p:cNvPr id="7" name="CaixaDeTexto 6">
            <a:extLst>
              <a:ext uri="{FF2B5EF4-FFF2-40B4-BE49-F238E27FC236}">
                <a16:creationId xmlns:a16="http://schemas.microsoft.com/office/drawing/2014/main" id="{C2B5EC27-085B-3851-DE69-4A4A83450022}"/>
              </a:ext>
            </a:extLst>
          </p:cNvPr>
          <p:cNvSpPr txBox="1"/>
          <p:nvPr/>
        </p:nvSpPr>
        <p:spPr>
          <a:xfrm>
            <a:off x="8735438" y="987518"/>
            <a:ext cx="2091447" cy="369332"/>
          </a:xfrm>
          <a:prstGeom prst="rect">
            <a:avLst/>
          </a:prstGeom>
          <a:noFill/>
        </p:spPr>
        <p:txBody>
          <a:bodyPr wrap="square">
            <a:spAutoFit/>
          </a:bodyPr>
          <a:lstStyle/>
          <a:p>
            <a:r>
              <a:rPr lang="pt-PT" b="1" dirty="0">
                <a:solidFill>
                  <a:schemeClr val="accent1">
                    <a:lumMod val="75000"/>
                  </a:schemeClr>
                </a:solidFill>
              </a:rPr>
              <a:t>chr2:134,954,087</a:t>
            </a:r>
          </a:p>
        </p:txBody>
      </p:sp>
      <p:cxnSp>
        <p:nvCxnSpPr>
          <p:cNvPr id="14" name="Conexão reta unidirecional 13">
            <a:extLst>
              <a:ext uri="{FF2B5EF4-FFF2-40B4-BE49-F238E27FC236}">
                <a16:creationId xmlns:a16="http://schemas.microsoft.com/office/drawing/2014/main" id="{FEEED1C3-8BC3-CAFC-0B83-D66EA879A3E9}"/>
              </a:ext>
            </a:extLst>
          </p:cNvPr>
          <p:cNvCxnSpPr>
            <a:stCxn id="6" idx="2"/>
          </p:cNvCxnSpPr>
          <p:nvPr/>
        </p:nvCxnSpPr>
        <p:spPr>
          <a:xfrm>
            <a:off x="2091447" y="1415215"/>
            <a:ext cx="398834" cy="12112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Conexão reta unidirecional 14">
            <a:extLst>
              <a:ext uri="{FF2B5EF4-FFF2-40B4-BE49-F238E27FC236}">
                <a16:creationId xmlns:a16="http://schemas.microsoft.com/office/drawing/2014/main" id="{D5363D1C-88A3-EC26-94C6-63F0AFDA3D4B}"/>
              </a:ext>
            </a:extLst>
          </p:cNvPr>
          <p:cNvCxnSpPr>
            <a:cxnSpLocks/>
            <a:stCxn id="7" idx="2"/>
          </p:cNvCxnSpPr>
          <p:nvPr/>
        </p:nvCxnSpPr>
        <p:spPr>
          <a:xfrm flipH="1">
            <a:off x="8566826" y="1356850"/>
            <a:ext cx="1214336" cy="11010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CaixaDeTexto 16">
            <a:extLst>
              <a:ext uri="{FF2B5EF4-FFF2-40B4-BE49-F238E27FC236}">
                <a16:creationId xmlns:a16="http://schemas.microsoft.com/office/drawing/2014/main" id="{B0BB3B36-25FC-4C8C-E1DE-B13D59BA6E94}"/>
              </a:ext>
            </a:extLst>
          </p:cNvPr>
          <p:cNvSpPr txBox="1"/>
          <p:nvPr/>
        </p:nvSpPr>
        <p:spPr>
          <a:xfrm>
            <a:off x="9773055" y="244973"/>
            <a:ext cx="2091447" cy="523220"/>
          </a:xfrm>
          <a:prstGeom prst="rect">
            <a:avLst/>
          </a:prstGeom>
          <a:noFill/>
        </p:spPr>
        <p:txBody>
          <a:bodyPr wrap="square">
            <a:spAutoFit/>
          </a:bodyPr>
          <a:lstStyle/>
          <a:p>
            <a:r>
              <a:rPr lang="pt-PT" sz="2800" b="1" dirty="0">
                <a:solidFill>
                  <a:schemeClr val="accent1">
                    <a:lumMod val="75000"/>
                  </a:schemeClr>
                </a:solidFill>
              </a:rPr>
              <a:t>Em exões</a:t>
            </a:r>
          </a:p>
        </p:txBody>
      </p:sp>
    </p:spTree>
    <p:extLst>
      <p:ext uri="{BB962C8B-B14F-4D97-AF65-F5344CB8AC3E}">
        <p14:creationId xmlns:p14="http://schemas.microsoft.com/office/powerpoint/2010/main" val="1009323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612BC-28B2-E918-5CBE-0ECDCB6ECDCF}"/>
              </a:ext>
            </a:extLst>
          </p:cNvPr>
          <p:cNvSpPr>
            <a:spLocks noGrp="1"/>
          </p:cNvSpPr>
          <p:nvPr>
            <p:ph type="title"/>
          </p:nvPr>
        </p:nvSpPr>
        <p:spPr>
          <a:xfrm>
            <a:off x="595009" y="0"/>
            <a:ext cx="10515600" cy="1325563"/>
          </a:xfrm>
        </p:spPr>
        <p:txBody>
          <a:bodyPr/>
          <a:lstStyle/>
          <a:p>
            <a:r>
              <a:rPr lang="pt-PT" dirty="0" err="1"/>
              <a:t>Exercicio</a:t>
            </a:r>
            <a:r>
              <a:rPr lang="pt-PT" dirty="0"/>
              <a:t>  - IGV – Solução 2</a:t>
            </a:r>
          </a:p>
        </p:txBody>
      </p:sp>
      <p:sp>
        <p:nvSpPr>
          <p:cNvPr id="17" name="CaixaDeTexto 16">
            <a:extLst>
              <a:ext uri="{FF2B5EF4-FFF2-40B4-BE49-F238E27FC236}">
                <a16:creationId xmlns:a16="http://schemas.microsoft.com/office/drawing/2014/main" id="{B0BB3B36-25FC-4C8C-E1DE-B13D59BA6E94}"/>
              </a:ext>
            </a:extLst>
          </p:cNvPr>
          <p:cNvSpPr txBox="1"/>
          <p:nvPr/>
        </p:nvSpPr>
        <p:spPr>
          <a:xfrm>
            <a:off x="9773055" y="244973"/>
            <a:ext cx="2091447" cy="523220"/>
          </a:xfrm>
          <a:prstGeom prst="rect">
            <a:avLst/>
          </a:prstGeom>
          <a:noFill/>
        </p:spPr>
        <p:txBody>
          <a:bodyPr wrap="square">
            <a:spAutoFit/>
          </a:bodyPr>
          <a:lstStyle/>
          <a:p>
            <a:r>
              <a:rPr lang="pt-PT" sz="2800" b="1" dirty="0">
                <a:solidFill>
                  <a:schemeClr val="accent1">
                    <a:lumMod val="75000"/>
                  </a:schemeClr>
                </a:solidFill>
              </a:rPr>
              <a:t>Em intrões</a:t>
            </a:r>
          </a:p>
        </p:txBody>
      </p:sp>
      <p:pic>
        <p:nvPicPr>
          <p:cNvPr id="4" name="Imagem 3">
            <a:extLst>
              <a:ext uri="{FF2B5EF4-FFF2-40B4-BE49-F238E27FC236}">
                <a16:creationId xmlns:a16="http://schemas.microsoft.com/office/drawing/2014/main" id="{67C2BD39-5137-A4CE-75FE-D0C6BED970ED}"/>
              </a:ext>
            </a:extLst>
          </p:cNvPr>
          <p:cNvPicPr>
            <a:picLocks noChangeAspect="1"/>
          </p:cNvPicPr>
          <p:nvPr/>
        </p:nvPicPr>
        <p:blipFill>
          <a:blip r:embed="rId2"/>
          <a:stretch>
            <a:fillRect/>
          </a:stretch>
        </p:blipFill>
        <p:spPr>
          <a:xfrm>
            <a:off x="724292" y="1719035"/>
            <a:ext cx="10890534" cy="4896985"/>
          </a:xfrm>
          <a:prstGeom prst="rect">
            <a:avLst/>
          </a:prstGeom>
        </p:spPr>
      </p:pic>
      <p:cxnSp>
        <p:nvCxnSpPr>
          <p:cNvPr id="14" name="Conexão reta unidirecional 13">
            <a:extLst>
              <a:ext uri="{FF2B5EF4-FFF2-40B4-BE49-F238E27FC236}">
                <a16:creationId xmlns:a16="http://schemas.microsoft.com/office/drawing/2014/main" id="{FEEED1C3-8BC3-CAFC-0B83-D66EA879A3E9}"/>
              </a:ext>
            </a:extLst>
          </p:cNvPr>
          <p:cNvCxnSpPr>
            <a:cxnSpLocks/>
          </p:cNvCxnSpPr>
          <p:nvPr/>
        </p:nvCxnSpPr>
        <p:spPr>
          <a:xfrm flipH="1" flipV="1">
            <a:off x="6572656" y="5000018"/>
            <a:ext cx="1598578" cy="4571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CaixaDeTexto 5">
            <a:extLst>
              <a:ext uri="{FF2B5EF4-FFF2-40B4-BE49-F238E27FC236}">
                <a16:creationId xmlns:a16="http://schemas.microsoft.com/office/drawing/2014/main" id="{C68635E3-C01D-89ED-D56B-147F4CF6F4D3}"/>
              </a:ext>
            </a:extLst>
          </p:cNvPr>
          <p:cNvSpPr txBox="1"/>
          <p:nvPr/>
        </p:nvSpPr>
        <p:spPr>
          <a:xfrm>
            <a:off x="8151779" y="5296870"/>
            <a:ext cx="2120631" cy="646331"/>
          </a:xfrm>
          <a:prstGeom prst="rect">
            <a:avLst/>
          </a:prstGeom>
          <a:noFill/>
        </p:spPr>
        <p:txBody>
          <a:bodyPr wrap="square">
            <a:spAutoFit/>
          </a:bodyPr>
          <a:lstStyle/>
          <a:p>
            <a:r>
              <a:rPr lang="pt-PT" b="1" dirty="0">
                <a:solidFill>
                  <a:schemeClr val="accent1">
                    <a:lumMod val="75000"/>
                  </a:schemeClr>
                </a:solidFill>
              </a:rPr>
              <a:t>chr2:134,919,902</a:t>
            </a:r>
          </a:p>
          <a:p>
            <a:endParaRPr lang="pt-PT" b="1" dirty="0">
              <a:solidFill>
                <a:schemeClr val="accent1">
                  <a:lumMod val="75000"/>
                </a:schemeClr>
              </a:solidFill>
            </a:endParaRPr>
          </a:p>
        </p:txBody>
      </p:sp>
      <p:pic>
        <p:nvPicPr>
          <p:cNvPr id="11" name="Imagem 10">
            <a:extLst>
              <a:ext uri="{FF2B5EF4-FFF2-40B4-BE49-F238E27FC236}">
                <a16:creationId xmlns:a16="http://schemas.microsoft.com/office/drawing/2014/main" id="{705484FC-21F8-8343-185C-2033B7FF99FE}"/>
              </a:ext>
            </a:extLst>
          </p:cNvPr>
          <p:cNvPicPr>
            <a:picLocks noChangeAspect="1"/>
          </p:cNvPicPr>
          <p:nvPr/>
        </p:nvPicPr>
        <p:blipFill>
          <a:blip r:embed="rId3"/>
          <a:stretch>
            <a:fillRect/>
          </a:stretch>
        </p:blipFill>
        <p:spPr>
          <a:xfrm>
            <a:off x="2401506" y="1195854"/>
            <a:ext cx="9091026" cy="5608644"/>
          </a:xfrm>
          <a:prstGeom prst="rect">
            <a:avLst/>
          </a:prstGeom>
        </p:spPr>
      </p:pic>
      <p:cxnSp>
        <p:nvCxnSpPr>
          <p:cNvPr id="12" name="Conexão reta unidirecional 11">
            <a:extLst>
              <a:ext uri="{FF2B5EF4-FFF2-40B4-BE49-F238E27FC236}">
                <a16:creationId xmlns:a16="http://schemas.microsoft.com/office/drawing/2014/main" id="{C320F3F9-FF6A-D875-5EE5-532A4BB1CCC9}"/>
              </a:ext>
            </a:extLst>
          </p:cNvPr>
          <p:cNvCxnSpPr>
            <a:cxnSpLocks/>
          </p:cNvCxnSpPr>
          <p:nvPr/>
        </p:nvCxnSpPr>
        <p:spPr>
          <a:xfrm flipH="1" flipV="1">
            <a:off x="3349558" y="2769142"/>
            <a:ext cx="2166025" cy="4604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CaixaDeTexto 12">
            <a:extLst>
              <a:ext uri="{FF2B5EF4-FFF2-40B4-BE49-F238E27FC236}">
                <a16:creationId xmlns:a16="http://schemas.microsoft.com/office/drawing/2014/main" id="{A20CE78A-263B-B052-FAF6-0B460F99027C}"/>
              </a:ext>
            </a:extLst>
          </p:cNvPr>
          <p:cNvSpPr txBox="1"/>
          <p:nvPr/>
        </p:nvSpPr>
        <p:spPr>
          <a:xfrm>
            <a:off x="7574604" y="4476504"/>
            <a:ext cx="2120631" cy="369332"/>
          </a:xfrm>
          <a:prstGeom prst="rect">
            <a:avLst/>
          </a:prstGeom>
          <a:noFill/>
        </p:spPr>
        <p:txBody>
          <a:bodyPr wrap="square">
            <a:spAutoFit/>
          </a:bodyPr>
          <a:lstStyle/>
          <a:p>
            <a:r>
              <a:rPr lang="pt-PT" b="1" dirty="0">
                <a:solidFill>
                  <a:schemeClr val="accent1">
                    <a:lumMod val="75000"/>
                  </a:schemeClr>
                </a:solidFill>
              </a:rPr>
              <a:t>chr2:134,936,809</a:t>
            </a:r>
          </a:p>
        </p:txBody>
      </p:sp>
      <p:sp>
        <p:nvSpPr>
          <p:cNvPr id="18" name="CaixaDeTexto 17">
            <a:extLst>
              <a:ext uri="{FF2B5EF4-FFF2-40B4-BE49-F238E27FC236}">
                <a16:creationId xmlns:a16="http://schemas.microsoft.com/office/drawing/2014/main" id="{328720BB-9F45-E0B3-E645-9E6E5BE1D177}"/>
              </a:ext>
            </a:extLst>
          </p:cNvPr>
          <p:cNvSpPr txBox="1"/>
          <p:nvPr/>
        </p:nvSpPr>
        <p:spPr>
          <a:xfrm>
            <a:off x="5538281" y="3035349"/>
            <a:ext cx="2120631" cy="369332"/>
          </a:xfrm>
          <a:prstGeom prst="rect">
            <a:avLst/>
          </a:prstGeom>
          <a:noFill/>
        </p:spPr>
        <p:txBody>
          <a:bodyPr wrap="square">
            <a:spAutoFit/>
          </a:bodyPr>
          <a:lstStyle/>
          <a:p>
            <a:r>
              <a:rPr lang="pt-PT" b="1" dirty="0">
                <a:solidFill>
                  <a:schemeClr val="accent1">
                    <a:lumMod val="75000"/>
                  </a:schemeClr>
                </a:solidFill>
              </a:rPr>
              <a:t>chr2:134,936,784</a:t>
            </a:r>
          </a:p>
        </p:txBody>
      </p:sp>
      <p:cxnSp>
        <p:nvCxnSpPr>
          <p:cNvPr id="19" name="Conexão reta unidirecional 18">
            <a:extLst>
              <a:ext uri="{FF2B5EF4-FFF2-40B4-BE49-F238E27FC236}">
                <a16:creationId xmlns:a16="http://schemas.microsoft.com/office/drawing/2014/main" id="{F6D16010-BE7D-A96B-F9F2-753E09BCDF71}"/>
              </a:ext>
            </a:extLst>
          </p:cNvPr>
          <p:cNvCxnSpPr>
            <a:cxnSpLocks/>
          </p:cNvCxnSpPr>
          <p:nvPr/>
        </p:nvCxnSpPr>
        <p:spPr>
          <a:xfrm flipH="1" flipV="1">
            <a:off x="4669277" y="4108316"/>
            <a:ext cx="2937753" cy="4831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2" name="Imagem 21">
            <a:extLst>
              <a:ext uri="{FF2B5EF4-FFF2-40B4-BE49-F238E27FC236}">
                <a16:creationId xmlns:a16="http://schemas.microsoft.com/office/drawing/2014/main" id="{9118DBC6-D9F8-567F-90CB-BB1E513D22A6}"/>
              </a:ext>
            </a:extLst>
          </p:cNvPr>
          <p:cNvPicPr>
            <a:picLocks noChangeAspect="1"/>
          </p:cNvPicPr>
          <p:nvPr/>
        </p:nvPicPr>
        <p:blipFill>
          <a:blip r:embed="rId4"/>
          <a:stretch>
            <a:fillRect/>
          </a:stretch>
        </p:blipFill>
        <p:spPr>
          <a:xfrm>
            <a:off x="1760706" y="1040476"/>
            <a:ext cx="7768523" cy="5817524"/>
          </a:xfrm>
          <a:prstGeom prst="rect">
            <a:avLst/>
          </a:prstGeom>
        </p:spPr>
      </p:pic>
      <p:sp>
        <p:nvSpPr>
          <p:cNvPr id="23" name="CaixaDeTexto 22">
            <a:extLst>
              <a:ext uri="{FF2B5EF4-FFF2-40B4-BE49-F238E27FC236}">
                <a16:creationId xmlns:a16="http://schemas.microsoft.com/office/drawing/2014/main" id="{1EC128C5-BA1A-E897-C51D-FA1E7F7B0F75}"/>
              </a:ext>
            </a:extLst>
          </p:cNvPr>
          <p:cNvSpPr txBox="1"/>
          <p:nvPr/>
        </p:nvSpPr>
        <p:spPr>
          <a:xfrm>
            <a:off x="8116110" y="3244334"/>
            <a:ext cx="2120631" cy="369332"/>
          </a:xfrm>
          <a:prstGeom prst="rect">
            <a:avLst/>
          </a:prstGeom>
          <a:noFill/>
        </p:spPr>
        <p:txBody>
          <a:bodyPr wrap="square">
            <a:spAutoFit/>
          </a:bodyPr>
          <a:lstStyle/>
          <a:p>
            <a:r>
              <a:rPr lang="pt-PT" b="1" dirty="0">
                <a:solidFill>
                  <a:schemeClr val="accent1">
                    <a:lumMod val="75000"/>
                  </a:schemeClr>
                </a:solidFill>
              </a:rPr>
              <a:t>chr2:134,952,752</a:t>
            </a:r>
          </a:p>
        </p:txBody>
      </p:sp>
      <p:cxnSp>
        <p:nvCxnSpPr>
          <p:cNvPr id="24" name="Conexão reta unidirecional 23">
            <a:extLst>
              <a:ext uri="{FF2B5EF4-FFF2-40B4-BE49-F238E27FC236}">
                <a16:creationId xmlns:a16="http://schemas.microsoft.com/office/drawing/2014/main" id="{918C40C0-8123-7C43-9980-28BFE8E3E8FB}"/>
              </a:ext>
            </a:extLst>
          </p:cNvPr>
          <p:cNvCxnSpPr>
            <a:cxnSpLocks/>
          </p:cNvCxnSpPr>
          <p:nvPr/>
        </p:nvCxnSpPr>
        <p:spPr>
          <a:xfrm flipH="1" flipV="1">
            <a:off x="5132962" y="2945861"/>
            <a:ext cx="2937753" cy="4831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9197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612BC-28B2-E918-5CBE-0ECDCB6ECDCF}"/>
              </a:ext>
            </a:extLst>
          </p:cNvPr>
          <p:cNvSpPr>
            <a:spLocks noGrp="1"/>
          </p:cNvSpPr>
          <p:nvPr>
            <p:ph type="title"/>
          </p:nvPr>
        </p:nvSpPr>
        <p:spPr>
          <a:xfrm>
            <a:off x="595009" y="0"/>
            <a:ext cx="10515600" cy="1325563"/>
          </a:xfrm>
        </p:spPr>
        <p:txBody>
          <a:bodyPr/>
          <a:lstStyle/>
          <a:p>
            <a:r>
              <a:rPr lang="pt-PT" dirty="0" err="1"/>
              <a:t>Exercicio</a:t>
            </a:r>
            <a:r>
              <a:rPr lang="pt-PT" dirty="0"/>
              <a:t>  - IGV – Solução 3</a:t>
            </a:r>
          </a:p>
        </p:txBody>
      </p:sp>
      <p:pic>
        <p:nvPicPr>
          <p:cNvPr id="3" name="Gravação de Ecrã 2026-07-10 110150">
            <a:hlinkClick r:id="" action="ppaction://media"/>
            <a:extLst>
              <a:ext uri="{FF2B5EF4-FFF2-40B4-BE49-F238E27FC236}">
                <a16:creationId xmlns:a16="http://schemas.microsoft.com/office/drawing/2014/main" id="{BBE7F560-2451-5F88-62D9-A461EDBA116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30135" y="1138070"/>
            <a:ext cx="11331730" cy="5233548"/>
          </a:xfrm>
          <a:prstGeom prst="rect">
            <a:avLst/>
          </a:prstGeom>
        </p:spPr>
      </p:pic>
      <p:sp>
        <p:nvSpPr>
          <p:cNvPr id="4" name="CaixaDeTexto 3">
            <a:extLst>
              <a:ext uri="{FF2B5EF4-FFF2-40B4-BE49-F238E27FC236}">
                <a16:creationId xmlns:a16="http://schemas.microsoft.com/office/drawing/2014/main" id="{8502AC5E-A01F-56D2-D348-A97E20D40EA7}"/>
              </a:ext>
            </a:extLst>
          </p:cNvPr>
          <p:cNvSpPr txBox="1"/>
          <p:nvPr/>
        </p:nvSpPr>
        <p:spPr>
          <a:xfrm>
            <a:off x="6974732" y="1780162"/>
            <a:ext cx="4922196" cy="923330"/>
          </a:xfrm>
          <a:prstGeom prst="rect">
            <a:avLst/>
          </a:prstGeom>
          <a:solidFill>
            <a:schemeClr val="bg1">
              <a:alpha val="64000"/>
            </a:schemeClr>
          </a:solidFill>
        </p:spPr>
        <p:txBody>
          <a:bodyPr wrap="square" rtlCol="0">
            <a:spAutoFit/>
          </a:bodyPr>
          <a:lstStyle/>
          <a:p>
            <a:r>
              <a:rPr lang="pt-PT" b="1" dirty="0">
                <a:solidFill>
                  <a:srgbClr val="FF0000"/>
                </a:solidFill>
              </a:rPr>
              <a:t>X</a:t>
            </a:r>
            <a:r>
              <a:rPr lang="pt-PT" dirty="0"/>
              <a:t> Desequilíbrio de alelos</a:t>
            </a:r>
          </a:p>
          <a:p>
            <a:r>
              <a:rPr lang="pt-PT" b="1" dirty="0">
                <a:solidFill>
                  <a:srgbClr val="FF0000"/>
                </a:solidFill>
              </a:rPr>
              <a:t>X</a:t>
            </a:r>
            <a:r>
              <a:rPr lang="pt-PT" dirty="0"/>
              <a:t> Muitas </a:t>
            </a:r>
            <a:r>
              <a:rPr lang="pt-PT" dirty="0" err="1"/>
              <a:t>reads</a:t>
            </a:r>
            <a:r>
              <a:rPr lang="pt-PT" dirty="0"/>
              <a:t> sem qualidade de mapeamento</a:t>
            </a:r>
          </a:p>
          <a:p>
            <a:r>
              <a:rPr lang="pt-PT" b="1" dirty="0">
                <a:solidFill>
                  <a:srgbClr val="FF0000"/>
                </a:solidFill>
              </a:rPr>
              <a:t>X</a:t>
            </a:r>
            <a:r>
              <a:rPr lang="pt-PT" dirty="0"/>
              <a:t> Muitas </a:t>
            </a:r>
            <a:r>
              <a:rPr lang="pt-PT" dirty="0" err="1"/>
              <a:t>reads</a:t>
            </a:r>
            <a:r>
              <a:rPr lang="pt-PT" dirty="0"/>
              <a:t> com </a:t>
            </a:r>
            <a:r>
              <a:rPr lang="pt-PT" dirty="0" err="1"/>
              <a:t>mismatches</a:t>
            </a:r>
            <a:endParaRPr lang="pt-PT" dirty="0"/>
          </a:p>
        </p:txBody>
      </p:sp>
      <p:sp>
        <p:nvSpPr>
          <p:cNvPr id="8" name="CaixaDeTexto 7">
            <a:extLst>
              <a:ext uri="{FF2B5EF4-FFF2-40B4-BE49-F238E27FC236}">
                <a16:creationId xmlns:a16="http://schemas.microsoft.com/office/drawing/2014/main" id="{DD6EACB6-5270-53CE-8D41-FA564804FA6B}"/>
              </a:ext>
            </a:extLst>
          </p:cNvPr>
          <p:cNvSpPr txBox="1"/>
          <p:nvPr/>
        </p:nvSpPr>
        <p:spPr>
          <a:xfrm>
            <a:off x="6948793" y="3693269"/>
            <a:ext cx="4422842" cy="461665"/>
          </a:xfrm>
          <a:prstGeom prst="rect">
            <a:avLst/>
          </a:prstGeom>
          <a:solidFill>
            <a:schemeClr val="bg1">
              <a:alpha val="80000"/>
            </a:schemeClr>
          </a:solidFill>
        </p:spPr>
        <p:txBody>
          <a:bodyPr wrap="square" rtlCol="0">
            <a:spAutoFit/>
          </a:bodyPr>
          <a:lstStyle/>
          <a:p>
            <a:r>
              <a:rPr lang="pt-PT" sz="2400" b="1" dirty="0">
                <a:solidFill>
                  <a:srgbClr val="FF0000"/>
                </a:solidFill>
              </a:rPr>
              <a:t>Variante aparentemente falsa</a:t>
            </a:r>
          </a:p>
        </p:txBody>
      </p:sp>
      <p:sp>
        <p:nvSpPr>
          <p:cNvPr id="9" name="Seta: Para Baixo 8">
            <a:extLst>
              <a:ext uri="{FF2B5EF4-FFF2-40B4-BE49-F238E27FC236}">
                <a16:creationId xmlns:a16="http://schemas.microsoft.com/office/drawing/2014/main" id="{8D1AFE87-267E-B129-2F8D-F0F4A883676E}"/>
              </a:ext>
            </a:extLst>
          </p:cNvPr>
          <p:cNvSpPr/>
          <p:nvPr/>
        </p:nvSpPr>
        <p:spPr>
          <a:xfrm>
            <a:off x="8764622" y="2869660"/>
            <a:ext cx="749029" cy="719847"/>
          </a:xfrm>
          <a:prstGeom prst="downArrow">
            <a:avLst/>
          </a:prstGeom>
          <a:solidFill>
            <a:srgbClr val="FF0000"/>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pt-PT"/>
          </a:p>
        </p:txBody>
      </p:sp>
    </p:spTree>
    <p:extLst>
      <p:ext uri="{BB962C8B-B14F-4D97-AF65-F5344CB8AC3E}">
        <p14:creationId xmlns:p14="http://schemas.microsoft.com/office/powerpoint/2010/main" val="1283416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735"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3" fill="hold" display="0">
                  <p:stCondLst>
                    <p:cond delay="indefinite"/>
                  </p:stCondLst>
                </p:cTn>
                <p:tgtEl>
                  <p:spTgt spid="3"/>
                </p:tgtEl>
              </p:cMediaNode>
            </p:video>
            <p:seq concurrent="1" nextAc="seek">
              <p:cTn id="14" restart="whenNotActive" fill="hold" evtFilter="cancelBubble" nodeType="interactiveSeq">
                <p:stCondLst>
                  <p:cond evt="onClick" delay="0">
                    <p:tgtEl>
                      <p:spTgt spid="3"/>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3"/>
                                        </p:tgtEl>
                                      </p:cBhvr>
                                    </p:cmd>
                                  </p:childTnLst>
                                </p:cTn>
                              </p:par>
                            </p:childTnLst>
                          </p:cTn>
                        </p:par>
                      </p:childTnLst>
                    </p:cTn>
                  </p:par>
                </p:childTnLst>
              </p:cTn>
              <p:nextCondLst>
                <p:cond evt="onClick" delay="0">
                  <p:tgtEl>
                    <p:spTgt spid="3"/>
                  </p:tgtEl>
                </p:cond>
              </p:nextCondLst>
            </p:seq>
          </p:childTnLst>
        </p:cTn>
      </p:par>
    </p:tnLst>
    <p:bldLst>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6924A-E618-AA2A-3CB8-E9966663D36E}"/>
              </a:ext>
            </a:extLst>
          </p:cNvPr>
          <p:cNvSpPr>
            <a:spLocks noGrp="1"/>
          </p:cNvSpPr>
          <p:nvPr>
            <p:ph type="title"/>
          </p:nvPr>
        </p:nvSpPr>
        <p:spPr/>
        <p:txBody>
          <a:bodyPr/>
          <a:lstStyle/>
          <a:p>
            <a:r>
              <a:rPr lang="en-GB" dirty="0" err="1"/>
              <a:t>Nomenclatura</a:t>
            </a:r>
            <a:r>
              <a:rPr lang="en-GB" dirty="0"/>
              <a:t> da </a:t>
            </a:r>
            <a:r>
              <a:rPr lang="en-GB" dirty="0" err="1"/>
              <a:t>variante</a:t>
            </a:r>
            <a:endParaRPr lang="en-GB" dirty="0"/>
          </a:p>
        </p:txBody>
      </p:sp>
      <p:sp>
        <p:nvSpPr>
          <p:cNvPr id="4" name="Marcador de Posição do Número do Diapositivo 3">
            <a:extLst>
              <a:ext uri="{FF2B5EF4-FFF2-40B4-BE49-F238E27FC236}">
                <a16:creationId xmlns:a16="http://schemas.microsoft.com/office/drawing/2014/main" id="{5431FD46-2F1A-0DE8-F7B5-AD84D7371F7E}"/>
              </a:ext>
            </a:extLst>
          </p:cNvPr>
          <p:cNvSpPr>
            <a:spLocks noGrp="1"/>
          </p:cNvSpPr>
          <p:nvPr>
            <p:ph type="sldNum" sz="quarter" idx="12"/>
          </p:nvPr>
        </p:nvSpPr>
        <p:spPr/>
        <p:txBody>
          <a:bodyPr/>
          <a:lstStyle/>
          <a:p>
            <a:fld id="{6D49FC33-1B8E-4C1B-8D07-84B8EBAC733E}" type="slidenum">
              <a:rPr lang="en-GB" smtClean="0"/>
              <a:t>25</a:t>
            </a:fld>
            <a:endParaRPr lang="en-GB"/>
          </a:p>
        </p:txBody>
      </p:sp>
      <p:sp>
        <p:nvSpPr>
          <p:cNvPr id="3" name="CaixaDeTexto 2">
            <a:extLst>
              <a:ext uri="{FF2B5EF4-FFF2-40B4-BE49-F238E27FC236}">
                <a16:creationId xmlns:a16="http://schemas.microsoft.com/office/drawing/2014/main" id="{3D4BFF98-D58B-C23F-F3E3-EBD3DA0D395A}"/>
              </a:ext>
            </a:extLst>
          </p:cNvPr>
          <p:cNvSpPr txBox="1"/>
          <p:nvPr/>
        </p:nvSpPr>
        <p:spPr>
          <a:xfrm>
            <a:off x="534364" y="1574157"/>
            <a:ext cx="10912998" cy="3416320"/>
          </a:xfrm>
          <a:prstGeom prst="rect">
            <a:avLst/>
          </a:prstGeom>
          <a:noFill/>
        </p:spPr>
        <p:txBody>
          <a:bodyPr wrap="square" rtlCol="0">
            <a:spAutoFit/>
          </a:bodyPr>
          <a:lstStyle/>
          <a:p>
            <a:pPr marL="285750" indent="-285750" algn="just">
              <a:buFont typeface="Arial" panose="020B0604020202020204" pitchFamily="34" charset="0"/>
              <a:buChar char="•"/>
            </a:pPr>
            <a:r>
              <a:rPr lang="pt-PT" sz="2400" dirty="0"/>
              <a:t>É fundamental utilizar uma nomenclatura padronizada para descrever variantes genéticas.</a:t>
            </a:r>
          </a:p>
          <a:p>
            <a:pPr marL="342900" indent="-342900" algn="just">
              <a:buFont typeface="Arial" panose="020B0604020202020204" pitchFamily="34" charset="0"/>
              <a:buChar char="•"/>
            </a:pPr>
            <a:r>
              <a:rPr lang="pt-PT" sz="2400" dirty="0"/>
              <a:t>Existem diferentes formas de representar uma variante, podendo variar entre bases de dados e ferramentas bioinformáticas.</a:t>
            </a:r>
          </a:p>
          <a:p>
            <a:pPr marL="342900" indent="-342900" algn="just">
              <a:buFont typeface="Arial" panose="020B0604020202020204" pitchFamily="34" charset="0"/>
              <a:buChar char="•"/>
            </a:pPr>
            <a:r>
              <a:rPr lang="pt-PT" sz="2400" dirty="0"/>
              <a:t>Atualmente, a nomenclatura da HGVS (</a:t>
            </a:r>
            <a:r>
              <a:rPr lang="pt-PT" sz="2400" i="1" dirty="0" err="1"/>
              <a:t>Human</a:t>
            </a:r>
            <a:r>
              <a:rPr lang="pt-PT" sz="2400" i="1" dirty="0"/>
              <a:t> </a:t>
            </a:r>
            <a:r>
              <a:rPr lang="pt-PT" sz="2400" i="1" dirty="0" err="1"/>
              <a:t>Genome</a:t>
            </a:r>
            <a:r>
              <a:rPr lang="pt-PT" sz="2400" i="1" dirty="0"/>
              <a:t> </a:t>
            </a:r>
            <a:r>
              <a:rPr lang="pt-PT" sz="2400" i="1" dirty="0" err="1"/>
              <a:t>Variation</a:t>
            </a:r>
            <a:r>
              <a:rPr lang="pt-PT" sz="2400" i="1" dirty="0"/>
              <a:t> </a:t>
            </a:r>
            <a:r>
              <a:rPr lang="pt-PT" sz="2400" i="1" dirty="0" err="1"/>
              <a:t>Society</a:t>
            </a:r>
            <a:r>
              <a:rPr lang="pt-PT" sz="2400" dirty="0"/>
              <a:t>) é a mais amplamente aceite para a descrição de variantes.</a:t>
            </a:r>
          </a:p>
          <a:p>
            <a:pPr marL="342900" indent="-342900" algn="just">
              <a:buFont typeface="Arial" panose="020B0604020202020204" pitchFamily="34" charset="0"/>
              <a:buChar char="•"/>
            </a:pPr>
            <a:r>
              <a:rPr lang="pt-PT" sz="2400" dirty="0"/>
              <a:t>Sempre que possível, recomenda-se a utilização de transcritos MANE (</a:t>
            </a:r>
            <a:r>
              <a:rPr lang="pt-PT" sz="2400" i="1" dirty="0" err="1"/>
              <a:t>Matched</a:t>
            </a:r>
            <a:r>
              <a:rPr lang="pt-PT" sz="2400" i="1" dirty="0"/>
              <a:t> </a:t>
            </a:r>
            <a:r>
              <a:rPr lang="pt-PT" sz="2400" i="1" dirty="0" err="1"/>
              <a:t>Annotation</a:t>
            </a:r>
            <a:r>
              <a:rPr lang="pt-PT" sz="2400" i="1" dirty="0"/>
              <a:t> </a:t>
            </a:r>
            <a:r>
              <a:rPr lang="pt-PT" sz="2400" i="1" dirty="0" err="1"/>
              <a:t>from</a:t>
            </a:r>
            <a:r>
              <a:rPr lang="pt-PT" sz="2400" i="1" dirty="0"/>
              <a:t> NCBI </a:t>
            </a:r>
            <a:r>
              <a:rPr lang="pt-PT" sz="2400" i="1" dirty="0" err="1"/>
              <a:t>and</a:t>
            </a:r>
            <a:r>
              <a:rPr lang="pt-PT" sz="2400" i="1" dirty="0"/>
              <a:t> EMBL-EBI</a:t>
            </a:r>
            <a:r>
              <a:rPr lang="pt-PT" sz="2400" dirty="0"/>
              <a:t>), que harmonizam as anotações </a:t>
            </a:r>
            <a:r>
              <a:rPr lang="pt-PT" sz="2400" dirty="0" err="1"/>
              <a:t>RefSeq</a:t>
            </a:r>
            <a:r>
              <a:rPr lang="pt-PT" sz="2400" dirty="0"/>
              <a:t> e </a:t>
            </a:r>
            <a:r>
              <a:rPr lang="pt-PT" sz="2400" dirty="0" err="1"/>
              <a:t>Ensembl</a:t>
            </a:r>
            <a:r>
              <a:rPr lang="pt-PT" sz="2400" dirty="0"/>
              <a:t>.</a:t>
            </a:r>
          </a:p>
        </p:txBody>
      </p:sp>
      <p:sp>
        <p:nvSpPr>
          <p:cNvPr id="6" name="CaixaDeTexto 5">
            <a:extLst>
              <a:ext uri="{FF2B5EF4-FFF2-40B4-BE49-F238E27FC236}">
                <a16:creationId xmlns:a16="http://schemas.microsoft.com/office/drawing/2014/main" id="{27BA0CBC-1FF8-B92F-A72E-DE6076CA3E9D}"/>
              </a:ext>
            </a:extLst>
          </p:cNvPr>
          <p:cNvSpPr txBox="1"/>
          <p:nvPr/>
        </p:nvSpPr>
        <p:spPr>
          <a:xfrm>
            <a:off x="1160362" y="5744280"/>
            <a:ext cx="4210290" cy="523220"/>
          </a:xfrm>
          <a:prstGeom prst="rect">
            <a:avLst/>
          </a:prstGeom>
          <a:noFill/>
        </p:spPr>
        <p:txBody>
          <a:bodyPr wrap="square">
            <a:spAutoFit/>
          </a:bodyPr>
          <a:lstStyle/>
          <a:p>
            <a:r>
              <a:rPr lang="de-DE" sz="2800" b="0" i="0" u="none" strike="noStrike" dirty="0">
                <a:solidFill>
                  <a:srgbClr val="0070C0"/>
                </a:solidFill>
                <a:effectLst/>
                <a:latin typeface="-apple-system"/>
              </a:rPr>
              <a:t>NM_000088.3:c.589G&gt;T</a:t>
            </a:r>
            <a:endParaRPr lang="en-GB" sz="2800" dirty="0">
              <a:solidFill>
                <a:srgbClr val="0070C0"/>
              </a:solidFill>
            </a:endParaRPr>
          </a:p>
        </p:txBody>
      </p:sp>
      <p:sp>
        <p:nvSpPr>
          <p:cNvPr id="7" name="CaixaDeTexto 6">
            <a:extLst>
              <a:ext uri="{FF2B5EF4-FFF2-40B4-BE49-F238E27FC236}">
                <a16:creationId xmlns:a16="http://schemas.microsoft.com/office/drawing/2014/main" id="{6302C6A0-B8EE-10AD-8185-D7C787819D97}"/>
              </a:ext>
            </a:extLst>
          </p:cNvPr>
          <p:cNvSpPr txBox="1"/>
          <p:nvPr/>
        </p:nvSpPr>
        <p:spPr>
          <a:xfrm>
            <a:off x="1138178" y="5221005"/>
            <a:ext cx="2311078" cy="400110"/>
          </a:xfrm>
          <a:prstGeom prst="rect">
            <a:avLst/>
          </a:prstGeom>
          <a:noFill/>
        </p:spPr>
        <p:txBody>
          <a:bodyPr wrap="square" rtlCol="0">
            <a:spAutoFit/>
          </a:bodyPr>
          <a:lstStyle/>
          <a:p>
            <a:r>
              <a:rPr lang="en-GB" sz="2000" b="1" dirty="0"/>
              <a:t>Para </a:t>
            </a:r>
            <a:r>
              <a:rPr lang="en-GB" sz="2000" b="1" dirty="0" err="1"/>
              <a:t>transcrito</a:t>
            </a:r>
            <a:endParaRPr lang="en-GB" sz="2000" b="1" dirty="0"/>
          </a:p>
        </p:txBody>
      </p:sp>
      <p:sp>
        <p:nvSpPr>
          <p:cNvPr id="8" name="CaixaDeTexto 7">
            <a:extLst>
              <a:ext uri="{FF2B5EF4-FFF2-40B4-BE49-F238E27FC236}">
                <a16:creationId xmlns:a16="http://schemas.microsoft.com/office/drawing/2014/main" id="{4E3D6B14-CE26-0C59-6D72-63EFB5E33072}"/>
              </a:ext>
            </a:extLst>
          </p:cNvPr>
          <p:cNvSpPr txBox="1"/>
          <p:nvPr/>
        </p:nvSpPr>
        <p:spPr>
          <a:xfrm>
            <a:off x="6845461" y="5688336"/>
            <a:ext cx="4590326" cy="523220"/>
          </a:xfrm>
          <a:prstGeom prst="rect">
            <a:avLst/>
          </a:prstGeom>
          <a:noFill/>
        </p:spPr>
        <p:txBody>
          <a:bodyPr wrap="square">
            <a:spAutoFit/>
          </a:bodyPr>
          <a:lstStyle/>
          <a:p>
            <a:r>
              <a:rPr lang="pt-PT" sz="2800" b="0" i="0" dirty="0">
                <a:solidFill>
                  <a:schemeClr val="accent2"/>
                </a:solidFill>
                <a:effectLst/>
                <a:latin typeface="-apple-system"/>
              </a:rPr>
              <a:t>NP_000079.2:p.(Gly197Cys)</a:t>
            </a:r>
            <a:endParaRPr lang="en-GB" sz="2800" dirty="0">
              <a:solidFill>
                <a:schemeClr val="accent2"/>
              </a:solidFill>
            </a:endParaRPr>
          </a:p>
        </p:txBody>
      </p:sp>
      <p:sp>
        <p:nvSpPr>
          <p:cNvPr id="9" name="CaixaDeTexto 8">
            <a:extLst>
              <a:ext uri="{FF2B5EF4-FFF2-40B4-BE49-F238E27FC236}">
                <a16:creationId xmlns:a16="http://schemas.microsoft.com/office/drawing/2014/main" id="{35B99ADE-29DE-910F-C434-14B86B306B6C}"/>
              </a:ext>
            </a:extLst>
          </p:cNvPr>
          <p:cNvSpPr txBox="1"/>
          <p:nvPr/>
        </p:nvSpPr>
        <p:spPr>
          <a:xfrm>
            <a:off x="6823277" y="5165061"/>
            <a:ext cx="2311078" cy="400110"/>
          </a:xfrm>
          <a:prstGeom prst="rect">
            <a:avLst/>
          </a:prstGeom>
          <a:noFill/>
        </p:spPr>
        <p:txBody>
          <a:bodyPr wrap="square" rtlCol="0">
            <a:spAutoFit/>
          </a:bodyPr>
          <a:lstStyle/>
          <a:p>
            <a:r>
              <a:rPr lang="en-GB" sz="2000" b="1" dirty="0"/>
              <a:t>Para </a:t>
            </a:r>
            <a:r>
              <a:rPr lang="en-GB" sz="2000" b="1" dirty="0" err="1"/>
              <a:t>proteína</a:t>
            </a:r>
            <a:endParaRPr lang="en-GB" sz="2000" b="1" dirty="0"/>
          </a:p>
        </p:txBody>
      </p:sp>
    </p:spTree>
    <p:extLst>
      <p:ext uri="{BB962C8B-B14F-4D97-AF65-F5344CB8AC3E}">
        <p14:creationId xmlns:p14="http://schemas.microsoft.com/office/powerpoint/2010/main" val="10218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p:txBody>
          <a:bodyPr/>
          <a:lstStyle/>
          <a:p>
            <a:r>
              <a:rPr lang="en-GB" dirty="0"/>
              <a:t>Variant Validator</a:t>
            </a:r>
          </a:p>
        </p:txBody>
      </p:sp>
      <p:sp>
        <p:nvSpPr>
          <p:cNvPr id="4" name="Marcador de Posição do Número do Diapositivo 3">
            <a:extLst>
              <a:ext uri="{FF2B5EF4-FFF2-40B4-BE49-F238E27FC236}">
                <a16:creationId xmlns:a16="http://schemas.microsoft.com/office/drawing/2014/main" id="{6CAEA832-B673-89C4-CDA8-5630B8ACAB0F}"/>
              </a:ext>
            </a:extLst>
          </p:cNvPr>
          <p:cNvSpPr>
            <a:spLocks noGrp="1"/>
          </p:cNvSpPr>
          <p:nvPr>
            <p:ph type="sldNum" sz="quarter" idx="12"/>
          </p:nvPr>
        </p:nvSpPr>
        <p:spPr/>
        <p:txBody>
          <a:bodyPr/>
          <a:lstStyle/>
          <a:p>
            <a:fld id="{6D49FC33-1B8E-4C1B-8D07-84B8EBAC733E}" type="slidenum">
              <a:rPr lang="en-GB" smtClean="0"/>
              <a:t>26</a:t>
            </a:fld>
            <a:endParaRPr lang="en-GB"/>
          </a:p>
        </p:txBody>
      </p:sp>
      <p:sp>
        <p:nvSpPr>
          <p:cNvPr id="6" name="CaixaDeTexto 5">
            <a:extLst>
              <a:ext uri="{FF2B5EF4-FFF2-40B4-BE49-F238E27FC236}">
                <a16:creationId xmlns:a16="http://schemas.microsoft.com/office/drawing/2014/main" id="{8D302D9C-6726-2AD8-9231-B59AB51DE03D}"/>
              </a:ext>
            </a:extLst>
          </p:cNvPr>
          <p:cNvSpPr txBox="1"/>
          <p:nvPr/>
        </p:nvSpPr>
        <p:spPr>
          <a:xfrm>
            <a:off x="7718783" y="498466"/>
            <a:ext cx="4302888" cy="461665"/>
          </a:xfrm>
          <a:prstGeom prst="rect">
            <a:avLst/>
          </a:prstGeom>
          <a:noFill/>
        </p:spPr>
        <p:txBody>
          <a:bodyPr wrap="square">
            <a:spAutoFit/>
          </a:bodyPr>
          <a:lstStyle/>
          <a:p>
            <a:r>
              <a:rPr lang="pt-PT" sz="2400" b="1" dirty="0">
                <a:hlinkClick r:id="rId2"/>
              </a:rPr>
              <a:t>https://variantvalidator.org/</a:t>
            </a:r>
            <a:endParaRPr lang="en-GB" sz="2400" b="1" dirty="0"/>
          </a:p>
        </p:txBody>
      </p:sp>
      <p:pic>
        <p:nvPicPr>
          <p:cNvPr id="8" name="Imagem 7">
            <a:extLst>
              <a:ext uri="{FF2B5EF4-FFF2-40B4-BE49-F238E27FC236}">
                <a16:creationId xmlns:a16="http://schemas.microsoft.com/office/drawing/2014/main" id="{3DDABCF4-6D20-CAE1-E869-5B0DDB650111}"/>
              </a:ext>
            </a:extLst>
          </p:cNvPr>
          <p:cNvPicPr>
            <a:picLocks noChangeAspect="1"/>
          </p:cNvPicPr>
          <p:nvPr/>
        </p:nvPicPr>
        <p:blipFill>
          <a:blip r:embed="rId3"/>
          <a:stretch>
            <a:fillRect/>
          </a:stretch>
        </p:blipFill>
        <p:spPr>
          <a:xfrm>
            <a:off x="1990845" y="1365812"/>
            <a:ext cx="7778669" cy="5185779"/>
          </a:xfrm>
          <a:prstGeom prst="rect">
            <a:avLst/>
          </a:prstGeom>
        </p:spPr>
      </p:pic>
    </p:spTree>
    <p:extLst>
      <p:ext uri="{BB962C8B-B14F-4D97-AF65-F5344CB8AC3E}">
        <p14:creationId xmlns:p14="http://schemas.microsoft.com/office/powerpoint/2010/main" val="1499374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p:txBody>
          <a:bodyPr/>
          <a:lstStyle/>
          <a:p>
            <a:r>
              <a:rPr lang="pt-PT" dirty="0" err="1"/>
              <a:t>Variant</a:t>
            </a:r>
            <a:r>
              <a:rPr lang="pt-PT" dirty="0"/>
              <a:t> </a:t>
            </a:r>
            <a:r>
              <a:rPr lang="pt-PT" dirty="0" err="1"/>
              <a:t>Validator</a:t>
            </a:r>
            <a:r>
              <a:rPr lang="pt-PT" dirty="0"/>
              <a:t> - Exercícios</a:t>
            </a:r>
          </a:p>
        </p:txBody>
      </p:sp>
      <p:sp>
        <p:nvSpPr>
          <p:cNvPr id="4" name="Marcador de Posição do Número do Diapositivo 3">
            <a:extLst>
              <a:ext uri="{FF2B5EF4-FFF2-40B4-BE49-F238E27FC236}">
                <a16:creationId xmlns:a16="http://schemas.microsoft.com/office/drawing/2014/main" id="{6CAEA832-B673-89C4-CDA8-5630B8ACAB0F}"/>
              </a:ext>
            </a:extLst>
          </p:cNvPr>
          <p:cNvSpPr>
            <a:spLocks noGrp="1"/>
          </p:cNvSpPr>
          <p:nvPr>
            <p:ph type="sldNum" sz="quarter" idx="12"/>
          </p:nvPr>
        </p:nvSpPr>
        <p:spPr/>
        <p:txBody>
          <a:bodyPr/>
          <a:lstStyle/>
          <a:p>
            <a:fld id="{6D49FC33-1B8E-4C1B-8D07-84B8EBAC733E}" type="slidenum">
              <a:rPr lang="pt-PT" smtClean="0"/>
              <a:t>27</a:t>
            </a:fld>
            <a:endParaRPr lang="pt-PT" dirty="0"/>
          </a:p>
        </p:txBody>
      </p:sp>
      <p:sp>
        <p:nvSpPr>
          <p:cNvPr id="6" name="CaixaDeTexto 5">
            <a:extLst>
              <a:ext uri="{FF2B5EF4-FFF2-40B4-BE49-F238E27FC236}">
                <a16:creationId xmlns:a16="http://schemas.microsoft.com/office/drawing/2014/main" id="{8D302D9C-6726-2AD8-9231-B59AB51DE03D}"/>
              </a:ext>
            </a:extLst>
          </p:cNvPr>
          <p:cNvSpPr txBox="1"/>
          <p:nvPr/>
        </p:nvSpPr>
        <p:spPr>
          <a:xfrm>
            <a:off x="7889112" y="399855"/>
            <a:ext cx="4302888" cy="461665"/>
          </a:xfrm>
          <a:prstGeom prst="rect">
            <a:avLst/>
          </a:prstGeom>
          <a:noFill/>
        </p:spPr>
        <p:txBody>
          <a:bodyPr wrap="square">
            <a:spAutoFit/>
          </a:bodyPr>
          <a:lstStyle/>
          <a:p>
            <a:r>
              <a:rPr lang="pt-PT" sz="2400" b="1" dirty="0">
                <a:hlinkClick r:id="rId2"/>
              </a:rPr>
              <a:t>https://variantvalidator.org/</a:t>
            </a:r>
            <a:endParaRPr lang="pt-PT" sz="2400" b="1" dirty="0"/>
          </a:p>
        </p:txBody>
      </p:sp>
      <p:sp>
        <p:nvSpPr>
          <p:cNvPr id="3" name="CaixaDeTexto 2">
            <a:extLst>
              <a:ext uri="{FF2B5EF4-FFF2-40B4-BE49-F238E27FC236}">
                <a16:creationId xmlns:a16="http://schemas.microsoft.com/office/drawing/2014/main" id="{DEB3C973-9D03-5D74-2B1B-FCE9DB414D96}"/>
              </a:ext>
            </a:extLst>
          </p:cNvPr>
          <p:cNvSpPr txBox="1"/>
          <p:nvPr/>
        </p:nvSpPr>
        <p:spPr>
          <a:xfrm>
            <a:off x="534364" y="1574157"/>
            <a:ext cx="10912998" cy="4801314"/>
          </a:xfrm>
          <a:prstGeom prst="rect">
            <a:avLst/>
          </a:prstGeom>
          <a:noFill/>
        </p:spPr>
        <p:txBody>
          <a:bodyPr wrap="square" rtlCol="0">
            <a:spAutoFit/>
          </a:bodyPr>
          <a:lstStyle/>
          <a:p>
            <a:r>
              <a:rPr lang="pt-PT" dirty="0"/>
              <a:t>1 – Qual é o gene e a nomenclatura HGV para transcrito de uma mutação localizada no cromossoma X, na posição 63,724,590 (Hg38), para uma substituição de uma Timina por uma Citosina?</a:t>
            </a:r>
          </a:p>
          <a:p>
            <a:endParaRPr lang="pt-PT" dirty="0"/>
          </a:p>
          <a:p>
            <a:endParaRPr lang="pt-PT" dirty="0"/>
          </a:p>
          <a:p>
            <a:r>
              <a:rPr lang="pt-PT" dirty="0"/>
              <a:t>2 – A nomenclatura seguinte está correta de acordo com a nomenclatura HGVS para transcrito?</a:t>
            </a:r>
          </a:p>
          <a:p>
            <a:r>
              <a:rPr lang="pt-PT" dirty="0"/>
              <a:t>	COL5A1:c.5071A&gt;T</a:t>
            </a:r>
          </a:p>
          <a:p>
            <a:endParaRPr lang="pt-PT" dirty="0"/>
          </a:p>
          <a:p>
            <a:r>
              <a:rPr lang="pt-PT" dirty="0"/>
              <a:t>3 – Dada a seguinte sequência, e utilizando a ferramenta BLAT do </a:t>
            </a:r>
            <a:r>
              <a:rPr lang="pt-PT" i="1" dirty="0"/>
              <a:t>UCSC </a:t>
            </a:r>
            <a:r>
              <a:rPr lang="pt-PT" i="1" dirty="0" err="1"/>
              <a:t>genome</a:t>
            </a:r>
            <a:r>
              <a:rPr lang="pt-PT" i="1" dirty="0"/>
              <a:t> browser</a:t>
            </a:r>
            <a:r>
              <a:rPr lang="pt-PT" dirty="0"/>
              <a:t>, indica:</a:t>
            </a:r>
          </a:p>
          <a:p>
            <a:r>
              <a:rPr lang="pt-PT" dirty="0"/>
              <a:t>	- Posição genómica da variante</a:t>
            </a:r>
          </a:p>
          <a:p>
            <a:r>
              <a:rPr lang="pt-PT" dirty="0"/>
              <a:t>	- Gene onde a mutação se encontra</a:t>
            </a:r>
          </a:p>
          <a:p>
            <a:r>
              <a:rPr lang="pt-PT" dirty="0"/>
              <a:t>	- Nomenclatura genómica para a variante</a:t>
            </a:r>
          </a:p>
          <a:p>
            <a:r>
              <a:rPr lang="pt-PT" dirty="0"/>
              <a:t>	- Nomenclatura HGVS para proteína, de acordo com o transcrito MANE</a:t>
            </a:r>
          </a:p>
          <a:p>
            <a:endParaRPr lang="pt-PT" dirty="0"/>
          </a:p>
          <a:p>
            <a:r>
              <a:rPr lang="pt-PT" dirty="0"/>
              <a:t>GGGCCAGCTTACCTGCTTTCACCGAGCAGTGGATATGTGCCTTGGACTCGTAGTACACCCAGTCGAAGCCGGCCTCCACCGCCAGGCGGGCCAGCATGCCGTACTTGCTGCGGTCGCGGTCAGACGTGGTGATGTCCACTGCGCGGCCCTCGTAGTGCAGAGACTCCTCTCAGTGGTGGCCATCTTCGTCCCAGCCCTCGGTCACCCGCAGTTTCACTCCTGGCCACTGGTTCATCACCGAGATGGCCAAAGCGTTCAACTTGTCCTTACACCTCTGCGAAGACAAGGGGACCC	</a:t>
            </a:r>
          </a:p>
        </p:txBody>
      </p:sp>
      <p:sp>
        <p:nvSpPr>
          <p:cNvPr id="15" name="CaixaDeTexto 14">
            <a:extLst>
              <a:ext uri="{FF2B5EF4-FFF2-40B4-BE49-F238E27FC236}">
                <a16:creationId xmlns:a16="http://schemas.microsoft.com/office/drawing/2014/main" id="{85BD71B0-65A4-8445-67B6-75D2EAB6D007}"/>
              </a:ext>
            </a:extLst>
          </p:cNvPr>
          <p:cNvSpPr txBox="1"/>
          <p:nvPr/>
        </p:nvSpPr>
        <p:spPr>
          <a:xfrm>
            <a:off x="7924800" y="907534"/>
            <a:ext cx="6096000" cy="369332"/>
          </a:xfrm>
          <a:prstGeom prst="rect">
            <a:avLst/>
          </a:prstGeom>
          <a:noFill/>
        </p:spPr>
        <p:txBody>
          <a:bodyPr wrap="square">
            <a:spAutoFit/>
          </a:bodyPr>
          <a:lstStyle/>
          <a:p>
            <a:r>
              <a:rPr lang="pt-PT" dirty="0">
                <a:hlinkClick r:id="rId3"/>
              </a:rPr>
              <a:t>https://genome.ucsc.edu/cgi-bin/hgBlat</a:t>
            </a:r>
            <a:endParaRPr lang="pt-PT" dirty="0"/>
          </a:p>
        </p:txBody>
      </p:sp>
    </p:spTree>
    <p:extLst>
      <p:ext uri="{BB962C8B-B14F-4D97-AF65-F5344CB8AC3E}">
        <p14:creationId xmlns:p14="http://schemas.microsoft.com/office/powerpoint/2010/main" val="3349533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9DCA9C-1A21-3F70-5632-654E2458E315}"/>
              </a:ext>
            </a:extLst>
          </p:cNvPr>
          <p:cNvSpPr>
            <a:spLocks noGrp="1"/>
          </p:cNvSpPr>
          <p:nvPr>
            <p:ph type="title"/>
          </p:nvPr>
        </p:nvSpPr>
        <p:spPr>
          <a:xfrm>
            <a:off x="352063" y="0"/>
            <a:ext cx="10515600" cy="1325563"/>
          </a:xfrm>
        </p:spPr>
        <p:txBody>
          <a:bodyPr/>
          <a:lstStyle/>
          <a:p>
            <a:r>
              <a:rPr lang="pt-PT" dirty="0" err="1"/>
              <a:t>Variant</a:t>
            </a:r>
            <a:r>
              <a:rPr lang="pt-PT" dirty="0"/>
              <a:t> </a:t>
            </a:r>
            <a:r>
              <a:rPr lang="pt-PT" dirty="0" err="1"/>
              <a:t>Validator</a:t>
            </a:r>
            <a:r>
              <a:rPr lang="pt-PT" dirty="0"/>
              <a:t> - Solução</a:t>
            </a:r>
          </a:p>
        </p:txBody>
      </p:sp>
      <p:sp>
        <p:nvSpPr>
          <p:cNvPr id="4" name="Marcador de Posição do Número do Diapositivo 3">
            <a:extLst>
              <a:ext uri="{FF2B5EF4-FFF2-40B4-BE49-F238E27FC236}">
                <a16:creationId xmlns:a16="http://schemas.microsoft.com/office/drawing/2014/main" id="{B0EDFC4B-9532-DD8A-E9B4-0DE428AA8E2E}"/>
              </a:ext>
            </a:extLst>
          </p:cNvPr>
          <p:cNvSpPr>
            <a:spLocks noGrp="1"/>
          </p:cNvSpPr>
          <p:nvPr>
            <p:ph type="sldNum" sz="quarter" idx="12"/>
          </p:nvPr>
        </p:nvSpPr>
        <p:spPr/>
        <p:txBody>
          <a:bodyPr/>
          <a:lstStyle/>
          <a:p>
            <a:fld id="{6D49FC33-1B8E-4C1B-8D07-84B8EBAC733E}" type="slidenum">
              <a:rPr lang="en-GB" smtClean="0"/>
              <a:t>28</a:t>
            </a:fld>
            <a:endParaRPr lang="en-GB"/>
          </a:p>
        </p:txBody>
      </p:sp>
      <p:sp>
        <p:nvSpPr>
          <p:cNvPr id="6" name="CaixaDeTexto 5">
            <a:extLst>
              <a:ext uri="{FF2B5EF4-FFF2-40B4-BE49-F238E27FC236}">
                <a16:creationId xmlns:a16="http://schemas.microsoft.com/office/drawing/2014/main" id="{98037D83-DAD2-E42D-A76C-902CC77034EF}"/>
              </a:ext>
            </a:extLst>
          </p:cNvPr>
          <p:cNvSpPr txBox="1"/>
          <p:nvPr/>
        </p:nvSpPr>
        <p:spPr>
          <a:xfrm>
            <a:off x="307983" y="1273199"/>
            <a:ext cx="11576034" cy="646331"/>
          </a:xfrm>
          <a:prstGeom prst="rect">
            <a:avLst/>
          </a:prstGeom>
          <a:noFill/>
        </p:spPr>
        <p:txBody>
          <a:bodyPr wrap="square">
            <a:spAutoFit/>
          </a:bodyPr>
          <a:lstStyle/>
          <a:p>
            <a:pPr algn="just"/>
            <a:r>
              <a:rPr lang="pt-PT" dirty="0"/>
              <a:t>1 – Qual é o gene e a nomenclatura HGV para transcrito de uma mutação localizada no cromossoma X, na posição 63,724,590 (Hg38), para uma substituição de uma Timina por uma Citosina?</a:t>
            </a:r>
          </a:p>
        </p:txBody>
      </p:sp>
      <p:pic>
        <p:nvPicPr>
          <p:cNvPr id="8" name="Imagem 7">
            <a:extLst>
              <a:ext uri="{FF2B5EF4-FFF2-40B4-BE49-F238E27FC236}">
                <a16:creationId xmlns:a16="http://schemas.microsoft.com/office/drawing/2014/main" id="{56624BF1-EA05-D899-5776-791F59843B79}"/>
              </a:ext>
            </a:extLst>
          </p:cNvPr>
          <p:cNvPicPr>
            <a:picLocks noChangeAspect="1"/>
          </p:cNvPicPr>
          <p:nvPr/>
        </p:nvPicPr>
        <p:blipFill>
          <a:blip r:embed="rId2"/>
          <a:srcRect t="41548"/>
          <a:stretch/>
        </p:blipFill>
        <p:spPr>
          <a:xfrm>
            <a:off x="2238500" y="3426105"/>
            <a:ext cx="7011541" cy="3321935"/>
          </a:xfrm>
          <a:prstGeom prst="rect">
            <a:avLst/>
          </a:prstGeom>
        </p:spPr>
      </p:pic>
      <p:pic>
        <p:nvPicPr>
          <p:cNvPr id="9" name="Imagem 8">
            <a:extLst>
              <a:ext uri="{FF2B5EF4-FFF2-40B4-BE49-F238E27FC236}">
                <a16:creationId xmlns:a16="http://schemas.microsoft.com/office/drawing/2014/main" id="{FC91D658-97BA-2111-63FA-CD238C33C12F}"/>
              </a:ext>
            </a:extLst>
          </p:cNvPr>
          <p:cNvPicPr>
            <a:picLocks noChangeAspect="1"/>
          </p:cNvPicPr>
          <p:nvPr/>
        </p:nvPicPr>
        <p:blipFill>
          <a:blip r:embed="rId2"/>
          <a:srcRect b="81168"/>
          <a:stretch/>
        </p:blipFill>
        <p:spPr>
          <a:xfrm>
            <a:off x="2079926" y="2384127"/>
            <a:ext cx="7011541" cy="1070273"/>
          </a:xfrm>
          <a:prstGeom prst="rect">
            <a:avLst/>
          </a:prstGeom>
        </p:spPr>
      </p:pic>
    </p:spTree>
    <p:extLst>
      <p:ext uri="{BB962C8B-B14F-4D97-AF65-F5344CB8AC3E}">
        <p14:creationId xmlns:p14="http://schemas.microsoft.com/office/powerpoint/2010/main" val="1661731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9DCA9C-1A21-3F70-5632-654E2458E315}"/>
              </a:ext>
            </a:extLst>
          </p:cNvPr>
          <p:cNvSpPr>
            <a:spLocks noGrp="1"/>
          </p:cNvSpPr>
          <p:nvPr>
            <p:ph type="title"/>
          </p:nvPr>
        </p:nvSpPr>
        <p:spPr>
          <a:xfrm>
            <a:off x="352063" y="0"/>
            <a:ext cx="10515600" cy="1325563"/>
          </a:xfrm>
        </p:spPr>
        <p:txBody>
          <a:bodyPr/>
          <a:lstStyle/>
          <a:p>
            <a:r>
              <a:rPr lang="en-GB" dirty="0"/>
              <a:t>Variant Validator - </a:t>
            </a:r>
            <a:r>
              <a:rPr lang="en-GB" dirty="0" err="1"/>
              <a:t>Solução</a:t>
            </a:r>
            <a:endParaRPr lang="en-GB" dirty="0"/>
          </a:p>
        </p:txBody>
      </p:sp>
      <p:sp>
        <p:nvSpPr>
          <p:cNvPr id="4" name="Marcador de Posição do Número do Diapositivo 3">
            <a:extLst>
              <a:ext uri="{FF2B5EF4-FFF2-40B4-BE49-F238E27FC236}">
                <a16:creationId xmlns:a16="http://schemas.microsoft.com/office/drawing/2014/main" id="{B0EDFC4B-9532-DD8A-E9B4-0DE428AA8E2E}"/>
              </a:ext>
            </a:extLst>
          </p:cNvPr>
          <p:cNvSpPr>
            <a:spLocks noGrp="1"/>
          </p:cNvSpPr>
          <p:nvPr>
            <p:ph type="sldNum" sz="quarter" idx="12"/>
          </p:nvPr>
        </p:nvSpPr>
        <p:spPr/>
        <p:txBody>
          <a:bodyPr/>
          <a:lstStyle/>
          <a:p>
            <a:fld id="{6D49FC33-1B8E-4C1B-8D07-84B8EBAC733E}" type="slidenum">
              <a:rPr lang="en-GB" smtClean="0"/>
              <a:t>29</a:t>
            </a:fld>
            <a:endParaRPr lang="en-GB"/>
          </a:p>
        </p:txBody>
      </p:sp>
      <p:sp>
        <p:nvSpPr>
          <p:cNvPr id="6" name="CaixaDeTexto 5">
            <a:extLst>
              <a:ext uri="{FF2B5EF4-FFF2-40B4-BE49-F238E27FC236}">
                <a16:creationId xmlns:a16="http://schemas.microsoft.com/office/drawing/2014/main" id="{98037D83-DAD2-E42D-A76C-902CC77034EF}"/>
              </a:ext>
            </a:extLst>
          </p:cNvPr>
          <p:cNvSpPr txBox="1"/>
          <p:nvPr/>
        </p:nvSpPr>
        <p:spPr>
          <a:xfrm>
            <a:off x="307983" y="1273199"/>
            <a:ext cx="11576034" cy="646331"/>
          </a:xfrm>
          <a:prstGeom prst="rect">
            <a:avLst/>
          </a:prstGeom>
          <a:noFill/>
        </p:spPr>
        <p:txBody>
          <a:bodyPr wrap="square">
            <a:spAutoFit/>
          </a:bodyPr>
          <a:lstStyle/>
          <a:p>
            <a:r>
              <a:rPr lang="pt-PT" dirty="0"/>
              <a:t>2 – A nomenclatura seguinte está </a:t>
            </a:r>
            <a:r>
              <a:rPr lang="pt-PT" dirty="0" err="1"/>
              <a:t>correcta</a:t>
            </a:r>
            <a:r>
              <a:rPr lang="pt-PT" dirty="0"/>
              <a:t> de acordo com a nomenclatura HGVS para transcrito?</a:t>
            </a:r>
          </a:p>
          <a:p>
            <a:r>
              <a:rPr lang="pt-PT" dirty="0"/>
              <a:t>	COL5A1:c.5071A&gt;T</a:t>
            </a:r>
          </a:p>
        </p:txBody>
      </p:sp>
      <p:pic>
        <p:nvPicPr>
          <p:cNvPr id="5" name="Imagem 4">
            <a:extLst>
              <a:ext uri="{FF2B5EF4-FFF2-40B4-BE49-F238E27FC236}">
                <a16:creationId xmlns:a16="http://schemas.microsoft.com/office/drawing/2014/main" id="{E6581A71-326D-E414-452A-A58E416F470D}"/>
              </a:ext>
            </a:extLst>
          </p:cNvPr>
          <p:cNvPicPr>
            <a:picLocks noChangeAspect="1"/>
          </p:cNvPicPr>
          <p:nvPr/>
        </p:nvPicPr>
        <p:blipFill>
          <a:blip r:embed="rId2"/>
          <a:stretch>
            <a:fillRect/>
          </a:stretch>
        </p:blipFill>
        <p:spPr>
          <a:xfrm>
            <a:off x="3728720" y="1846840"/>
            <a:ext cx="7457244" cy="4687785"/>
          </a:xfrm>
          <a:prstGeom prst="rect">
            <a:avLst/>
          </a:prstGeom>
        </p:spPr>
      </p:pic>
    </p:spTree>
    <p:extLst>
      <p:ext uri="{BB962C8B-B14F-4D97-AF65-F5344CB8AC3E}">
        <p14:creationId xmlns:p14="http://schemas.microsoft.com/office/powerpoint/2010/main" val="2752921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9DCA9C-1A21-3F70-5632-654E2458E315}"/>
              </a:ext>
            </a:extLst>
          </p:cNvPr>
          <p:cNvSpPr>
            <a:spLocks noGrp="1"/>
          </p:cNvSpPr>
          <p:nvPr>
            <p:ph type="title"/>
          </p:nvPr>
        </p:nvSpPr>
        <p:spPr>
          <a:xfrm>
            <a:off x="352063" y="0"/>
            <a:ext cx="10515600" cy="1325563"/>
          </a:xfrm>
        </p:spPr>
        <p:txBody>
          <a:bodyPr/>
          <a:lstStyle/>
          <a:p>
            <a:r>
              <a:rPr lang="en-GB" dirty="0"/>
              <a:t>Variant Validator - </a:t>
            </a:r>
            <a:r>
              <a:rPr lang="en-GB" dirty="0" err="1"/>
              <a:t>Solução</a:t>
            </a:r>
            <a:endParaRPr lang="en-GB" dirty="0"/>
          </a:p>
        </p:txBody>
      </p:sp>
      <p:sp>
        <p:nvSpPr>
          <p:cNvPr id="4" name="Marcador de Posição do Número do Diapositivo 3">
            <a:extLst>
              <a:ext uri="{FF2B5EF4-FFF2-40B4-BE49-F238E27FC236}">
                <a16:creationId xmlns:a16="http://schemas.microsoft.com/office/drawing/2014/main" id="{B0EDFC4B-9532-DD8A-E9B4-0DE428AA8E2E}"/>
              </a:ext>
            </a:extLst>
          </p:cNvPr>
          <p:cNvSpPr>
            <a:spLocks noGrp="1"/>
          </p:cNvSpPr>
          <p:nvPr>
            <p:ph type="sldNum" sz="quarter" idx="12"/>
          </p:nvPr>
        </p:nvSpPr>
        <p:spPr/>
        <p:txBody>
          <a:bodyPr/>
          <a:lstStyle/>
          <a:p>
            <a:fld id="{6D49FC33-1B8E-4C1B-8D07-84B8EBAC733E}" type="slidenum">
              <a:rPr lang="en-GB" smtClean="0"/>
              <a:t>30</a:t>
            </a:fld>
            <a:endParaRPr lang="en-GB"/>
          </a:p>
        </p:txBody>
      </p:sp>
      <p:sp>
        <p:nvSpPr>
          <p:cNvPr id="7" name="CaixaDeTexto 6">
            <a:extLst>
              <a:ext uri="{FF2B5EF4-FFF2-40B4-BE49-F238E27FC236}">
                <a16:creationId xmlns:a16="http://schemas.microsoft.com/office/drawing/2014/main" id="{1071B1B7-6660-A7F7-FBF2-CD0BA186A40D}"/>
              </a:ext>
            </a:extLst>
          </p:cNvPr>
          <p:cNvSpPr txBox="1"/>
          <p:nvPr/>
        </p:nvSpPr>
        <p:spPr>
          <a:xfrm>
            <a:off x="335280" y="1265258"/>
            <a:ext cx="11145520" cy="923330"/>
          </a:xfrm>
          <a:prstGeom prst="rect">
            <a:avLst/>
          </a:prstGeom>
          <a:noFill/>
        </p:spPr>
        <p:txBody>
          <a:bodyPr wrap="square">
            <a:spAutoFit/>
          </a:bodyPr>
          <a:lstStyle/>
          <a:p>
            <a:r>
              <a:rPr lang="pt-PT" dirty="0"/>
              <a:t>3 – Dada a seguinte sequência, e utilizando a ferramenta BLAT do </a:t>
            </a:r>
            <a:r>
              <a:rPr lang="pt-PT" i="1" dirty="0"/>
              <a:t>UCSC </a:t>
            </a:r>
            <a:r>
              <a:rPr lang="pt-PT" i="1" dirty="0" err="1"/>
              <a:t>genome</a:t>
            </a:r>
            <a:r>
              <a:rPr lang="pt-PT" i="1" dirty="0"/>
              <a:t> browser</a:t>
            </a:r>
            <a:r>
              <a:rPr lang="pt-PT" dirty="0"/>
              <a:t>, indica:</a:t>
            </a:r>
          </a:p>
          <a:p>
            <a:r>
              <a:rPr lang="pt-PT" dirty="0"/>
              <a:t>	- Posição genómica da variante</a:t>
            </a:r>
          </a:p>
          <a:p>
            <a:r>
              <a:rPr lang="pt-PT" dirty="0"/>
              <a:t>	- Gene onde a mutação se encontra</a:t>
            </a:r>
          </a:p>
        </p:txBody>
      </p:sp>
      <p:pic>
        <p:nvPicPr>
          <p:cNvPr id="6146" name="Picture 2">
            <a:extLst>
              <a:ext uri="{FF2B5EF4-FFF2-40B4-BE49-F238E27FC236}">
                <a16:creationId xmlns:a16="http://schemas.microsoft.com/office/drawing/2014/main" id="{FAAA1E39-975B-550D-8835-63F762082F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8"/>
          <a:stretch/>
        </p:blipFill>
        <p:spPr bwMode="auto">
          <a:xfrm>
            <a:off x="593472" y="2576831"/>
            <a:ext cx="10795888" cy="4006849"/>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a:extLst>
              <a:ext uri="{FF2B5EF4-FFF2-40B4-BE49-F238E27FC236}">
                <a16:creationId xmlns:a16="http://schemas.microsoft.com/office/drawing/2014/main" id="{DE0ADF9F-FFFF-564E-78E1-EC52EC64D0D5}"/>
              </a:ext>
            </a:extLst>
          </p:cNvPr>
          <p:cNvSpPr txBox="1"/>
          <p:nvPr/>
        </p:nvSpPr>
        <p:spPr>
          <a:xfrm>
            <a:off x="6949440" y="2021840"/>
            <a:ext cx="2875280" cy="369332"/>
          </a:xfrm>
          <a:prstGeom prst="rect">
            <a:avLst/>
          </a:prstGeom>
          <a:noFill/>
        </p:spPr>
        <p:txBody>
          <a:bodyPr wrap="square" rtlCol="0">
            <a:spAutoFit/>
          </a:bodyPr>
          <a:lstStyle/>
          <a:p>
            <a:r>
              <a:rPr lang="pt-PT" b="1" dirty="0"/>
              <a:t>Chr7:155,806,454  (SHH)</a:t>
            </a:r>
          </a:p>
        </p:txBody>
      </p:sp>
    </p:spTree>
    <p:extLst>
      <p:ext uri="{BB962C8B-B14F-4D97-AF65-F5344CB8AC3E}">
        <p14:creationId xmlns:p14="http://schemas.microsoft.com/office/powerpoint/2010/main" val="1969805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9DCA9C-1A21-3F70-5632-654E2458E315}"/>
              </a:ext>
            </a:extLst>
          </p:cNvPr>
          <p:cNvSpPr>
            <a:spLocks noGrp="1"/>
          </p:cNvSpPr>
          <p:nvPr>
            <p:ph type="title"/>
          </p:nvPr>
        </p:nvSpPr>
        <p:spPr>
          <a:xfrm>
            <a:off x="352063" y="0"/>
            <a:ext cx="10515600" cy="1325563"/>
          </a:xfrm>
        </p:spPr>
        <p:txBody>
          <a:bodyPr/>
          <a:lstStyle/>
          <a:p>
            <a:r>
              <a:rPr lang="en-GB" dirty="0"/>
              <a:t>Variant Validator - </a:t>
            </a:r>
            <a:r>
              <a:rPr lang="en-GB" dirty="0" err="1"/>
              <a:t>Solução</a:t>
            </a:r>
            <a:endParaRPr lang="en-GB" dirty="0"/>
          </a:p>
        </p:txBody>
      </p:sp>
      <p:sp>
        <p:nvSpPr>
          <p:cNvPr id="4" name="Marcador de Posição do Número do Diapositivo 3">
            <a:extLst>
              <a:ext uri="{FF2B5EF4-FFF2-40B4-BE49-F238E27FC236}">
                <a16:creationId xmlns:a16="http://schemas.microsoft.com/office/drawing/2014/main" id="{B0EDFC4B-9532-DD8A-E9B4-0DE428AA8E2E}"/>
              </a:ext>
            </a:extLst>
          </p:cNvPr>
          <p:cNvSpPr>
            <a:spLocks noGrp="1"/>
          </p:cNvSpPr>
          <p:nvPr>
            <p:ph type="sldNum" sz="quarter" idx="12"/>
          </p:nvPr>
        </p:nvSpPr>
        <p:spPr/>
        <p:txBody>
          <a:bodyPr/>
          <a:lstStyle/>
          <a:p>
            <a:fld id="{6D49FC33-1B8E-4C1B-8D07-84B8EBAC733E}" type="slidenum">
              <a:rPr lang="en-GB" smtClean="0"/>
              <a:t>31</a:t>
            </a:fld>
            <a:endParaRPr lang="en-GB"/>
          </a:p>
        </p:txBody>
      </p:sp>
      <p:sp>
        <p:nvSpPr>
          <p:cNvPr id="7" name="CaixaDeTexto 6">
            <a:extLst>
              <a:ext uri="{FF2B5EF4-FFF2-40B4-BE49-F238E27FC236}">
                <a16:creationId xmlns:a16="http://schemas.microsoft.com/office/drawing/2014/main" id="{1071B1B7-6660-A7F7-FBF2-CD0BA186A40D}"/>
              </a:ext>
            </a:extLst>
          </p:cNvPr>
          <p:cNvSpPr txBox="1"/>
          <p:nvPr/>
        </p:nvSpPr>
        <p:spPr>
          <a:xfrm>
            <a:off x="335280" y="1265258"/>
            <a:ext cx="11145520" cy="923330"/>
          </a:xfrm>
          <a:prstGeom prst="rect">
            <a:avLst/>
          </a:prstGeom>
          <a:noFill/>
        </p:spPr>
        <p:txBody>
          <a:bodyPr wrap="square">
            <a:spAutoFit/>
          </a:bodyPr>
          <a:lstStyle/>
          <a:p>
            <a:r>
              <a:rPr lang="pt-PT" dirty="0"/>
              <a:t>3 – Dada a seguinte sequência, e utilizando a ferramenta BLAT do </a:t>
            </a:r>
            <a:r>
              <a:rPr lang="pt-PT" i="1" dirty="0"/>
              <a:t>UCSC </a:t>
            </a:r>
            <a:r>
              <a:rPr lang="pt-PT" i="1" dirty="0" err="1"/>
              <a:t>genome</a:t>
            </a:r>
            <a:r>
              <a:rPr lang="pt-PT" i="1" dirty="0"/>
              <a:t> browser</a:t>
            </a:r>
            <a:r>
              <a:rPr lang="pt-PT" dirty="0"/>
              <a:t>, indica:</a:t>
            </a:r>
          </a:p>
          <a:p>
            <a:r>
              <a:rPr lang="pt-PT" dirty="0"/>
              <a:t>	- Nomenclatura genómica para a variante</a:t>
            </a:r>
          </a:p>
          <a:p>
            <a:r>
              <a:rPr lang="pt-PT" dirty="0"/>
              <a:t>	- Nomenclatura HGVS para proteína, de acordo com o transcrito MANE</a:t>
            </a:r>
          </a:p>
        </p:txBody>
      </p:sp>
      <p:pic>
        <p:nvPicPr>
          <p:cNvPr id="5" name="Imagem 4">
            <a:extLst>
              <a:ext uri="{FF2B5EF4-FFF2-40B4-BE49-F238E27FC236}">
                <a16:creationId xmlns:a16="http://schemas.microsoft.com/office/drawing/2014/main" id="{A13D76DE-17CE-7BA8-5729-7177DE7A9E2D}"/>
              </a:ext>
            </a:extLst>
          </p:cNvPr>
          <p:cNvPicPr>
            <a:picLocks noChangeAspect="1"/>
          </p:cNvPicPr>
          <p:nvPr/>
        </p:nvPicPr>
        <p:blipFill>
          <a:blip r:embed="rId2"/>
          <a:stretch>
            <a:fillRect/>
          </a:stretch>
        </p:blipFill>
        <p:spPr>
          <a:xfrm>
            <a:off x="226812" y="2273822"/>
            <a:ext cx="5869188" cy="1279182"/>
          </a:xfrm>
          <a:prstGeom prst="rect">
            <a:avLst/>
          </a:prstGeom>
        </p:spPr>
      </p:pic>
      <p:pic>
        <p:nvPicPr>
          <p:cNvPr id="9" name="Imagem 8">
            <a:extLst>
              <a:ext uri="{FF2B5EF4-FFF2-40B4-BE49-F238E27FC236}">
                <a16:creationId xmlns:a16="http://schemas.microsoft.com/office/drawing/2014/main" id="{C0A80261-4E9D-A971-697C-F9710194175D}"/>
              </a:ext>
            </a:extLst>
          </p:cNvPr>
          <p:cNvPicPr>
            <a:picLocks noChangeAspect="1"/>
          </p:cNvPicPr>
          <p:nvPr/>
        </p:nvPicPr>
        <p:blipFill>
          <a:blip r:embed="rId3"/>
          <a:stretch>
            <a:fillRect/>
          </a:stretch>
        </p:blipFill>
        <p:spPr>
          <a:xfrm>
            <a:off x="4135119" y="3181979"/>
            <a:ext cx="7710611" cy="3291032"/>
          </a:xfrm>
          <a:prstGeom prst="rect">
            <a:avLst/>
          </a:prstGeom>
        </p:spPr>
      </p:pic>
      <p:sp>
        <p:nvSpPr>
          <p:cNvPr id="10" name="Seta: Para a Direita 9">
            <a:extLst>
              <a:ext uri="{FF2B5EF4-FFF2-40B4-BE49-F238E27FC236}">
                <a16:creationId xmlns:a16="http://schemas.microsoft.com/office/drawing/2014/main" id="{720151D7-AB44-D9D7-9385-F963DC1E1873}"/>
              </a:ext>
            </a:extLst>
          </p:cNvPr>
          <p:cNvSpPr/>
          <p:nvPr/>
        </p:nvSpPr>
        <p:spPr>
          <a:xfrm>
            <a:off x="3322320" y="4541520"/>
            <a:ext cx="812800" cy="1727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eta: Para a Direita 10">
            <a:extLst>
              <a:ext uri="{FF2B5EF4-FFF2-40B4-BE49-F238E27FC236}">
                <a16:creationId xmlns:a16="http://schemas.microsoft.com/office/drawing/2014/main" id="{2CFB38CF-4D33-C556-30C7-4656830E50CF}"/>
              </a:ext>
            </a:extLst>
          </p:cNvPr>
          <p:cNvSpPr/>
          <p:nvPr/>
        </p:nvSpPr>
        <p:spPr>
          <a:xfrm>
            <a:off x="3312160" y="5805488"/>
            <a:ext cx="812800" cy="1727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00728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3757FC-07BD-BF2E-9227-0027ED3B0C51}"/>
              </a:ext>
            </a:extLst>
          </p:cNvPr>
          <p:cNvSpPr>
            <a:spLocks noGrp="1"/>
          </p:cNvSpPr>
          <p:nvPr>
            <p:ph type="ctrTitle"/>
          </p:nvPr>
        </p:nvSpPr>
        <p:spPr>
          <a:xfrm>
            <a:off x="1524000" y="157163"/>
            <a:ext cx="9144000" cy="990917"/>
          </a:xfrm>
        </p:spPr>
        <p:txBody>
          <a:bodyPr/>
          <a:lstStyle/>
          <a:p>
            <a:r>
              <a:rPr lang="en-GB" dirty="0" err="1"/>
              <a:t>Fim</a:t>
            </a:r>
            <a:r>
              <a:rPr lang="en-GB" dirty="0"/>
              <a:t> da </a:t>
            </a:r>
            <a:r>
              <a:rPr lang="en-GB" dirty="0" err="1"/>
              <a:t>Sessão</a:t>
            </a:r>
            <a:r>
              <a:rPr lang="en-GB" dirty="0"/>
              <a:t> 1</a:t>
            </a:r>
          </a:p>
        </p:txBody>
      </p:sp>
      <p:sp>
        <p:nvSpPr>
          <p:cNvPr id="3" name="Subtítulo 2">
            <a:extLst>
              <a:ext uri="{FF2B5EF4-FFF2-40B4-BE49-F238E27FC236}">
                <a16:creationId xmlns:a16="http://schemas.microsoft.com/office/drawing/2014/main" id="{8CC3B287-B634-1547-022A-B1246031F3CA}"/>
              </a:ext>
            </a:extLst>
          </p:cNvPr>
          <p:cNvSpPr>
            <a:spLocks noGrp="1"/>
          </p:cNvSpPr>
          <p:nvPr>
            <p:ph type="subTitle" idx="1"/>
          </p:nvPr>
        </p:nvSpPr>
        <p:spPr>
          <a:xfrm>
            <a:off x="1727200" y="1234758"/>
            <a:ext cx="9144000" cy="1655762"/>
          </a:xfrm>
        </p:spPr>
        <p:txBody>
          <a:bodyPr/>
          <a:lstStyle/>
          <a:p>
            <a:r>
              <a:rPr lang="en-GB" dirty="0" err="1"/>
              <a:t>Fundamentos</a:t>
            </a:r>
            <a:r>
              <a:rPr lang="en-GB" dirty="0"/>
              <a:t> para </a:t>
            </a:r>
            <a:r>
              <a:rPr lang="en-GB" dirty="0" err="1"/>
              <a:t>interpretação</a:t>
            </a:r>
            <a:r>
              <a:rPr lang="en-GB" dirty="0"/>
              <a:t> de </a:t>
            </a:r>
            <a:r>
              <a:rPr lang="en-GB" dirty="0" err="1"/>
              <a:t>variantes</a:t>
            </a:r>
            <a:endParaRPr lang="en-GB" dirty="0"/>
          </a:p>
        </p:txBody>
      </p:sp>
    </p:spTree>
    <p:extLst>
      <p:ext uri="{BB962C8B-B14F-4D97-AF65-F5344CB8AC3E}">
        <p14:creationId xmlns:p14="http://schemas.microsoft.com/office/powerpoint/2010/main" val="2265277151"/>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918</TotalTime>
  <Words>1285</Words>
  <Application>Microsoft Office PowerPoint</Application>
  <PresentationFormat>Ecrã Panorâmico</PresentationFormat>
  <Paragraphs>215</Paragraphs>
  <Slides>32</Slides>
  <Notes>0</Notes>
  <HiddenSlides>0</HiddenSlides>
  <MMClips>1</MMClips>
  <ScaleCrop>false</ScaleCrop>
  <HeadingPairs>
    <vt:vector size="6" baseType="variant">
      <vt:variant>
        <vt:lpstr>Tipos de letra usados</vt:lpstr>
      </vt:variant>
      <vt:variant>
        <vt:i4>8</vt:i4>
      </vt:variant>
      <vt:variant>
        <vt:lpstr>Tema</vt:lpstr>
      </vt:variant>
      <vt:variant>
        <vt:i4>1</vt:i4>
      </vt:variant>
      <vt:variant>
        <vt:lpstr>Títulos dos diapositivos</vt:lpstr>
      </vt:variant>
      <vt:variant>
        <vt:i4>32</vt:i4>
      </vt:variant>
    </vt:vector>
  </HeadingPairs>
  <TitlesOfParts>
    <vt:vector size="41" baseType="lpstr">
      <vt:lpstr>-apple-system</vt:lpstr>
      <vt:lpstr>Aptos</vt:lpstr>
      <vt:lpstr>Aptos Display</vt:lpstr>
      <vt:lpstr>Arial</vt:lpstr>
      <vt:lpstr>BlinkMacSystemFont</vt:lpstr>
      <vt:lpstr>Courier New</vt:lpstr>
      <vt:lpstr>Europa</vt:lpstr>
      <vt:lpstr>Wingdings</vt:lpstr>
      <vt:lpstr>Tema do Office</vt:lpstr>
      <vt:lpstr>Interpretação de variantes genómicas </vt:lpstr>
      <vt:lpstr>Sessão 1</vt:lpstr>
      <vt:lpstr>Identificação de variantes em dados de NGS</vt:lpstr>
      <vt:lpstr>Tipos de variantes – por efeito na estrutura</vt:lpstr>
      <vt:lpstr>Tipo de variante – por impacto na proteina</vt:lpstr>
      <vt:lpstr>Tipo de variante – por impacto na proteína</vt:lpstr>
      <vt:lpstr>Tipo de variante – por efeito na função</vt:lpstr>
      <vt:lpstr>Tipo de variante – por hereditariedade</vt:lpstr>
      <vt:lpstr>Tipo de variante – por classificação clínica</vt:lpstr>
      <vt:lpstr>Classificação</vt:lpstr>
      <vt:lpstr>IGV – validação de variantes</vt:lpstr>
      <vt:lpstr>IGV – como usar</vt:lpstr>
      <vt:lpstr>Falsos positivos</vt:lpstr>
      <vt:lpstr>Bons exemplos</vt:lpstr>
      <vt:lpstr>Bons exemplos</vt:lpstr>
      <vt:lpstr>Bons exemplos</vt:lpstr>
      <vt:lpstr>Maus exemplos</vt:lpstr>
      <vt:lpstr>Maus exemplos</vt:lpstr>
      <vt:lpstr>Maus exemplos</vt:lpstr>
      <vt:lpstr>Exercício  - IGV</vt:lpstr>
      <vt:lpstr>Exercicio  - IGV – Solução 1</vt:lpstr>
      <vt:lpstr>Exercicio  - IGV – Solução 2</vt:lpstr>
      <vt:lpstr>Exercicio  - IGV – Solução 2</vt:lpstr>
      <vt:lpstr>Exercicio  - IGV – Solução 3</vt:lpstr>
      <vt:lpstr>Nomenclatura da variante</vt:lpstr>
      <vt:lpstr>Variant Validator</vt:lpstr>
      <vt:lpstr>Variant Validator - Exercícios</vt:lpstr>
      <vt:lpstr>Variant Validator - Solução</vt:lpstr>
      <vt:lpstr>Variant Validator - Solução</vt:lpstr>
      <vt:lpstr>Variant Validator - Solução</vt:lpstr>
      <vt:lpstr>Variant Validator - Solução</vt:lpstr>
      <vt:lpstr>Fim da Sessão 1</vt:lpstr>
    </vt:vector>
  </TitlesOfParts>
  <Company>INSA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Joana Fino</dc:creator>
  <cp:lastModifiedBy>Joana Fino</cp:lastModifiedBy>
  <cp:revision>11</cp:revision>
  <dcterms:created xsi:type="dcterms:W3CDTF">2026-05-07T13:58:04Z</dcterms:created>
  <dcterms:modified xsi:type="dcterms:W3CDTF">2026-08-26T14:09:20Z</dcterms:modified>
</cp:coreProperties>
</file>