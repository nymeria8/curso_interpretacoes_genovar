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5"/>
  </p:notesMasterIdLst>
  <p:sldIdLst>
    <p:sldId id="274" r:id="rId2"/>
    <p:sldId id="256" r:id="rId3"/>
    <p:sldId id="275" r:id="rId4"/>
    <p:sldId id="257" r:id="rId5"/>
    <p:sldId id="258" r:id="rId6"/>
    <p:sldId id="276" r:id="rId7"/>
    <p:sldId id="259" r:id="rId8"/>
    <p:sldId id="260" r:id="rId9"/>
    <p:sldId id="261" r:id="rId10"/>
    <p:sldId id="277" r:id="rId11"/>
    <p:sldId id="282" r:id="rId12"/>
    <p:sldId id="266" r:id="rId13"/>
    <p:sldId id="278" r:id="rId14"/>
    <p:sldId id="279" r:id="rId15"/>
    <p:sldId id="280" r:id="rId16"/>
    <p:sldId id="281" r:id="rId17"/>
    <p:sldId id="283" r:id="rId18"/>
    <p:sldId id="284" r:id="rId19"/>
    <p:sldId id="285" r:id="rId20"/>
    <p:sldId id="286" r:id="rId21"/>
    <p:sldId id="287" r:id="rId22"/>
    <p:sldId id="288" r:id="rId23"/>
    <p:sldId id="273" r:id="rId24"/>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Destaqu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107" d="100"/>
          <a:sy n="107" d="100"/>
        </p:scale>
        <p:origin x="672"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1EAD91-5C74-492E-A1D5-AC960A8049E2}" type="doc">
      <dgm:prSet loTypeId="urn:microsoft.com/office/officeart/2005/8/layout/chevron1" loCatId="process" qsTypeId="urn:microsoft.com/office/officeart/2005/8/quickstyle/simple1" qsCatId="simple" csTypeId="urn:microsoft.com/office/officeart/2005/8/colors/colorful1" csCatId="colorful" phldr="1"/>
      <dgm:spPr/>
    </dgm:pt>
    <dgm:pt modelId="{FE190674-A832-4391-A781-4C4B950D4649}">
      <dgm:prSet phldrT="[Texto]"/>
      <dgm:spPr/>
      <dgm:t>
        <a:bodyPr/>
        <a:lstStyle/>
        <a:p>
          <a:r>
            <a:rPr lang="pt-PT" b="1" noProof="0" dirty="0"/>
            <a:t>Anotação</a:t>
          </a:r>
        </a:p>
        <a:p>
          <a:r>
            <a:rPr lang="pt-PT" noProof="0" dirty="0"/>
            <a:t>Passagem da informação de mapeamento genómico para anotação contra os genes afetados</a:t>
          </a:r>
        </a:p>
      </dgm:t>
    </dgm:pt>
    <dgm:pt modelId="{55D1DB1B-542F-4046-88B0-59BD65E5B00C}" type="parTrans" cxnId="{4E3049A7-A080-4742-9ACD-6212D0C095B8}">
      <dgm:prSet/>
      <dgm:spPr/>
      <dgm:t>
        <a:bodyPr/>
        <a:lstStyle/>
        <a:p>
          <a:endParaRPr lang="en-GB"/>
        </a:p>
      </dgm:t>
    </dgm:pt>
    <dgm:pt modelId="{A3651790-5E71-4344-A1B8-5A3F8A12FD26}" type="sibTrans" cxnId="{4E3049A7-A080-4742-9ACD-6212D0C095B8}">
      <dgm:prSet/>
      <dgm:spPr/>
      <dgm:t>
        <a:bodyPr/>
        <a:lstStyle/>
        <a:p>
          <a:endParaRPr lang="en-GB"/>
        </a:p>
      </dgm:t>
    </dgm:pt>
    <dgm:pt modelId="{E4EC0C3D-EE6F-44AE-B4BF-EB48D47F4607}">
      <dgm:prSet phldrT="[Texto]"/>
      <dgm:spPr/>
      <dgm:t>
        <a:bodyPr/>
        <a:lstStyle/>
        <a:p>
          <a:r>
            <a:rPr lang="pt-PT" b="1" noProof="0" dirty="0"/>
            <a:t>Priorização</a:t>
          </a:r>
        </a:p>
        <a:p>
          <a:r>
            <a:rPr lang="pt-PT" noProof="0" dirty="0"/>
            <a:t>De acordo com anotação, e opcionalmente descrições </a:t>
          </a:r>
          <a:r>
            <a:rPr lang="pt-PT" noProof="0" dirty="0" err="1"/>
            <a:t>fenótipicas</a:t>
          </a:r>
          <a:r>
            <a:rPr lang="pt-PT" noProof="0" dirty="0"/>
            <a:t>, ordenar as variantes de acordo com a probabilidade de estarem associadas a doença</a:t>
          </a:r>
        </a:p>
      </dgm:t>
    </dgm:pt>
    <dgm:pt modelId="{9B5FB246-8C44-431E-88FB-D8686EDA786B}" type="parTrans" cxnId="{B135A554-8B73-43BC-96CA-9E0C0A70FB53}">
      <dgm:prSet/>
      <dgm:spPr/>
      <dgm:t>
        <a:bodyPr/>
        <a:lstStyle/>
        <a:p>
          <a:endParaRPr lang="en-GB"/>
        </a:p>
      </dgm:t>
    </dgm:pt>
    <dgm:pt modelId="{B25A3E05-8EFF-47D9-BAC6-CFD4CA70DE36}" type="sibTrans" cxnId="{B135A554-8B73-43BC-96CA-9E0C0A70FB53}">
      <dgm:prSet/>
      <dgm:spPr/>
      <dgm:t>
        <a:bodyPr/>
        <a:lstStyle/>
        <a:p>
          <a:endParaRPr lang="en-GB"/>
        </a:p>
      </dgm:t>
    </dgm:pt>
    <dgm:pt modelId="{2B9A03B0-C7CC-439E-BFC3-9988C8AA3742}">
      <dgm:prSet phldrT="[Texto]"/>
      <dgm:spPr/>
      <dgm:t>
        <a:bodyPr/>
        <a:lstStyle/>
        <a:p>
          <a:r>
            <a:rPr lang="pt-PT" b="1" noProof="0" dirty="0"/>
            <a:t>Classificação</a:t>
          </a:r>
        </a:p>
        <a:p>
          <a:r>
            <a:rPr lang="pt-PT" noProof="0" dirty="0"/>
            <a:t>Com base na anotação e priorização, classificar as variantes de acordo com o seu grau de patogenicidade</a:t>
          </a:r>
        </a:p>
      </dgm:t>
    </dgm:pt>
    <dgm:pt modelId="{0C0432D1-6033-4734-8D12-7E8F8D7CD41A}" type="parTrans" cxnId="{316F7297-A32B-4C7E-B05C-EB7E48203518}">
      <dgm:prSet/>
      <dgm:spPr/>
      <dgm:t>
        <a:bodyPr/>
        <a:lstStyle/>
        <a:p>
          <a:endParaRPr lang="en-GB"/>
        </a:p>
      </dgm:t>
    </dgm:pt>
    <dgm:pt modelId="{0CFA14A2-BF5C-4A61-9BCE-E7922D3C84FE}" type="sibTrans" cxnId="{316F7297-A32B-4C7E-B05C-EB7E48203518}">
      <dgm:prSet/>
      <dgm:spPr/>
      <dgm:t>
        <a:bodyPr/>
        <a:lstStyle/>
        <a:p>
          <a:endParaRPr lang="en-GB"/>
        </a:p>
      </dgm:t>
    </dgm:pt>
    <dgm:pt modelId="{77807240-F0A5-42FF-B61C-CC10A5E67F6B}" type="pres">
      <dgm:prSet presAssocID="{F51EAD91-5C74-492E-A1D5-AC960A8049E2}" presName="Name0" presStyleCnt="0">
        <dgm:presLayoutVars>
          <dgm:dir/>
          <dgm:animLvl val="lvl"/>
          <dgm:resizeHandles val="exact"/>
        </dgm:presLayoutVars>
      </dgm:prSet>
      <dgm:spPr/>
    </dgm:pt>
    <dgm:pt modelId="{37A4C045-3EC3-4E2D-AB67-8270A9EF2AA3}" type="pres">
      <dgm:prSet presAssocID="{FE190674-A832-4391-A781-4C4B950D4649}" presName="parTxOnly" presStyleLbl="node1" presStyleIdx="0" presStyleCnt="3">
        <dgm:presLayoutVars>
          <dgm:chMax val="0"/>
          <dgm:chPref val="0"/>
          <dgm:bulletEnabled val="1"/>
        </dgm:presLayoutVars>
      </dgm:prSet>
      <dgm:spPr/>
    </dgm:pt>
    <dgm:pt modelId="{F0B50BE2-2272-4A1E-87C0-5518BE7AE9A2}" type="pres">
      <dgm:prSet presAssocID="{A3651790-5E71-4344-A1B8-5A3F8A12FD26}" presName="parTxOnlySpace" presStyleCnt="0"/>
      <dgm:spPr/>
    </dgm:pt>
    <dgm:pt modelId="{292CB90C-A02C-4190-BAF9-45CE3FF86B53}" type="pres">
      <dgm:prSet presAssocID="{E4EC0C3D-EE6F-44AE-B4BF-EB48D47F4607}" presName="parTxOnly" presStyleLbl="node1" presStyleIdx="1" presStyleCnt="3">
        <dgm:presLayoutVars>
          <dgm:chMax val="0"/>
          <dgm:chPref val="0"/>
          <dgm:bulletEnabled val="1"/>
        </dgm:presLayoutVars>
      </dgm:prSet>
      <dgm:spPr/>
    </dgm:pt>
    <dgm:pt modelId="{E00C3823-AFC5-4B95-9FD6-42FEABD3FBD9}" type="pres">
      <dgm:prSet presAssocID="{B25A3E05-8EFF-47D9-BAC6-CFD4CA70DE36}" presName="parTxOnlySpace" presStyleCnt="0"/>
      <dgm:spPr/>
    </dgm:pt>
    <dgm:pt modelId="{29B11E22-FB0C-4B44-8178-30042A96AC61}" type="pres">
      <dgm:prSet presAssocID="{2B9A03B0-C7CC-439E-BFC3-9988C8AA3742}" presName="parTxOnly" presStyleLbl="node1" presStyleIdx="2" presStyleCnt="3">
        <dgm:presLayoutVars>
          <dgm:chMax val="0"/>
          <dgm:chPref val="0"/>
          <dgm:bulletEnabled val="1"/>
        </dgm:presLayoutVars>
      </dgm:prSet>
      <dgm:spPr/>
    </dgm:pt>
  </dgm:ptLst>
  <dgm:cxnLst>
    <dgm:cxn modelId="{05DFC926-E8AF-4648-B867-B7BEE5E0E869}" type="presOf" srcId="{2B9A03B0-C7CC-439E-BFC3-9988C8AA3742}" destId="{29B11E22-FB0C-4B44-8178-30042A96AC61}" srcOrd="0" destOrd="0" presId="urn:microsoft.com/office/officeart/2005/8/layout/chevron1"/>
    <dgm:cxn modelId="{AB713349-D89D-4AEA-AD6F-50B729F88D70}" type="presOf" srcId="{FE190674-A832-4391-A781-4C4B950D4649}" destId="{37A4C045-3EC3-4E2D-AB67-8270A9EF2AA3}" srcOrd="0" destOrd="0" presId="urn:microsoft.com/office/officeart/2005/8/layout/chevron1"/>
    <dgm:cxn modelId="{B135A554-8B73-43BC-96CA-9E0C0A70FB53}" srcId="{F51EAD91-5C74-492E-A1D5-AC960A8049E2}" destId="{E4EC0C3D-EE6F-44AE-B4BF-EB48D47F4607}" srcOrd="1" destOrd="0" parTransId="{9B5FB246-8C44-431E-88FB-D8686EDA786B}" sibTransId="{B25A3E05-8EFF-47D9-BAC6-CFD4CA70DE36}"/>
    <dgm:cxn modelId="{61617876-0C37-4A1D-BDB6-75332421F19D}" type="presOf" srcId="{E4EC0C3D-EE6F-44AE-B4BF-EB48D47F4607}" destId="{292CB90C-A02C-4190-BAF9-45CE3FF86B53}" srcOrd="0" destOrd="0" presId="urn:microsoft.com/office/officeart/2005/8/layout/chevron1"/>
    <dgm:cxn modelId="{316F7297-A32B-4C7E-B05C-EB7E48203518}" srcId="{F51EAD91-5C74-492E-A1D5-AC960A8049E2}" destId="{2B9A03B0-C7CC-439E-BFC3-9988C8AA3742}" srcOrd="2" destOrd="0" parTransId="{0C0432D1-6033-4734-8D12-7E8F8D7CD41A}" sibTransId="{0CFA14A2-BF5C-4A61-9BCE-E7922D3C84FE}"/>
    <dgm:cxn modelId="{4E3049A7-A080-4742-9ACD-6212D0C095B8}" srcId="{F51EAD91-5C74-492E-A1D5-AC960A8049E2}" destId="{FE190674-A832-4391-A781-4C4B950D4649}" srcOrd="0" destOrd="0" parTransId="{55D1DB1B-542F-4046-88B0-59BD65E5B00C}" sibTransId="{A3651790-5E71-4344-A1B8-5A3F8A12FD26}"/>
    <dgm:cxn modelId="{0ADF88B3-A95D-49D4-9812-F97EE08C2776}" type="presOf" srcId="{F51EAD91-5C74-492E-A1D5-AC960A8049E2}" destId="{77807240-F0A5-42FF-B61C-CC10A5E67F6B}" srcOrd="0" destOrd="0" presId="urn:microsoft.com/office/officeart/2005/8/layout/chevron1"/>
    <dgm:cxn modelId="{E17118D2-5FE9-4AFF-858D-7E1C078E4BB1}" type="presParOf" srcId="{77807240-F0A5-42FF-B61C-CC10A5E67F6B}" destId="{37A4C045-3EC3-4E2D-AB67-8270A9EF2AA3}" srcOrd="0" destOrd="0" presId="urn:microsoft.com/office/officeart/2005/8/layout/chevron1"/>
    <dgm:cxn modelId="{E1AC0E4F-B8FA-46D0-889C-77E819778348}" type="presParOf" srcId="{77807240-F0A5-42FF-B61C-CC10A5E67F6B}" destId="{F0B50BE2-2272-4A1E-87C0-5518BE7AE9A2}" srcOrd="1" destOrd="0" presId="urn:microsoft.com/office/officeart/2005/8/layout/chevron1"/>
    <dgm:cxn modelId="{749C602A-C6AB-445F-8C81-E528E2A96B24}" type="presParOf" srcId="{77807240-F0A5-42FF-B61C-CC10A5E67F6B}" destId="{292CB90C-A02C-4190-BAF9-45CE3FF86B53}" srcOrd="2" destOrd="0" presId="urn:microsoft.com/office/officeart/2005/8/layout/chevron1"/>
    <dgm:cxn modelId="{762C0D66-28D6-4B5F-9DDE-18A0E239F69B}" type="presParOf" srcId="{77807240-F0A5-42FF-B61C-CC10A5E67F6B}" destId="{E00C3823-AFC5-4B95-9FD6-42FEABD3FBD9}" srcOrd="3" destOrd="0" presId="urn:microsoft.com/office/officeart/2005/8/layout/chevron1"/>
    <dgm:cxn modelId="{FF90CCB6-0367-4158-9EAE-882714768B7C}" type="presParOf" srcId="{77807240-F0A5-42FF-B61C-CC10A5E67F6B}" destId="{29B11E22-FB0C-4B44-8178-30042A96AC61}" srcOrd="4"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E55848-F8AF-4B0F-88B7-AC3BCA0D616A}"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GB"/>
        </a:p>
      </dgm:t>
    </dgm:pt>
    <dgm:pt modelId="{A9169FB0-36DF-4EA4-ADDA-B1648FB1568F}">
      <dgm:prSet phldrT="[Texto]"/>
      <dgm:spPr/>
      <dgm:t>
        <a:bodyPr/>
        <a:lstStyle/>
        <a:p>
          <a:r>
            <a:rPr lang="pt-PT" noProof="0" dirty="0"/>
            <a:t>Recursos para avaliação de variantes </a:t>
          </a:r>
        </a:p>
      </dgm:t>
    </dgm:pt>
    <dgm:pt modelId="{583A5016-441B-43D4-8D9E-0E74EF5AFA31}" type="parTrans" cxnId="{9B75618E-9F08-49E2-8176-018E11521064}">
      <dgm:prSet/>
      <dgm:spPr/>
      <dgm:t>
        <a:bodyPr/>
        <a:lstStyle/>
        <a:p>
          <a:endParaRPr lang="en-GB"/>
        </a:p>
      </dgm:t>
    </dgm:pt>
    <dgm:pt modelId="{6A0DB33B-9A88-4B7A-93A4-F4A23D18DDAF}" type="sibTrans" cxnId="{9B75618E-9F08-49E2-8176-018E11521064}">
      <dgm:prSet/>
      <dgm:spPr/>
      <dgm:t>
        <a:bodyPr/>
        <a:lstStyle/>
        <a:p>
          <a:endParaRPr lang="en-GB"/>
        </a:p>
      </dgm:t>
    </dgm:pt>
    <dgm:pt modelId="{0FCE6831-E02A-4494-A10B-DD1CDDDD2F8C}">
      <dgm:prSet phldrT="[Texto]"/>
      <dgm:spPr/>
      <dgm:t>
        <a:bodyPr/>
        <a:lstStyle/>
        <a:p>
          <a:r>
            <a:rPr lang="en-GB" dirty="0"/>
            <a:t>Bases de dados de </a:t>
          </a:r>
          <a:r>
            <a:rPr lang="en-GB" dirty="0" err="1"/>
            <a:t>variantes</a:t>
          </a:r>
          <a:endParaRPr lang="en-GB" dirty="0"/>
        </a:p>
      </dgm:t>
    </dgm:pt>
    <dgm:pt modelId="{2ECD56FD-922E-4F71-99F7-47F8958BD806}" type="parTrans" cxnId="{06F895BE-A39B-4906-9167-4889F81D2D31}">
      <dgm:prSet/>
      <dgm:spPr/>
      <dgm:t>
        <a:bodyPr/>
        <a:lstStyle/>
        <a:p>
          <a:endParaRPr lang="en-GB"/>
        </a:p>
      </dgm:t>
    </dgm:pt>
    <dgm:pt modelId="{D430CEBB-2104-4640-8C98-7FA88E1B91D4}" type="sibTrans" cxnId="{06F895BE-A39B-4906-9167-4889F81D2D31}">
      <dgm:prSet/>
      <dgm:spPr/>
      <dgm:t>
        <a:bodyPr/>
        <a:lstStyle/>
        <a:p>
          <a:endParaRPr lang="en-GB"/>
        </a:p>
      </dgm:t>
    </dgm:pt>
    <dgm:pt modelId="{3E552D8B-5DDF-43BE-AD95-CE8CB42208BD}">
      <dgm:prSet phldrT="[Texto]"/>
      <dgm:spPr/>
      <dgm:t>
        <a:bodyPr/>
        <a:lstStyle/>
        <a:p>
          <a:r>
            <a:rPr lang="en-GB" dirty="0" err="1"/>
            <a:t>Anotação</a:t>
          </a:r>
          <a:r>
            <a:rPr lang="en-GB" dirty="0"/>
            <a:t> dos genes e </a:t>
          </a:r>
          <a:r>
            <a:rPr lang="en-GB" dirty="0" err="1"/>
            <a:t>doenças</a:t>
          </a:r>
          <a:r>
            <a:rPr lang="en-GB" dirty="0"/>
            <a:t> </a:t>
          </a:r>
          <a:r>
            <a:rPr lang="en-GB" dirty="0" err="1"/>
            <a:t>associadas</a:t>
          </a:r>
          <a:endParaRPr lang="en-GB" dirty="0"/>
        </a:p>
      </dgm:t>
    </dgm:pt>
    <dgm:pt modelId="{DE5AE774-FC27-4CFE-8865-1256D8141A30}" type="parTrans" cxnId="{C2F40B30-FEA0-423E-AAB6-6EC1810901FF}">
      <dgm:prSet/>
      <dgm:spPr/>
      <dgm:t>
        <a:bodyPr/>
        <a:lstStyle/>
        <a:p>
          <a:endParaRPr lang="en-GB"/>
        </a:p>
      </dgm:t>
    </dgm:pt>
    <dgm:pt modelId="{EC9D7A7D-3ED6-4CC4-81AC-9964C16E4E1E}" type="sibTrans" cxnId="{C2F40B30-FEA0-423E-AAB6-6EC1810901FF}">
      <dgm:prSet/>
      <dgm:spPr/>
      <dgm:t>
        <a:bodyPr/>
        <a:lstStyle/>
        <a:p>
          <a:endParaRPr lang="en-GB"/>
        </a:p>
      </dgm:t>
    </dgm:pt>
    <dgm:pt modelId="{B770FFC2-27C3-49EF-9DC5-46673995E937}">
      <dgm:prSet phldrT="[Texto]"/>
      <dgm:spPr/>
      <dgm:t>
        <a:bodyPr/>
        <a:lstStyle/>
        <a:p>
          <a:r>
            <a:rPr lang="en-GB" dirty="0" err="1"/>
            <a:t>Algoritmos</a:t>
          </a:r>
          <a:r>
            <a:rPr lang="en-GB" dirty="0"/>
            <a:t> de </a:t>
          </a:r>
          <a:r>
            <a:rPr lang="en-GB" dirty="0" err="1"/>
            <a:t>predição</a:t>
          </a:r>
          <a:endParaRPr lang="en-GB" dirty="0"/>
        </a:p>
      </dgm:t>
    </dgm:pt>
    <dgm:pt modelId="{201A7454-0B71-4012-8923-44A855CDB510}" type="parTrans" cxnId="{50E5C2B2-4EF3-497C-84B0-58109FCAADDF}">
      <dgm:prSet/>
      <dgm:spPr/>
      <dgm:t>
        <a:bodyPr/>
        <a:lstStyle/>
        <a:p>
          <a:endParaRPr lang="en-GB"/>
        </a:p>
      </dgm:t>
    </dgm:pt>
    <dgm:pt modelId="{254FD20D-6B9C-4A35-9FEC-9AE903A1A3E9}" type="sibTrans" cxnId="{50E5C2B2-4EF3-497C-84B0-58109FCAADDF}">
      <dgm:prSet/>
      <dgm:spPr/>
      <dgm:t>
        <a:bodyPr/>
        <a:lstStyle/>
        <a:p>
          <a:endParaRPr lang="en-GB" dirty="0"/>
        </a:p>
      </dgm:t>
    </dgm:pt>
    <dgm:pt modelId="{99DD0981-45A4-44F8-82DF-A8C84AA44A0B}">
      <dgm:prSet/>
      <dgm:spPr/>
      <dgm:t>
        <a:bodyPr/>
        <a:lstStyle/>
        <a:p>
          <a:r>
            <a:rPr lang="en-GB" dirty="0" err="1"/>
            <a:t>Benignas</a:t>
          </a:r>
          <a:endParaRPr lang="en-GB" dirty="0"/>
        </a:p>
      </dgm:t>
    </dgm:pt>
    <dgm:pt modelId="{A474CD5D-DB79-4D41-A371-F2EECA1999FE}" type="parTrans" cxnId="{EA8359A4-957B-4532-AA40-499933C94485}">
      <dgm:prSet/>
      <dgm:spPr/>
      <dgm:t>
        <a:bodyPr/>
        <a:lstStyle/>
        <a:p>
          <a:endParaRPr lang="en-GB"/>
        </a:p>
      </dgm:t>
    </dgm:pt>
    <dgm:pt modelId="{5B1FDE69-FA8E-4854-ADB2-7922007B83D1}" type="sibTrans" cxnId="{EA8359A4-957B-4532-AA40-499933C94485}">
      <dgm:prSet/>
      <dgm:spPr/>
      <dgm:t>
        <a:bodyPr/>
        <a:lstStyle/>
        <a:p>
          <a:endParaRPr lang="en-GB"/>
        </a:p>
      </dgm:t>
    </dgm:pt>
    <dgm:pt modelId="{D156F1DB-DDB7-42A1-9692-D2ED23A40838}">
      <dgm:prSet/>
      <dgm:spPr/>
      <dgm:t>
        <a:bodyPr/>
        <a:lstStyle/>
        <a:p>
          <a:r>
            <a:rPr lang="en-GB" dirty="0" err="1"/>
            <a:t>Patogénicas</a:t>
          </a:r>
          <a:endParaRPr lang="en-GB" dirty="0"/>
        </a:p>
      </dgm:t>
    </dgm:pt>
    <dgm:pt modelId="{A73E0E48-084C-4EA9-9D81-075B83451D3C}" type="parTrans" cxnId="{ED99E9FC-746D-4A29-9D91-4AF77F23395C}">
      <dgm:prSet/>
      <dgm:spPr/>
      <dgm:t>
        <a:bodyPr/>
        <a:lstStyle/>
        <a:p>
          <a:endParaRPr lang="en-GB"/>
        </a:p>
      </dgm:t>
    </dgm:pt>
    <dgm:pt modelId="{4A54883B-7F50-4041-913B-1A819CFD7286}" type="sibTrans" cxnId="{ED99E9FC-746D-4A29-9D91-4AF77F23395C}">
      <dgm:prSet/>
      <dgm:spPr/>
      <dgm:t>
        <a:bodyPr/>
        <a:lstStyle/>
        <a:p>
          <a:endParaRPr lang="en-GB"/>
        </a:p>
      </dgm:t>
    </dgm:pt>
    <dgm:pt modelId="{DE57C8D1-D6DD-4D7B-B5C2-69B685BFF289}">
      <dgm:prSet/>
      <dgm:spPr/>
      <dgm:t>
        <a:bodyPr/>
        <a:lstStyle/>
        <a:p>
          <a:r>
            <a:rPr lang="en-GB" dirty="0" err="1"/>
            <a:t>Frequencias</a:t>
          </a:r>
          <a:r>
            <a:rPr lang="en-GB" dirty="0"/>
            <a:t> </a:t>
          </a:r>
          <a:r>
            <a:rPr lang="en-GB" dirty="0" err="1"/>
            <a:t>na</a:t>
          </a:r>
          <a:r>
            <a:rPr lang="en-GB" dirty="0"/>
            <a:t> </a:t>
          </a:r>
          <a:r>
            <a:rPr lang="en-GB" dirty="0" err="1"/>
            <a:t>população</a:t>
          </a:r>
          <a:r>
            <a:rPr lang="en-GB" dirty="0"/>
            <a:t> </a:t>
          </a:r>
          <a:r>
            <a:rPr lang="en-GB" dirty="0" err="1"/>
            <a:t>comum</a:t>
          </a:r>
          <a:endParaRPr lang="en-GB" dirty="0"/>
        </a:p>
      </dgm:t>
    </dgm:pt>
    <dgm:pt modelId="{12B937C4-6765-42FE-A472-6C4F494EB98F}" type="parTrans" cxnId="{242D20F3-38A3-41E0-90CA-42CDD509194B}">
      <dgm:prSet/>
      <dgm:spPr/>
      <dgm:t>
        <a:bodyPr/>
        <a:lstStyle/>
        <a:p>
          <a:endParaRPr lang="en-GB"/>
        </a:p>
      </dgm:t>
    </dgm:pt>
    <dgm:pt modelId="{5F6506F0-7103-42ED-A097-6928E3B88344}" type="sibTrans" cxnId="{242D20F3-38A3-41E0-90CA-42CDD509194B}">
      <dgm:prSet/>
      <dgm:spPr/>
      <dgm:t>
        <a:bodyPr/>
        <a:lstStyle/>
        <a:p>
          <a:endParaRPr lang="en-GB"/>
        </a:p>
      </dgm:t>
    </dgm:pt>
    <dgm:pt modelId="{796EED81-BE94-4577-A3F6-86E7DF7F9771}">
      <dgm:prSet/>
      <dgm:spPr/>
      <dgm:t>
        <a:bodyPr/>
        <a:lstStyle/>
        <a:p>
          <a:r>
            <a:rPr lang="en-GB" dirty="0"/>
            <a:t>Caso-</a:t>
          </a:r>
          <a:r>
            <a:rPr lang="en-GB" dirty="0" err="1"/>
            <a:t>Controlo</a:t>
          </a:r>
          <a:endParaRPr lang="en-GB" dirty="0"/>
        </a:p>
      </dgm:t>
    </dgm:pt>
    <dgm:pt modelId="{6738695B-211B-477D-A955-26C59B36506E}" type="parTrans" cxnId="{160233CF-B109-4648-8178-18F6E8659A43}">
      <dgm:prSet/>
      <dgm:spPr/>
      <dgm:t>
        <a:bodyPr/>
        <a:lstStyle/>
        <a:p>
          <a:endParaRPr lang="en-GB"/>
        </a:p>
      </dgm:t>
    </dgm:pt>
    <dgm:pt modelId="{121AEB93-D602-4053-93C4-72580A4C89B9}" type="sibTrans" cxnId="{160233CF-B109-4648-8178-18F6E8659A43}">
      <dgm:prSet/>
      <dgm:spPr/>
      <dgm:t>
        <a:bodyPr/>
        <a:lstStyle/>
        <a:p>
          <a:endParaRPr lang="en-GB"/>
        </a:p>
      </dgm:t>
    </dgm:pt>
    <dgm:pt modelId="{FD3A6B7C-0737-406C-B15E-66396D4F822C}" type="pres">
      <dgm:prSet presAssocID="{45E55848-F8AF-4B0F-88B7-AC3BCA0D616A}" presName="hierChild1" presStyleCnt="0">
        <dgm:presLayoutVars>
          <dgm:orgChart val="1"/>
          <dgm:chPref val="1"/>
          <dgm:dir/>
          <dgm:animOne val="branch"/>
          <dgm:animLvl val="lvl"/>
          <dgm:resizeHandles/>
        </dgm:presLayoutVars>
      </dgm:prSet>
      <dgm:spPr/>
    </dgm:pt>
    <dgm:pt modelId="{8DD93773-09B1-43F4-B8D7-120B7C1B5EFC}" type="pres">
      <dgm:prSet presAssocID="{A9169FB0-36DF-4EA4-ADDA-B1648FB1568F}" presName="hierRoot1" presStyleCnt="0">
        <dgm:presLayoutVars>
          <dgm:hierBranch val="init"/>
        </dgm:presLayoutVars>
      </dgm:prSet>
      <dgm:spPr/>
    </dgm:pt>
    <dgm:pt modelId="{FEF87E16-F46A-498B-82A5-13351B1F0DA4}" type="pres">
      <dgm:prSet presAssocID="{A9169FB0-36DF-4EA4-ADDA-B1648FB1568F}" presName="rootComposite1" presStyleCnt="0"/>
      <dgm:spPr/>
    </dgm:pt>
    <dgm:pt modelId="{49B09BC7-7615-4E9D-A893-E9A86F51C764}" type="pres">
      <dgm:prSet presAssocID="{A9169FB0-36DF-4EA4-ADDA-B1648FB1568F}" presName="rootText1" presStyleLbl="node0" presStyleIdx="0" presStyleCnt="1" custScaleX="430966" custScaleY="66001">
        <dgm:presLayoutVars>
          <dgm:chPref val="3"/>
        </dgm:presLayoutVars>
      </dgm:prSet>
      <dgm:spPr/>
    </dgm:pt>
    <dgm:pt modelId="{576A0666-B6EA-417E-BC95-709E8DF962A1}" type="pres">
      <dgm:prSet presAssocID="{A9169FB0-36DF-4EA4-ADDA-B1648FB1568F}" presName="rootConnector1" presStyleLbl="node1" presStyleIdx="0" presStyleCnt="0"/>
      <dgm:spPr/>
    </dgm:pt>
    <dgm:pt modelId="{63B62CFB-4817-4562-B4A8-8EA23F331ABF}" type="pres">
      <dgm:prSet presAssocID="{A9169FB0-36DF-4EA4-ADDA-B1648FB1568F}" presName="hierChild2" presStyleCnt="0"/>
      <dgm:spPr/>
    </dgm:pt>
    <dgm:pt modelId="{1BE1DE5C-B27A-4231-A520-8B211E7E4AFA}" type="pres">
      <dgm:prSet presAssocID="{2ECD56FD-922E-4F71-99F7-47F8958BD806}" presName="Name37" presStyleLbl="parChTrans1D2" presStyleIdx="0" presStyleCnt="3"/>
      <dgm:spPr/>
    </dgm:pt>
    <dgm:pt modelId="{BC974C16-BBF1-40E2-98F2-2B812EB43E6C}" type="pres">
      <dgm:prSet presAssocID="{0FCE6831-E02A-4494-A10B-DD1CDDDD2F8C}" presName="hierRoot2" presStyleCnt="0">
        <dgm:presLayoutVars>
          <dgm:hierBranch val="init"/>
        </dgm:presLayoutVars>
      </dgm:prSet>
      <dgm:spPr/>
    </dgm:pt>
    <dgm:pt modelId="{8D7E3C97-C443-4E3F-AB26-A02D154B2583}" type="pres">
      <dgm:prSet presAssocID="{0FCE6831-E02A-4494-A10B-DD1CDDDD2F8C}" presName="rootComposite" presStyleCnt="0"/>
      <dgm:spPr/>
    </dgm:pt>
    <dgm:pt modelId="{F556274D-A093-4D10-8937-65DAF0795F1D}" type="pres">
      <dgm:prSet presAssocID="{0FCE6831-E02A-4494-A10B-DD1CDDDD2F8C}" presName="rootText" presStyleLbl="node2" presStyleIdx="0" presStyleCnt="3">
        <dgm:presLayoutVars>
          <dgm:chPref val="3"/>
        </dgm:presLayoutVars>
      </dgm:prSet>
      <dgm:spPr/>
    </dgm:pt>
    <dgm:pt modelId="{211BEC5B-8C4F-4ED5-AD8A-97A33030B336}" type="pres">
      <dgm:prSet presAssocID="{0FCE6831-E02A-4494-A10B-DD1CDDDD2F8C}" presName="rootConnector" presStyleLbl="node2" presStyleIdx="0" presStyleCnt="3"/>
      <dgm:spPr/>
    </dgm:pt>
    <dgm:pt modelId="{1C0C223C-481A-4397-94DE-FBA7C0854FC8}" type="pres">
      <dgm:prSet presAssocID="{0FCE6831-E02A-4494-A10B-DD1CDDDD2F8C}" presName="hierChild4" presStyleCnt="0"/>
      <dgm:spPr/>
    </dgm:pt>
    <dgm:pt modelId="{6ADB3A76-266D-4339-BA06-46BB9DC9491F}" type="pres">
      <dgm:prSet presAssocID="{A474CD5D-DB79-4D41-A371-F2EECA1999FE}" presName="Name37" presStyleLbl="parChTrans1D3" presStyleIdx="0" presStyleCnt="2"/>
      <dgm:spPr/>
    </dgm:pt>
    <dgm:pt modelId="{2FC9EEDF-279F-4A10-83E3-A93624A67229}" type="pres">
      <dgm:prSet presAssocID="{99DD0981-45A4-44F8-82DF-A8C84AA44A0B}" presName="hierRoot2" presStyleCnt="0">
        <dgm:presLayoutVars>
          <dgm:hierBranch val="init"/>
        </dgm:presLayoutVars>
      </dgm:prSet>
      <dgm:spPr/>
    </dgm:pt>
    <dgm:pt modelId="{92E90472-CFAB-4B1E-BA6B-46CD8D71F6DF}" type="pres">
      <dgm:prSet presAssocID="{99DD0981-45A4-44F8-82DF-A8C84AA44A0B}" presName="rootComposite" presStyleCnt="0"/>
      <dgm:spPr/>
    </dgm:pt>
    <dgm:pt modelId="{2E4368B3-D46F-4C72-B2D5-E6BA6D433303}" type="pres">
      <dgm:prSet presAssocID="{99DD0981-45A4-44F8-82DF-A8C84AA44A0B}" presName="rootText" presStyleLbl="node3" presStyleIdx="0" presStyleCnt="2">
        <dgm:presLayoutVars>
          <dgm:chPref val="3"/>
        </dgm:presLayoutVars>
      </dgm:prSet>
      <dgm:spPr/>
    </dgm:pt>
    <dgm:pt modelId="{6F555795-08F1-4AD8-A8D0-4E0ECC21668A}" type="pres">
      <dgm:prSet presAssocID="{99DD0981-45A4-44F8-82DF-A8C84AA44A0B}" presName="rootConnector" presStyleLbl="node3" presStyleIdx="0" presStyleCnt="2"/>
      <dgm:spPr/>
    </dgm:pt>
    <dgm:pt modelId="{5380A805-C980-4D6E-90B9-C73C85932CAF}" type="pres">
      <dgm:prSet presAssocID="{99DD0981-45A4-44F8-82DF-A8C84AA44A0B}" presName="hierChild4" presStyleCnt="0"/>
      <dgm:spPr/>
    </dgm:pt>
    <dgm:pt modelId="{C369A252-2435-4439-8AA4-CF4FDA1CEAED}" type="pres">
      <dgm:prSet presAssocID="{12B937C4-6765-42FE-A472-6C4F494EB98F}" presName="Name37" presStyleLbl="parChTrans1D4" presStyleIdx="0" presStyleCnt="2"/>
      <dgm:spPr/>
    </dgm:pt>
    <dgm:pt modelId="{89BBADDF-F342-4058-A3F1-9698113D7F45}" type="pres">
      <dgm:prSet presAssocID="{DE57C8D1-D6DD-4D7B-B5C2-69B685BFF289}" presName="hierRoot2" presStyleCnt="0">
        <dgm:presLayoutVars>
          <dgm:hierBranch/>
        </dgm:presLayoutVars>
      </dgm:prSet>
      <dgm:spPr/>
    </dgm:pt>
    <dgm:pt modelId="{0902FD8D-77AB-45FA-B406-47D3D0F14B42}" type="pres">
      <dgm:prSet presAssocID="{DE57C8D1-D6DD-4D7B-B5C2-69B685BFF289}" presName="rootComposite" presStyleCnt="0"/>
      <dgm:spPr/>
    </dgm:pt>
    <dgm:pt modelId="{3A0C78A8-D739-48EB-B21B-E9E1A4897F6D}" type="pres">
      <dgm:prSet presAssocID="{DE57C8D1-D6DD-4D7B-B5C2-69B685BFF289}" presName="rootText" presStyleLbl="node4" presStyleIdx="0" presStyleCnt="2">
        <dgm:presLayoutVars>
          <dgm:chPref val="3"/>
        </dgm:presLayoutVars>
      </dgm:prSet>
      <dgm:spPr/>
    </dgm:pt>
    <dgm:pt modelId="{487BA683-1029-441F-987C-E91272980BC8}" type="pres">
      <dgm:prSet presAssocID="{DE57C8D1-D6DD-4D7B-B5C2-69B685BFF289}" presName="rootConnector" presStyleLbl="node4" presStyleIdx="0" presStyleCnt="2"/>
      <dgm:spPr/>
    </dgm:pt>
    <dgm:pt modelId="{04F0C527-C5F0-4FBE-B830-C36FFBBE172A}" type="pres">
      <dgm:prSet presAssocID="{DE57C8D1-D6DD-4D7B-B5C2-69B685BFF289}" presName="hierChild4" presStyleCnt="0"/>
      <dgm:spPr/>
    </dgm:pt>
    <dgm:pt modelId="{4BD3EC9D-FA5E-460C-8A85-F34D7F3F7471}" type="pres">
      <dgm:prSet presAssocID="{DE57C8D1-D6DD-4D7B-B5C2-69B685BFF289}" presName="hierChild5" presStyleCnt="0"/>
      <dgm:spPr/>
    </dgm:pt>
    <dgm:pt modelId="{B72DC5BA-0D9E-4414-8198-9107454FF75A}" type="pres">
      <dgm:prSet presAssocID="{6738695B-211B-477D-A955-26C59B36506E}" presName="Name37" presStyleLbl="parChTrans1D4" presStyleIdx="1" presStyleCnt="2"/>
      <dgm:spPr/>
    </dgm:pt>
    <dgm:pt modelId="{A66F90ED-C984-435A-AA28-33640949911F}" type="pres">
      <dgm:prSet presAssocID="{796EED81-BE94-4577-A3F6-86E7DF7F9771}" presName="hierRoot2" presStyleCnt="0">
        <dgm:presLayoutVars>
          <dgm:hierBranch val="init"/>
        </dgm:presLayoutVars>
      </dgm:prSet>
      <dgm:spPr/>
    </dgm:pt>
    <dgm:pt modelId="{5B14B48F-FD76-481E-97B8-630EE8AB628C}" type="pres">
      <dgm:prSet presAssocID="{796EED81-BE94-4577-A3F6-86E7DF7F9771}" presName="rootComposite" presStyleCnt="0"/>
      <dgm:spPr/>
    </dgm:pt>
    <dgm:pt modelId="{C0BA785B-3D48-424C-A862-41D55F22C3F9}" type="pres">
      <dgm:prSet presAssocID="{796EED81-BE94-4577-A3F6-86E7DF7F9771}" presName="rootText" presStyleLbl="node4" presStyleIdx="1" presStyleCnt="2">
        <dgm:presLayoutVars>
          <dgm:chPref val="3"/>
        </dgm:presLayoutVars>
      </dgm:prSet>
      <dgm:spPr/>
    </dgm:pt>
    <dgm:pt modelId="{69351482-84A9-41D1-A886-62B659AAFDCE}" type="pres">
      <dgm:prSet presAssocID="{796EED81-BE94-4577-A3F6-86E7DF7F9771}" presName="rootConnector" presStyleLbl="node4" presStyleIdx="1" presStyleCnt="2"/>
      <dgm:spPr/>
    </dgm:pt>
    <dgm:pt modelId="{0EE3FA5C-B33F-4056-B203-475E451983EE}" type="pres">
      <dgm:prSet presAssocID="{796EED81-BE94-4577-A3F6-86E7DF7F9771}" presName="hierChild4" presStyleCnt="0"/>
      <dgm:spPr/>
    </dgm:pt>
    <dgm:pt modelId="{A83CAE53-ED42-4A6E-B5EF-140B9BD2AC2B}" type="pres">
      <dgm:prSet presAssocID="{796EED81-BE94-4577-A3F6-86E7DF7F9771}" presName="hierChild5" presStyleCnt="0"/>
      <dgm:spPr/>
    </dgm:pt>
    <dgm:pt modelId="{A4857731-F81E-46C0-9864-B7ADCCD2F6AB}" type="pres">
      <dgm:prSet presAssocID="{99DD0981-45A4-44F8-82DF-A8C84AA44A0B}" presName="hierChild5" presStyleCnt="0"/>
      <dgm:spPr/>
    </dgm:pt>
    <dgm:pt modelId="{DAB894D1-8D71-4E61-8C05-7338F24E5EE3}" type="pres">
      <dgm:prSet presAssocID="{A73E0E48-084C-4EA9-9D81-075B83451D3C}" presName="Name37" presStyleLbl="parChTrans1D3" presStyleIdx="1" presStyleCnt="2"/>
      <dgm:spPr/>
    </dgm:pt>
    <dgm:pt modelId="{CB4261EE-8DAB-40B2-8E48-B39053D12B5A}" type="pres">
      <dgm:prSet presAssocID="{D156F1DB-DDB7-42A1-9692-D2ED23A40838}" presName="hierRoot2" presStyleCnt="0">
        <dgm:presLayoutVars>
          <dgm:hierBranch val="init"/>
        </dgm:presLayoutVars>
      </dgm:prSet>
      <dgm:spPr/>
    </dgm:pt>
    <dgm:pt modelId="{A5973C7C-0740-4072-9C98-46D1BD068C1C}" type="pres">
      <dgm:prSet presAssocID="{D156F1DB-DDB7-42A1-9692-D2ED23A40838}" presName="rootComposite" presStyleCnt="0"/>
      <dgm:spPr/>
    </dgm:pt>
    <dgm:pt modelId="{57A8B4DB-60FF-4A9F-907E-B7AEE8EBF3C7}" type="pres">
      <dgm:prSet presAssocID="{D156F1DB-DDB7-42A1-9692-D2ED23A40838}" presName="rootText" presStyleLbl="node3" presStyleIdx="1" presStyleCnt="2">
        <dgm:presLayoutVars>
          <dgm:chPref val="3"/>
        </dgm:presLayoutVars>
      </dgm:prSet>
      <dgm:spPr/>
    </dgm:pt>
    <dgm:pt modelId="{F5E98F0C-E5FE-44FF-A633-43A04654070B}" type="pres">
      <dgm:prSet presAssocID="{D156F1DB-DDB7-42A1-9692-D2ED23A40838}" presName="rootConnector" presStyleLbl="node3" presStyleIdx="1" presStyleCnt="2"/>
      <dgm:spPr/>
    </dgm:pt>
    <dgm:pt modelId="{FF793543-DA82-421D-A8D7-820A74350CDA}" type="pres">
      <dgm:prSet presAssocID="{D156F1DB-DDB7-42A1-9692-D2ED23A40838}" presName="hierChild4" presStyleCnt="0"/>
      <dgm:spPr/>
    </dgm:pt>
    <dgm:pt modelId="{CAB75E3C-1E74-4124-8B5A-CC25A6511D13}" type="pres">
      <dgm:prSet presAssocID="{D156F1DB-DDB7-42A1-9692-D2ED23A40838}" presName="hierChild5" presStyleCnt="0"/>
      <dgm:spPr/>
    </dgm:pt>
    <dgm:pt modelId="{3C8B8B3C-5C4C-4647-8ACA-CB2961D8C8F9}" type="pres">
      <dgm:prSet presAssocID="{0FCE6831-E02A-4494-A10B-DD1CDDDD2F8C}" presName="hierChild5" presStyleCnt="0"/>
      <dgm:spPr/>
    </dgm:pt>
    <dgm:pt modelId="{5129E410-246F-4F53-884A-9E335F13B781}" type="pres">
      <dgm:prSet presAssocID="{DE5AE774-FC27-4CFE-8865-1256D8141A30}" presName="Name37" presStyleLbl="parChTrans1D2" presStyleIdx="1" presStyleCnt="3"/>
      <dgm:spPr/>
    </dgm:pt>
    <dgm:pt modelId="{444568BF-2E00-4080-AC44-574281DD3326}" type="pres">
      <dgm:prSet presAssocID="{3E552D8B-5DDF-43BE-AD95-CE8CB42208BD}" presName="hierRoot2" presStyleCnt="0">
        <dgm:presLayoutVars>
          <dgm:hierBranch val="init"/>
        </dgm:presLayoutVars>
      </dgm:prSet>
      <dgm:spPr/>
    </dgm:pt>
    <dgm:pt modelId="{948D198F-BB9A-4669-B37A-BD8CF8E1D79F}" type="pres">
      <dgm:prSet presAssocID="{3E552D8B-5DDF-43BE-AD95-CE8CB42208BD}" presName="rootComposite" presStyleCnt="0"/>
      <dgm:spPr/>
    </dgm:pt>
    <dgm:pt modelId="{3FFB847E-6285-45A6-B21E-E385D9D1255B}" type="pres">
      <dgm:prSet presAssocID="{3E552D8B-5DDF-43BE-AD95-CE8CB42208BD}" presName="rootText" presStyleLbl="node2" presStyleIdx="1" presStyleCnt="3">
        <dgm:presLayoutVars>
          <dgm:chPref val="3"/>
        </dgm:presLayoutVars>
      </dgm:prSet>
      <dgm:spPr/>
    </dgm:pt>
    <dgm:pt modelId="{9D0D5FAA-7B6C-4029-A63D-384C91E826AE}" type="pres">
      <dgm:prSet presAssocID="{3E552D8B-5DDF-43BE-AD95-CE8CB42208BD}" presName="rootConnector" presStyleLbl="node2" presStyleIdx="1" presStyleCnt="3"/>
      <dgm:spPr/>
    </dgm:pt>
    <dgm:pt modelId="{2AE2E442-8029-4C9C-A8B1-F1FD42991573}" type="pres">
      <dgm:prSet presAssocID="{3E552D8B-5DDF-43BE-AD95-CE8CB42208BD}" presName="hierChild4" presStyleCnt="0"/>
      <dgm:spPr/>
    </dgm:pt>
    <dgm:pt modelId="{5FF9DF8D-359C-40DE-AF8B-EBC640F80CC0}" type="pres">
      <dgm:prSet presAssocID="{3E552D8B-5DDF-43BE-AD95-CE8CB42208BD}" presName="hierChild5" presStyleCnt="0"/>
      <dgm:spPr/>
    </dgm:pt>
    <dgm:pt modelId="{82DE124B-661D-4D73-AD88-AFD780BE8DC4}" type="pres">
      <dgm:prSet presAssocID="{201A7454-0B71-4012-8923-44A855CDB510}" presName="Name37" presStyleLbl="parChTrans1D2" presStyleIdx="2" presStyleCnt="3"/>
      <dgm:spPr/>
    </dgm:pt>
    <dgm:pt modelId="{3702E60B-ED87-4216-BD98-52DF82C36AA9}" type="pres">
      <dgm:prSet presAssocID="{B770FFC2-27C3-49EF-9DC5-46673995E937}" presName="hierRoot2" presStyleCnt="0">
        <dgm:presLayoutVars>
          <dgm:hierBranch val="init"/>
        </dgm:presLayoutVars>
      </dgm:prSet>
      <dgm:spPr/>
    </dgm:pt>
    <dgm:pt modelId="{F3040112-7B89-4EC1-9EF7-55D425E89ED7}" type="pres">
      <dgm:prSet presAssocID="{B770FFC2-27C3-49EF-9DC5-46673995E937}" presName="rootComposite" presStyleCnt="0"/>
      <dgm:spPr/>
    </dgm:pt>
    <dgm:pt modelId="{B083AD21-3DFE-40C4-9EC3-0D89AA01FE8C}" type="pres">
      <dgm:prSet presAssocID="{B770FFC2-27C3-49EF-9DC5-46673995E937}" presName="rootText" presStyleLbl="node2" presStyleIdx="2" presStyleCnt="3">
        <dgm:presLayoutVars>
          <dgm:chPref val="3"/>
        </dgm:presLayoutVars>
      </dgm:prSet>
      <dgm:spPr/>
    </dgm:pt>
    <dgm:pt modelId="{530071D1-F13A-40C3-985E-F1679C0D9B6F}" type="pres">
      <dgm:prSet presAssocID="{B770FFC2-27C3-49EF-9DC5-46673995E937}" presName="rootConnector" presStyleLbl="node2" presStyleIdx="2" presStyleCnt="3"/>
      <dgm:spPr/>
    </dgm:pt>
    <dgm:pt modelId="{D8A98C0C-9F54-4449-94AB-325E264CF524}" type="pres">
      <dgm:prSet presAssocID="{B770FFC2-27C3-49EF-9DC5-46673995E937}" presName="hierChild4" presStyleCnt="0"/>
      <dgm:spPr/>
    </dgm:pt>
    <dgm:pt modelId="{6C02FCA8-B18A-444E-B13A-A0E39CFCC2AC}" type="pres">
      <dgm:prSet presAssocID="{B770FFC2-27C3-49EF-9DC5-46673995E937}" presName="hierChild5" presStyleCnt="0"/>
      <dgm:spPr/>
    </dgm:pt>
    <dgm:pt modelId="{A43B9C09-8775-4439-B07F-0DD4EDA5A6F2}" type="pres">
      <dgm:prSet presAssocID="{A9169FB0-36DF-4EA4-ADDA-B1648FB1568F}" presName="hierChild3" presStyleCnt="0"/>
      <dgm:spPr/>
    </dgm:pt>
  </dgm:ptLst>
  <dgm:cxnLst>
    <dgm:cxn modelId="{B18ACC03-D65F-450B-8DC5-C4B0E92968E1}" type="presOf" srcId="{A9169FB0-36DF-4EA4-ADDA-B1648FB1568F}" destId="{576A0666-B6EA-417E-BC95-709E8DF962A1}" srcOrd="1" destOrd="0" presId="urn:microsoft.com/office/officeart/2005/8/layout/orgChart1"/>
    <dgm:cxn modelId="{B9508304-EE09-4FD6-8352-E5B25F6425CD}" type="presOf" srcId="{201A7454-0B71-4012-8923-44A855CDB510}" destId="{82DE124B-661D-4D73-AD88-AFD780BE8DC4}" srcOrd="0" destOrd="0" presId="urn:microsoft.com/office/officeart/2005/8/layout/orgChart1"/>
    <dgm:cxn modelId="{3B5DD823-23CF-4EEF-8C2F-63BE2DC3B378}" type="presOf" srcId="{3E552D8B-5DDF-43BE-AD95-CE8CB42208BD}" destId="{3FFB847E-6285-45A6-B21E-E385D9D1255B}" srcOrd="0" destOrd="0" presId="urn:microsoft.com/office/officeart/2005/8/layout/orgChart1"/>
    <dgm:cxn modelId="{D8F95D24-928E-4E14-8892-B8FA96F2871F}" type="presOf" srcId="{0FCE6831-E02A-4494-A10B-DD1CDDDD2F8C}" destId="{211BEC5B-8C4F-4ED5-AD8A-97A33030B336}" srcOrd="1" destOrd="0" presId="urn:microsoft.com/office/officeart/2005/8/layout/orgChart1"/>
    <dgm:cxn modelId="{F44EEF2C-CB1A-47DD-8AB6-29CAE736439B}" type="presOf" srcId="{3E552D8B-5DDF-43BE-AD95-CE8CB42208BD}" destId="{9D0D5FAA-7B6C-4029-A63D-384C91E826AE}" srcOrd="1" destOrd="0" presId="urn:microsoft.com/office/officeart/2005/8/layout/orgChart1"/>
    <dgm:cxn modelId="{C2F40B30-FEA0-423E-AAB6-6EC1810901FF}" srcId="{A9169FB0-36DF-4EA4-ADDA-B1648FB1568F}" destId="{3E552D8B-5DDF-43BE-AD95-CE8CB42208BD}" srcOrd="1" destOrd="0" parTransId="{DE5AE774-FC27-4CFE-8865-1256D8141A30}" sibTransId="{EC9D7A7D-3ED6-4CC4-81AC-9964C16E4E1E}"/>
    <dgm:cxn modelId="{19E17C30-7364-4183-96FD-BDC5BB8B664F}" type="presOf" srcId="{DE57C8D1-D6DD-4D7B-B5C2-69B685BFF289}" destId="{487BA683-1029-441F-987C-E91272980BC8}" srcOrd="1" destOrd="0" presId="urn:microsoft.com/office/officeart/2005/8/layout/orgChart1"/>
    <dgm:cxn modelId="{B453C360-74CB-40AF-B55C-B8C1047D60BC}" type="presOf" srcId="{A474CD5D-DB79-4D41-A371-F2EECA1999FE}" destId="{6ADB3A76-266D-4339-BA06-46BB9DC9491F}" srcOrd="0" destOrd="0" presId="urn:microsoft.com/office/officeart/2005/8/layout/orgChart1"/>
    <dgm:cxn modelId="{2C5C1247-B492-4664-B95C-ADF795672DB3}" type="presOf" srcId="{2ECD56FD-922E-4F71-99F7-47F8958BD806}" destId="{1BE1DE5C-B27A-4231-A520-8B211E7E4AFA}" srcOrd="0" destOrd="0" presId="urn:microsoft.com/office/officeart/2005/8/layout/orgChart1"/>
    <dgm:cxn modelId="{BC0A3B6D-0356-46A5-9A5E-8445F90BBD52}" type="presOf" srcId="{D156F1DB-DDB7-42A1-9692-D2ED23A40838}" destId="{57A8B4DB-60FF-4A9F-907E-B7AEE8EBF3C7}" srcOrd="0" destOrd="0" presId="urn:microsoft.com/office/officeart/2005/8/layout/orgChart1"/>
    <dgm:cxn modelId="{A628886E-8A79-4B43-B3F0-8D6133B354A5}" type="presOf" srcId="{796EED81-BE94-4577-A3F6-86E7DF7F9771}" destId="{C0BA785B-3D48-424C-A862-41D55F22C3F9}" srcOrd="0" destOrd="0" presId="urn:microsoft.com/office/officeart/2005/8/layout/orgChart1"/>
    <dgm:cxn modelId="{18A44B7C-4C1C-416E-820F-BCFD96F968BF}" type="presOf" srcId="{DE5AE774-FC27-4CFE-8865-1256D8141A30}" destId="{5129E410-246F-4F53-884A-9E335F13B781}" srcOrd="0" destOrd="0" presId="urn:microsoft.com/office/officeart/2005/8/layout/orgChart1"/>
    <dgm:cxn modelId="{4A2B7181-7C16-4453-BFF2-D8A47D511ED9}" type="presOf" srcId="{99DD0981-45A4-44F8-82DF-A8C84AA44A0B}" destId="{6F555795-08F1-4AD8-A8D0-4E0ECC21668A}" srcOrd="1" destOrd="0" presId="urn:microsoft.com/office/officeart/2005/8/layout/orgChart1"/>
    <dgm:cxn modelId="{4037FE8B-54B1-4A48-AB85-F8DB74C9CDF1}" type="presOf" srcId="{A9169FB0-36DF-4EA4-ADDA-B1648FB1568F}" destId="{49B09BC7-7615-4E9D-A893-E9A86F51C764}" srcOrd="0" destOrd="0" presId="urn:microsoft.com/office/officeart/2005/8/layout/orgChart1"/>
    <dgm:cxn modelId="{9B75618E-9F08-49E2-8176-018E11521064}" srcId="{45E55848-F8AF-4B0F-88B7-AC3BCA0D616A}" destId="{A9169FB0-36DF-4EA4-ADDA-B1648FB1568F}" srcOrd="0" destOrd="0" parTransId="{583A5016-441B-43D4-8D9E-0E74EF5AFA31}" sibTransId="{6A0DB33B-9A88-4B7A-93A4-F4A23D18DDAF}"/>
    <dgm:cxn modelId="{F5A91B94-BFAA-4DF3-AA37-77D63501A6EE}" type="presOf" srcId="{0FCE6831-E02A-4494-A10B-DD1CDDDD2F8C}" destId="{F556274D-A093-4D10-8937-65DAF0795F1D}" srcOrd="0" destOrd="0" presId="urn:microsoft.com/office/officeart/2005/8/layout/orgChart1"/>
    <dgm:cxn modelId="{EA8359A4-957B-4532-AA40-499933C94485}" srcId="{0FCE6831-E02A-4494-A10B-DD1CDDDD2F8C}" destId="{99DD0981-45A4-44F8-82DF-A8C84AA44A0B}" srcOrd="0" destOrd="0" parTransId="{A474CD5D-DB79-4D41-A371-F2EECA1999FE}" sibTransId="{5B1FDE69-FA8E-4854-ADB2-7922007B83D1}"/>
    <dgm:cxn modelId="{4DA92FB1-975F-4B7D-B089-5A9C5ECD4E21}" type="presOf" srcId="{D156F1DB-DDB7-42A1-9692-D2ED23A40838}" destId="{F5E98F0C-E5FE-44FF-A633-43A04654070B}" srcOrd="1" destOrd="0" presId="urn:microsoft.com/office/officeart/2005/8/layout/orgChart1"/>
    <dgm:cxn modelId="{50E5C2B2-4EF3-497C-84B0-58109FCAADDF}" srcId="{A9169FB0-36DF-4EA4-ADDA-B1648FB1568F}" destId="{B770FFC2-27C3-49EF-9DC5-46673995E937}" srcOrd="2" destOrd="0" parTransId="{201A7454-0B71-4012-8923-44A855CDB510}" sibTransId="{254FD20D-6B9C-4A35-9FEC-9AE903A1A3E9}"/>
    <dgm:cxn modelId="{3E1796B6-9F4F-44F5-9D14-6F61A42140BC}" type="presOf" srcId="{B770FFC2-27C3-49EF-9DC5-46673995E937}" destId="{530071D1-F13A-40C3-985E-F1679C0D9B6F}" srcOrd="1" destOrd="0" presId="urn:microsoft.com/office/officeart/2005/8/layout/orgChart1"/>
    <dgm:cxn modelId="{D9ACF7BA-7BFC-463F-A652-4355B6D50045}" type="presOf" srcId="{45E55848-F8AF-4B0F-88B7-AC3BCA0D616A}" destId="{FD3A6B7C-0737-406C-B15E-66396D4F822C}" srcOrd="0" destOrd="0" presId="urn:microsoft.com/office/officeart/2005/8/layout/orgChart1"/>
    <dgm:cxn modelId="{E11172BE-2BD2-45CC-8A94-2378CDD1849F}" type="presOf" srcId="{12B937C4-6765-42FE-A472-6C4F494EB98F}" destId="{C369A252-2435-4439-8AA4-CF4FDA1CEAED}" srcOrd="0" destOrd="0" presId="urn:microsoft.com/office/officeart/2005/8/layout/orgChart1"/>
    <dgm:cxn modelId="{06F895BE-A39B-4906-9167-4889F81D2D31}" srcId="{A9169FB0-36DF-4EA4-ADDA-B1648FB1568F}" destId="{0FCE6831-E02A-4494-A10B-DD1CDDDD2F8C}" srcOrd="0" destOrd="0" parTransId="{2ECD56FD-922E-4F71-99F7-47F8958BD806}" sibTransId="{D430CEBB-2104-4640-8C98-7FA88E1B91D4}"/>
    <dgm:cxn modelId="{254D04BF-3A3B-4F77-8A54-4419BBCAFF77}" type="presOf" srcId="{A73E0E48-084C-4EA9-9D81-075B83451D3C}" destId="{DAB894D1-8D71-4E61-8C05-7338F24E5EE3}" srcOrd="0" destOrd="0" presId="urn:microsoft.com/office/officeart/2005/8/layout/orgChart1"/>
    <dgm:cxn modelId="{160233CF-B109-4648-8178-18F6E8659A43}" srcId="{99DD0981-45A4-44F8-82DF-A8C84AA44A0B}" destId="{796EED81-BE94-4577-A3F6-86E7DF7F9771}" srcOrd="1" destOrd="0" parTransId="{6738695B-211B-477D-A955-26C59B36506E}" sibTransId="{121AEB93-D602-4053-93C4-72580A4C89B9}"/>
    <dgm:cxn modelId="{51D985D8-A79C-4F5B-B239-4BF9AE5AE689}" type="presOf" srcId="{796EED81-BE94-4577-A3F6-86E7DF7F9771}" destId="{69351482-84A9-41D1-A886-62B659AAFDCE}" srcOrd="1" destOrd="0" presId="urn:microsoft.com/office/officeart/2005/8/layout/orgChart1"/>
    <dgm:cxn modelId="{2A18D3E6-8541-4CF3-B5F7-AF139CC4F151}" type="presOf" srcId="{B770FFC2-27C3-49EF-9DC5-46673995E937}" destId="{B083AD21-3DFE-40C4-9EC3-0D89AA01FE8C}" srcOrd="0" destOrd="0" presId="urn:microsoft.com/office/officeart/2005/8/layout/orgChart1"/>
    <dgm:cxn modelId="{CD537BEA-29A4-4FED-BB02-0581BB52BA0B}" type="presOf" srcId="{99DD0981-45A4-44F8-82DF-A8C84AA44A0B}" destId="{2E4368B3-D46F-4C72-B2D5-E6BA6D433303}" srcOrd="0" destOrd="0" presId="urn:microsoft.com/office/officeart/2005/8/layout/orgChart1"/>
    <dgm:cxn modelId="{662BA5EA-4AF5-4A40-8A9F-6C00C2BF40BB}" type="presOf" srcId="{6738695B-211B-477D-A955-26C59B36506E}" destId="{B72DC5BA-0D9E-4414-8198-9107454FF75A}" srcOrd="0" destOrd="0" presId="urn:microsoft.com/office/officeart/2005/8/layout/orgChart1"/>
    <dgm:cxn modelId="{242D20F3-38A3-41E0-90CA-42CDD509194B}" srcId="{99DD0981-45A4-44F8-82DF-A8C84AA44A0B}" destId="{DE57C8D1-D6DD-4D7B-B5C2-69B685BFF289}" srcOrd="0" destOrd="0" parTransId="{12B937C4-6765-42FE-A472-6C4F494EB98F}" sibTransId="{5F6506F0-7103-42ED-A097-6928E3B88344}"/>
    <dgm:cxn modelId="{ED99E9FC-746D-4A29-9D91-4AF77F23395C}" srcId="{0FCE6831-E02A-4494-A10B-DD1CDDDD2F8C}" destId="{D156F1DB-DDB7-42A1-9692-D2ED23A40838}" srcOrd="1" destOrd="0" parTransId="{A73E0E48-084C-4EA9-9D81-075B83451D3C}" sibTransId="{4A54883B-7F50-4041-913B-1A819CFD7286}"/>
    <dgm:cxn modelId="{2E5F30FE-FDDC-4355-9839-ACB5807EE3C3}" type="presOf" srcId="{DE57C8D1-D6DD-4D7B-B5C2-69B685BFF289}" destId="{3A0C78A8-D739-48EB-B21B-E9E1A4897F6D}" srcOrd="0" destOrd="0" presId="urn:microsoft.com/office/officeart/2005/8/layout/orgChart1"/>
    <dgm:cxn modelId="{DA8F672E-748A-4322-9CB1-9BD504315077}" type="presParOf" srcId="{FD3A6B7C-0737-406C-B15E-66396D4F822C}" destId="{8DD93773-09B1-43F4-B8D7-120B7C1B5EFC}" srcOrd="0" destOrd="0" presId="urn:microsoft.com/office/officeart/2005/8/layout/orgChart1"/>
    <dgm:cxn modelId="{F9C0A999-4BFB-476A-876B-D94E96A5DA04}" type="presParOf" srcId="{8DD93773-09B1-43F4-B8D7-120B7C1B5EFC}" destId="{FEF87E16-F46A-498B-82A5-13351B1F0DA4}" srcOrd="0" destOrd="0" presId="urn:microsoft.com/office/officeart/2005/8/layout/orgChart1"/>
    <dgm:cxn modelId="{EBA03B58-DDA3-4BCB-B2A5-8F582AF09440}" type="presParOf" srcId="{FEF87E16-F46A-498B-82A5-13351B1F0DA4}" destId="{49B09BC7-7615-4E9D-A893-E9A86F51C764}" srcOrd="0" destOrd="0" presId="urn:microsoft.com/office/officeart/2005/8/layout/orgChart1"/>
    <dgm:cxn modelId="{23F26E6A-7538-4A8C-9BA1-5061F586951B}" type="presParOf" srcId="{FEF87E16-F46A-498B-82A5-13351B1F0DA4}" destId="{576A0666-B6EA-417E-BC95-709E8DF962A1}" srcOrd="1" destOrd="0" presId="urn:microsoft.com/office/officeart/2005/8/layout/orgChart1"/>
    <dgm:cxn modelId="{F4C23E75-F462-4F38-BBAD-9B0C966CC5A7}" type="presParOf" srcId="{8DD93773-09B1-43F4-B8D7-120B7C1B5EFC}" destId="{63B62CFB-4817-4562-B4A8-8EA23F331ABF}" srcOrd="1" destOrd="0" presId="urn:microsoft.com/office/officeart/2005/8/layout/orgChart1"/>
    <dgm:cxn modelId="{514A5BE2-FC30-40CC-8238-A03F5D454DA9}" type="presParOf" srcId="{63B62CFB-4817-4562-B4A8-8EA23F331ABF}" destId="{1BE1DE5C-B27A-4231-A520-8B211E7E4AFA}" srcOrd="0" destOrd="0" presId="urn:microsoft.com/office/officeart/2005/8/layout/orgChart1"/>
    <dgm:cxn modelId="{674FDD82-5BEE-4B96-8BD9-E68B8FA8C47E}" type="presParOf" srcId="{63B62CFB-4817-4562-B4A8-8EA23F331ABF}" destId="{BC974C16-BBF1-40E2-98F2-2B812EB43E6C}" srcOrd="1" destOrd="0" presId="urn:microsoft.com/office/officeart/2005/8/layout/orgChart1"/>
    <dgm:cxn modelId="{2B087273-98F4-4721-82C2-80D222542076}" type="presParOf" srcId="{BC974C16-BBF1-40E2-98F2-2B812EB43E6C}" destId="{8D7E3C97-C443-4E3F-AB26-A02D154B2583}" srcOrd="0" destOrd="0" presId="urn:microsoft.com/office/officeart/2005/8/layout/orgChart1"/>
    <dgm:cxn modelId="{F8B0081E-DFFE-44DE-A822-FFAB0C61488E}" type="presParOf" srcId="{8D7E3C97-C443-4E3F-AB26-A02D154B2583}" destId="{F556274D-A093-4D10-8937-65DAF0795F1D}" srcOrd="0" destOrd="0" presId="urn:microsoft.com/office/officeart/2005/8/layout/orgChart1"/>
    <dgm:cxn modelId="{11D8E656-4942-41A7-BD02-D11A5B96E461}" type="presParOf" srcId="{8D7E3C97-C443-4E3F-AB26-A02D154B2583}" destId="{211BEC5B-8C4F-4ED5-AD8A-97A33030B336}" srcOrd="1" destOrd="0" presId="urn:microsoft.com/office/officeart/2005/8/layout/orgChart1"/>
    <dgm:cxn modelId="{3220D724-6B76-401B-BC5C-CA0C2554E37D}" type="presParOf" srcId="{BC974C16-BBF1-40E2-98F2-2B812EB43E6C}" destId="{1C0C223C-481A-4397-94DE-FBA7C0854FC8}" srcOrd="1" destOrd="0" presId="urn:microsoft.com/office/officeart/2005/8/layout/orgChart1"/>
    <dgm:cxn modelId="{C51E603E-7D89-4430-AD2E-B6B346705CEB}" type="presParOf" srcId="{1C0C223C-481A-4397-94DE-FBA7C0854FC8}" destId="{6ADB3A76-266D-4339-BA06-46BB9DC9491F}" srcOrd="0" destOrd="0" presId="urn:microsoft.com/office/officeart/2005/8/layout/orgChart1"/>
    <dgm:cxn modelId="{BA4EF0F0-B247-403D-BA49-8AC65EB9F053}" type="presParOf" srcId="{1C0C223C-481A-4397-94DE-FBA7C0854FC8}" destId="{2FC9EEDF-279F-4A10-83E3-A93624A67229}" srcOrd="1" destOrd="0" presId="urn:microsoft.com/office/officeart/2005/8/layout/orgChart1"/>
    <dgm:cxn modelId="{BF2DD8D4-EA14-4B64-919E-D0B34FE81839}" type="presParOf" srcId="{2FC9EEDF-279F-4A10-83E3-A93624A67229}" destId="{92E90472-CFAB-4B1E-BA6B-46CD8D71F6DF}" srcOrd="0" destOrd="0" presId="urn:microsoft.com/office/officeart/2005/8/layout/orgChart1"/>
    <dgm:cxn modelId="{BBA19187-5D9B-451A-9B3A-5D98A3E78FDD}" type="presParOf" srcId="{92E90472-CFAB-4B1E-BA6B-46CD8D71F6DF}" destId="{2E4368B3-D46F-4C72-B2D5-E6BA6D433303}" srcOrd="0" destOrd="0" presId="urn:microsoft.com/office/officeart/2005/8/layout/orgChart1"/>
    <dgm:cxn modelId="{73A4F013-E0A6-437B-A2FB-7990143D81EB}" type="presParOf" srcId="{92E90472-CFAB-4B1E-BA6B-46CD8D71F6DF}" destId="{6F555795-08F1-4AD8-A8D0-4E0ECC21668A}" srcOrd="1" destOrd="0" presId="urn:microsoft.com/office/officeart/2005/8/layout/orgChart1"/>
    <dgm:cxn modelId="{C0A1AF9D-F6B4-4C13-BA33-5F36905C9145}" type="presParOf" srcId="{2FC9EEDF-279F-4A10-83E3-A93624A67229}" destId="{5380A805-C980-4D6E-90B9-C73C85932CAF}" srcOrd="1" destOrd="0" presId="urn:microsoft.com/office/officeart/2005/8/layout/orgChart1"/>
    <dgm:cxn modelId="{47A44DD9-0253-4B74-A5AD-812A25DA67A9}" type="presParOf" srcId="{5380A805-C980-4D6E-90B9-C73C85932CAF}" destId="{C369A252-2435-4439-8AA4-CF4FDA1CEAED}" srcOrd="0" destOrd="0" presId="urn:microsoft.com/office/officeart/2005/8/layout/orgChart1"/>
    <dgm:cxn modelId="{C1C1F2E6-0966-43BD-8B63-7673987EBBD1}" type="presParOf" srcId="{5380A805-C980-4D6E-90B9-C73C85932CAF}" destId="{89BBADDF-F342-4058-A3F1-9698113D7F45}" srcOrd="1" destOrd="0" presId="urn:microsoft.com/office/officeart/2005/8/layout/orgChart1"/>
    <dgm:cxn modelId="{C377600F-567A-4403-9B33-480AD648BB9D}" type="presParOf" srcId="{89BBADDF-F342-4058-A3F1-9698113D7F45}" destId="{0902FD8D-77AB-45FA-B406-47D3D0F14B42}" srcOrd="0" destOrd="0" presId="urn:microsoft.com/office/officeart/2005/8/layout/orgChart1"/>
    <dgm:cxn modelId="{4D079031-E37D-4DED-8E71-ACAF665B553F}" type="presParOf" srcId="{0902FD8D-77AB-45FA-B406-47D3D0F14B42}" destId="{3A0C78A8-D739-48EB-B21B-E9E1A4897F6D}" srcOrd="0" destOrd="0" presId="urn:microsoft.com/office/officeart/2005/8/layout/orgChart1"/>
    <dgm:cxn modelId="{6226A6B2-1FD0-4ECF-969B-CA79D4DE0432}" type="presParOf" srcId="{0902FD8D-77AB-45FA-B406-47D3D0F14B42}" destId="{487BA683-1029-441F-987C-E91272980BC8}" srcOrd="1" destOrd="0" presId="urn:microsoft.com/office/officeart/2005/8/layout/orgChart1"/>
    <dgm:cxn modelId="{B3D0C7B5-9C39-470E-9CEC-2DA3699DDBBA}" type="presParOf" srcId="{89BBADDF-F342-4058-A3F1-9698113D7F45}" destId="{04F0C527-C5F0-4FBE-B830-C36FFBBE172A}" srcOrd="1" destOrd="0" presId="urn:microsoft.com/office/officeart/2005/8/layout/orgChart1"/>
    <dgm:cxn modelId="{A4C84D76-9D3F-4AE4-8BAE-6F37DCA70624}" type="presParOf" srcId="{89BBADDF-F342-4058-A3F1-9698113D7F45}" destId="{4BD3EC9D-FA5E-460C-8A85-F34D7F3F7471}" srcOrd="2" destOrd="0" presId="urn:microsoft.com/office/officeart/2005/8/layout/orgChart1"/>
    <dgm:cxn modelId="{706C6FB6-EB38-4B31-A9D7-A2A64CACC4A9}" type="presParOf" srcId="{5380A805-C980-4D6E-90B9-C73C85932CAF}" destId="{B72DC5BA-0D9E-4414-8198-9107454FF75A}" srcOrd="2" destOrd="0" presId="urn:microsoft.com/office/officeart/2005/8/layout/orgChart1"/>
    <dgm:cxn modelId="{BBF556C6-C9B9-46A7-848B-8C2B411C663A}" type="presParOf" srcId="{5380A805-C980-4D6E-90B9-C73C85932CAF}" destId="{A66F90ED-C984-435A-AA28-33640949911F}" srcOrd="3" destOrd="0" presId="urn:microsoft.com/office/officeart/2005/8/layout/orgChart1"/>
    <dgm:cxn modelId="{4C8349AC-00D7-4851-A8EA-510DCCBF9AED}" type="presParOf" srcId="{A66F90ED-C984-435A-AA28-33640949911F}" destId="{5B14B48F-FD76-481E-97B8-630EE8AB628C}" srcOrd="0" destOrd="0" presId="urn:microsoft.com/office/officeart/2005/8/layout/orgChart1"/>
    <dgm:cxn modelId="{34678C85-8142-49F2-B479-495D99BD6662}" type="presParOf" srcId="{5B14B48F-FD76-481E-97B8-630EE8AB628C}" destId="{C0BA785B-3D48-424C-A862-41D55F22C3F9}" srcOrd="0" destOrd="0" presId="urn:microsoft.com/office/officeart/2005/8/layout/orgChart1"/>
    <dgm:cxn modelId="{6C19D9D0-64D3-46CC-86C2-BA5199E20CB3}" type="presParOf" srcId="{5B14B48F-FD76-481E-97B8-630EE8AB628C}" destId="{69351482-84A9-41D1-A886-62B659AAFDCE}" srcOrd="1" destOrd="0" presId="urn:microsoft.com/office/officeart/2005/8/layout/orgChart1"/>
    <dgm:cxn modelId="{4999BCF5-9542-463C-8CE0-4B5101BA5BCF}" type="presParOf" srcId="{A66F90ED-C984-435A-AA28-33640949911F}" destId="{0EE3FA5C-B33F-4056-B203-475E451983EE}" srcOrd="1" destOrd="0" presId="urn:microsoft.com/office/officeart/2005/8/layout/orgChart1"/>
    <dgm:cxn modelId="{857DBF76-F094-4BB6-9384-47107354A13C}" type="presParOf" srcId="{A66F90ED-C984-435A-AA28-33640949911F}" destId="{A83CAE53-ED42-4A6E-B5EF-140B9BD2AC2B}" srcOrd="2" destOrd="0" presId="urn:microsoft.com/office/officeart/2005/8/layout/orgChart1"/>
    <dgm:cxn modelId="{E1C857E9-540E-4E49-9CCA-3E3902BADF17}" type="presParOf" srcId="{2FC9EEDF-279F-4A10-83E3-A93624A67229}" destId="{A4857731-F81E-46C0-9864-B7ADCCD2F6AB}" srcOrd="2" destOrd="0" presId="urn:microsoft.com/office/officeart/2005/8/layout/orgChart1"/>
    <dgm:cxn modelId="{2BAA5DB2-D542-4473-85F3-6FF23648BF6A}" type="presParOf" srcId="{1C0C223C-481A-4397-94DE-FBA7C0854FC8}" destId="{DAB894D1-8D71-4E61-8C05-7338F24E5EE3}" srcOrd="2" destOrd="0" presId="urn:microsoft.com/office/officeart/2005/8/layout/orgChart1"/>
    <dgm:cxn modelId="{21FB76B8-D65B-4D92-91B4-D3B852DBD96C}" type="presParOf" srcId="{1C0C223C-481A-4397-94DE-FBA7C0854FC8}" destId="{CB4261EE-8DAB-40B2-8E48-B39053D12B5A}" srcOrd="3" destOrd="0" presId="urn:microsoft.com/office/officeart/2005/8/layout/orgChart1"/>
    <dgm:cxn modelId="{F2E1D4FE-3243-494A-8A14-5CED34D758A3}" type="presParOf" srcId="{CB4261EE-8DAB-40B2-8E48-B39053D12B5A}" destId="{A5973C7C-0740-4072-9C98-46D1BD068C1C}" srcOrd="0" destOrd="0" presId="urn:microsoft.com/office/officeart/2005/8/layout/orgChart1"/>
    <dgm:cxn modelId="{15E8735A-55A1-421A-AC27-5D131378FC34}" type="presParOf" srcId="{A5973C7C-0740-4072-9C98-46D1BD068C1C}" destId="{57A8B4DB-60FF-4A9F-907E-B7AEE8EBF3C7}" srcOrd="0" destOrd="0" presId="urn:microsoft.com/office/officeart/2005/8/layout/orgChart1"/>
    <dgm:cxn modelId="{B0D1792E-3180-4AA3-AAD7-CC3BDB72D0B8}" type="presParOf" srcId="{A5973C7C-0740-4072-9C98-46D1BD068C1C}" destId="{F5E98F0C-E5FE-44FF-A633-43A04654070B}" srcOrd="1" destOrd="0" presId="urn:microsoft.com/office/officeart/2005/8/layout/orgChart1"/>
    <dgm:cxn modelId="{6EDA9A30-6D9E-48F0-9851-C26FD36A33C9}" type="presParOf" srcId="{CB4261EE-8DAB-40B2-8E48-B39053D12B5A}" destId="{FF793543-DA82-421D-A8D7-820A74350CDA}" srcOrd="1" destOrd="0" presId="urn:microsoft.com/office/officeart/2005/8/layout/orgChart1"/>
    <dgm:cxn modelId="{F739C848-0348-49FF-8766-12299C87CE15}" type="presParOf" srcId="{CB4261EE-8DAB-40B2-8E48-B39053D12B5A}" destId="{CAB75E3C-1E74-4124-8B5A-CC25A6511D13}" srcOrd="2" destOrd="0" presId="urn:microsoft.com/office/officeart/2005/8/layout/orgChart1"/>
    <dgm:cxn modelId="{C5F94DEE-F081-4681-8486-FE7B12DA8F15}" type="presParOf" srcId="{BC974C16-BBF1-40E2-98F2-2B812EB43E6C}" destId="{3C8B8B3C-5C4C-4647-8ACA-CB2961D8C8F9}" srcOrd="2" destOrd="0" presId="urn:microsoft.com/office/officeart/2005/8/layout/orgChart1"/>
    <dgm:cxn modelId="{087DA144-D6A1-4829-84F7-92463E96CC4C}" type="presParOf" srcId="{63B62CFB-4817-4562-B4A8-8EA23F331ABF}" destId="{5129E410-246F-4F53-884A-9E335F13B781}" srcOrd="2" destOrd="0" presId="urn:microsoft.com/office/officeart/2005/8/layout/orgChart1"/>
    <dgm:cxn modelId="{0E0A61ED-EA7C-44B8-8D02-256A3D9451DC}" type="presParOf" srcId="{63B62CFB-4817-4562-B4A8-8EA23F331ABF}" destId="{444568BF-2E00-4080-AC44-574281DD3326}" srcOrd="3" destOrd="0" presId="urn:microsoft.com/office/officeart/2005/8/layout/orgChart1"/>
    <dgm:cxn modelId="{C740F1F6-2B4C-4815-9950-3F9B84C93A0A}" type="presParOf" srcId="{444568BF-2E00-4080-AC44-574281DD3326}" destId="{948D198F-BB9A-4669-B37A-BD8CF8E1D79F}" srcOrd="0" destOrd="0" presId="urn:microsoft.com/office/officeart/2005/8/layout/orgChart1"/>
    <dgm:cxn modelId="{8FD10484-A77A-4D77-992A-658D3AC7213B}" type="presParOf" srcId="{948D198F-BB9A-4669-B37A-BD8CF8E1D79F}" destId="{3FFB847E-6285-45A6-B21E-E385D9D1255B}" srcOrd="0" destOrd="0" presId="urn:microsoft.com/office/officeart/2005/8/layout/orgChart1"/>
    <dgm:cxn modelId="{3D2A1749-DB2B-40F7-9392-AA1BAE8CDF19}" type="presParOf" srcId="{948D198F-BB9A-4669-B37A-BD8CF8E1D79F}" destId="{9D0D5FAA-7B6C-4029-A63D-384C91E826AE}" srcOrd="1" destOrd="0" presId="urn:microsoft.com/office/officeart/2005/8/layout/orgChart1"/>
    <dgm:cxn modelId="{60DF260E-D7F5-4B82-888D-CE6C431A73B0}" type="presParOf" srcId="{444568BF-2E00-4080-AC44-574281DD3326}" destId="{2AE2E442-8029-4C9C-A8B1-F1FD42991573}" srcOrd="1" destOrd="0" presId="urn:microsoft.com/office/officeart/2005/8/layout/orgChart1"/>
    <dgm:cxn modelId="{096C6A61-7F4F-4FAE-9317-CB977DDABDF3}" type="presParOf" srcId="{444568BF-2E00-4080-AC44-574281DD3326}" destId="{5FF9DF8D-359C-40DE-AF8B-EBC640F80CC0}" srcOrd="2" destOrd="0" presId="urn:microsoft.com/office/officeart/2005/8/layout/orgChart1"/>
    <dgm:cxn modelId="{0A0187BF-BC83-40FA-ACC8-29D45E120336}" type="presParOf" srcId="{63B62CFB-4817-4562-B4A8-8EA23F331ABF}" destId="{82DE124B-661D-4D73-AD88-AFD780BE8DC4}" srcOrd="4" destOrd="0" presId="urn:microsoft.com/office/officeart/2005/8/layout/orgChart1"/>
    <dgm:cxn modelId="{3C8D6429-7E69-4E3D-8E31-F678EBF05AA1}" type="presParOf" srcId="{63B62CFB-4817-4562-B4A8-8EA23F331ABF}" destId="{3702E60B-ED87-4216-BD98-52DF82C36AA9}" srcOrd="5" destOrd="0" presId="urn:microsoft.com/office/officeart/2005/8/layout/orgChart1"/>
    <dgm:cxn modelId="{749F52C3-D3AD-4AB5-A7F7-0FF100C1077F}" type="presParOf" srcId="{3702E60B-ED87-4216-BD98-52DF82C36AA9}" destId="{F3040112-7B89-4EC1-9EF7-55D425E89ED7}" srcOrd="0" destOrd="0" presId="urn:microsoft.com/office/officeart/2005/8/layout/orgChart1"/>
    <dgm:cxn modelId="{DCE46F0C-6CFB-4ABE-8851-F7418E936D1B}" type="presParOf" srcId="{F3040112-7B89-4EC1-9EF7-55D425E89ED7}" destId="{B083AD21-3DFE-40C4-9EC3-0D89AA01FE8C}" srcOrd="0" destOrd="0" presId="urn:microsoft.com/office/officeart/2005/8/layout/orgChart1"/>
    <dgm:cxn modelId="{1CBF690A-06DC-457D-B59B-1D4BC0A83361}" type="presParOf" srcId="{F3040112-7B89-4EC1-9EF7-55D425E89ED7}" destId="{530071D1-F13A-40C3-985E-F1679C0D9B6F}" srcOrd="1" destOrd="0" presId="urn:microsoft.com/office/officeart/2005/8/layout/orgChart1"/>
    <dgm:cxn modelId="{3392D5DF-95D8-4665-8A75-7C4096DAD1A7}" type="presParOf" srcId="{3702E60B-ED87-4216-BD98-52DF82C36AA9}" destId="{D8A98C0C-9F54-4449-94AB-325E264CF524}" srcOrd="1" destOrd="0" presId="urn:microsoft.com/office/officeart/2005/8/layout/orgChart1"/>
    <dgm:cxn modelId="{25F1B17D-55AD-4165-80FC-F35457CAD0E5}" type="presParOf" srcId="{3702E60B-ED87-4216-BD98-52DF82C36AA9}" destId="{6C02FCA8-B18A-444E-B13A-A0E39CFCC2AC}" srcOrd="2" destOrd="0" presId="urn:microsoft.com/office/officeart/2005/8/layout/orgChart1"/>
    <dgm:cxn modelId="{5CFA59A0-C953-4356-9A89-A69328D91F7B}" type="presParOf" srcId="{8DD93773-09B1-43F4-B8D7-120B7C1B5EFC}" destId="{A43B9C09-8775-4439-B07F-0DD4EDA5A6F2}"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A4C045-3EC3-4E2D-AB67-8270A9EF2AA3}">
      <dsp:nvSpPr>
        <dsp:cNvPr id="0" name=""/>
        <dsp:cNvSpPr/>
      </dsp:nvSpPr>
      <dsp:spPr>
        <a:xfrm>
          <a:off x="3229" y="2312708"/>
          <a:ext cx="3934693" cy="1573877"/>
        </a:xfrm>
        <a:prstGeom prst="chevr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pt-PT" sz="1400" b="1" kern="1200" noProof="0" dirty="0"/>
            <a:t>Anotação</a:t>
          </a:r>
        </a:p>
        <a:p>
          <a:pPr marL="0" lvl="0" indent="0" algn="ctr" defTabSz="622300">
            <a:lnSpc>
              <a:spcPct val="90000"/>
            </a:lnSpc>
            <a:spcBef>
              <a:spcPct val="0"/>
            </a:spcBef>
            <a:spcAft>
              <a:spcPct val="35000"/>
            </a:spcAft>
            <a:buNone/>
          </a:pPr>
          <a:r>
            <a:rPr lang="pt-PT" sz="1400" kern="1200" noProof="0" dirty="0"/>
            <a:t>Passagem da informação de mapeamento genómico para anotação contra os genes afetados</a:t>
          </a:r>
        </a:p>
      </dsp:txBody>
      <dsp:txXfrm>
        <a:off x="790168" y="2312708"/>
        <a:ext cx="2360816" cy="1573877"/>
      </dsp:txXfrm>
    </dsp:sp>
    <dsp:sp modelId="{292CB90C-A02C-4190-BAF9-45CE3FF86B53}">
      <dsp:nvSpPr>
        <dsp:cNvPr id="0" name=""/>
        <dsp:cNvSpPr/>
      </dsp:nvSpPr>
      <dsp:spPr>
        <a:xfrm>
          <a:off x="3544453" y="2312708"/>
          <a:ext cx="3934693" cy="1573877"/>
        </a:xfrm>
        <a:prstGeom prst="chevr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pt-PT" sz="1400" b="1" kern="1200" noProof="0" dirty="0"/>
            <a:t>Priorização</a:t>
          </a:r>
        </a:p>
        <a:p>
          <a:pPr marL="0" lvl="0" indent="0" algn="ctr" defTabSz="622300">
            <a:lnSpc>
              <a:spcPct val="90000"/>
            </a:lnSpc>
            <a:spcBef>
              <a:spcPct val="0"/>
            </a:spcBef>
            <a:spcAft>
              <a:spcPct val="35000"/>
            </a:spcAft>
            <a:buNone/>
          </a:pPr>
          <a:r>
            <a:rPr lang="pt-PT" sz="1400" kern="1200" noProof="0" dirty="0"/>
            <a:t>De acordo com anotação, e opcionalmente descrições </a:t>
          </a:r>
          <a:r>
            <a:rPr lang="pt-PT" sz="1400" kern="1200" noProof="0" dirty="0" err="1"/>
            <a:t>fenótipicas</a:t>
          </a:r>
          <a:r>
            <a:rPr lang="pt-PT" sz="1400" kern="1200" noProof="0" dirty="0"/>
            <a:t>, ordenar as variantes de acordo com a probabilidade de estarem associadas a doença</a:t>
          </a:r>
        </a:p>
      </dsp:txBody>
      <dsp:txXfrm>
        <a:off x="4331392" y="2312708"/>
        <a:ext cx="2360816" cy="1573877"/>
      </dsp:txXfrm>
    </dsp:sp>
    <dsp:sp modelId="{29B11E22-FB0C-4B44-8178-30042A96AC61}">
      <dsp:nvSpPr>
        <dsp:cNvPr id="0" name=""/>
        <dsp:cNvSpPr/>
      </dsp:nvSpPr>
      <dsp:spPr>
        <a:xfrm>
          <a:off x="7085677" y="2312708"/>
          <a:ext cx="3934693" cy="1573877"/>
        </a:xfrm>
        <a:prstGeom prst="chevron">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a:lnSpc>
              <a:spcPct val="90000"/>
            </a:lnSpc>
            <a:spcBef>
              <a:spcPct val="0"/>
            </a:spcBef>
            <a:spcAft>
              <a:spcPct val="35000"/>
            </a:spcAft>
            <a:buNone/>
          </a:pPr>
          <a:r>
            <a:rPr lang="pt-PT" sz="1400" b="1" kern="1200" noProof="0" dirty="0"/>
            <a:t>Classificação</a:t>
          </a:r>
        </a:p>
        <a:p>
          <a:pPr marL="0" lvl="0" indent="0" algn="ctr" defTabSz="622300">
            <a:lnSpc>
              <a:spcPct val="90000"/>
            </a:lnSpc>
            <a:spcBef>
              <a:spcPct val="0"/>
            </a:spcBef>
            <a:spcAft>
              <a:spcPct val="35000"/>
            </a:spcAft>
            <a:buNone/>
          </a:pPr>
          <a:r>
            <a:rPr lang="pt-PT" sz="1400" kern="1200" noProof="0" dirty="0"/>
            <a:t>Com base na anotação e priorização, classificar as variantes de acordo com o seu grau de patogenicidade</a:t>
          </a:r>
        </a:p>
      </dsp:txBody>
      <dsp:txXfrm>
        <a:off x="7872616" y="2312708"/>
        <a:ext cx="2360816" cy="15738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DE124B-661D-4D73-AD88-AFD780BE8DC4}">
      <dsp:nvSpPr>
        <dsp:cNvPr id="0" name=""/>
        <dsp:cNvSpPr/>
      </dsp:nvSpPr>
      <dsp:spPr>
        <a:xfrm>
          <a:off x="6261375" y="681890"/>
          <a:ext cx="2498638" cy="433647"/>
        </a:xfrm>
        <a:custGeom>
          <a:avLst/>
          <a:gdLst/>
          <a:ahLst/>
          <a:cxnLst/>
          <a:rect l="0" t="0" r="0" b="0"/>
          <a:pathLst>
            <a:path>
              <a:moveTo>
                <a:pt x="0" y="0"/>
              </a:moveTo>
              <a:lnTo>
                <a:pt x="0" y="216823"/>
              </a:lnTo>
              <a:lnTo>
                <a:pt x="2498638" y="216823"/>
              </a:lnTo>
              <a:lnTo>
                <a:pt x="2498638" y="43364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29E410-246F-4F53-884A-9E335F13B781}">
      <dsp:nvSpPr>
        <dsp:cNvPr id="0" name=""/>
        <dsp:cNvSpPr/>
      </dsp:nvSpPr>
      <dsp:spPr>
        <a:xfrm>
          <a:off x="6215655" y="681890"/>
          <a:ext cx="91440" cy="433647"/>
        </a:xfrm>
        <a:custGeom>
          <a:avLst/>
          <a:gdLst/>
          <a:ahLst/>
          <a:cxnLst/>
          <a:rect l="0" t="0" r="0" b="0"/>
          <a:pathLst>
            <a:path>
              <a:moveTo>
                <a:pt x="45720" y="0"/>
              </a:moveTo>
              <a:lnTo>
                <a:pt x="45720" y="43364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B894D1-8D71-4E61-8C05-7338F24E5EE3}">
      <dsp:nvSpPr>
        <dsp:cNvPr id="0" name=""/>
        <dsp:cNvSpPr/>
      </dsp:nvSpPr>
      <dsp:spPr>
        <a:xfrm>
          <a:off x="3762736" y="2148033"/>
          <a:ext cx="1249319" cy="433647"/>
        </a:xfrm>
        <a:custGeom>
          <a:avLst/>
          <a:gdLst/>
          <a:ahLst/>
          <a:cxnLst/>
          <a:rect l="0" t="0" r="0" b="0"/>
          <a:pathLst>
            <a:path>
              <a:moveTo>
                <a:pt x="0" y="0"/>
              </a:moveTo>
              <a:lnTo>
                <a:pt x="0" y="216823"/>
              </a:lnTo>
              <a:lnTo>
                <a:pt x="1249319" y="216823"/>
              </a:lnTo>
              <a:lnTo>
                <a:pt x="1249319" y="433647"/>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2DC5BA-0D9E-4414-8198-9107454FF75A}">
      <dsp:nvSpPr>
        <dsp:cNvPr id="0" name=""/>
        <dsp:cNvSpPr/>
      </dsp:nvSpPr>
      <dsp:spPr>
        <a:xfrm>
          <a:off x="1687421" y="3614177"/>
          <a:ext cx="309748" cy="2416038"/>
        </a:xfrm>
        <a:custGeom>
          <a:avLst/>
          <a:gdLst/>
          <a:ahLst/>
          <a:cxnLst/>
          <a:rect l="0" t="0" r="0" b="0"/>
          <a:pathLst>
            <a:path>
              <a:moveTo>
                <a:pt x="0" y="0"/>
              </a:moveTo>
              <a:lnTo>
                <a:pt x="0" y="2416038"/>
              </a:lnTo>
              <a:lnTo>
                <a:pt x="309748" y="2416038"/>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69A252-2435-4439-8AA4-CF4FDA1CEAED}">
      <dsp:nvSpPr>
        <dsp:cNvPr id="0" name=""/>
        <dsp:cNvSpPr/>
      </dsp:nvSpPr>
      <dsp:spPr>
        <a:xfrm>
          <a:off x="1687421" y="3614177"/>
          <a:ext cx="309748" cy="949895"/>
        </a:xfrm>
        <a:custGeom>
          <a:avLst/>
          <a:gdLst/>
          <a:ahLst/>
          <a:cxnLst/>
          <a:rect l="0" t="0" r="0" b="0"/>
          <a:pathLst>
            <a:path>
              <a:moveTo>
                <a:pt x="0" y="0"/>
              </a:moveTo>
              <a:lnTo>
                <a:pt x="0" y="949895"/>
              </a:lnTo>
              <a:lnTo>
                <a:pt x="309748" y="949895"/>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ADB3A76-266D-4339-BA06-46BB9DC9491F}">
      <dsp:nvSpPr>
        <dsp:cNvPr id="0" name=""/>
        <dsp:cNvSpPr/>
      </dsp:nvSpPr>
      <dsp:spPr>
        <a:xfrm>
          <a:off x="2513417" y="2148033"/>
          <a:ext cx="1249319" cy="433647"/>
        </a:xfrm>
        <a:custGeom>
          <a:avLst/>
          <a:gdLst/>
          <a:ahLst/>
          <a:cxnLst/>
          <a:rect l="0" t="0" r="0" b="0"/>
          <a:pathLst>
            <a:path>
              <a:moveTo>
                <a:pt x="1249319" y="0"/>
              </a:moveTo>
              <a:lnTo>
                <a:pt x="1249319" y="216823"/>
              </a:lnTo>
              <a:lnTo>
                <a:pt x="0" y="216823"/>
              </a:lnTo>
              <a:lnTo>
                <a:pt x="0" y="433647"/>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E1DE5C-B27A-4231-A520-8B211E7E4AFA}">
      <dsp:nvSpPr>
        <dsp:cNvPr id="0" name=""/>
        <dsp:cNvSpPr/>
      </dsp:nvSpPr>
      <dsp:spPr>
        <a:xfrm>
          <a:off x="3762736" y="681890"/>
          <a:ext cx="2498638" cy="433647"/>
        </a:xfrm>
        <a:custGeom>
          <a:avLst/>
          <a:gdLst/>
          <a:ahLst/>
          <a:cxnLst/>
          <a:rect l="0" t="0" r="0" b="0"/>
          <a:pathLst>
            <a:path>
              <a:moveTo>
                <a:pt x="2498638" y="0"/>
              </a:moveTo>
              <a:lnTo>
                <a:pt x="2498638" y="216823"/>
              </a:lnTo>
              <a:lnTo>
                <a:pt x="0" y="216823"/>
              </a:lnTo>
              <a:lnTo>
                <a:pt x="0" y="43364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B09BC7-7615-4E9D-A893-E9A86F51C764}">
      <dsp:nvSpPr>
        <dsp:cNvPr id="0" name=""/>
        <dsp:cNvSpPr/>
      </dsp:nvSpPr>
      <dsp:spPr>
        <a:xfrm>
          <a:off x="1811671" y="433"/>
          <a:ext cx="8899406" cy="68145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pt-PT" sz="2200" kern="1200" noProof="0" dirty="0"/>
            <a:t>Recursos para avaliação de variantes </a:t>
          </a:r>
        </a:p>
      </dsp:txBody>
      <dsp:txXfrm>
        <a:off x="1811671" y="433"/>
        <a:ext cx="8899406" cy="681457"/>
      </dsp:txXfrm>
    </dsp:sp>
    <dsp:sp modelId="{F556274D-A093-4D10-8937-65DAF0795F1D}">
      <dsp:nvSpPr>
        <dsp:cNvPr id="0" name=""/>
        <dsp:cNvSpPr/>
      </dsp:nvSpPr>
      <dsp:spPr>
        <a:xfrm>
          <a:off x="2730241" y="1115538"/>
          <a:ext cx="2064990" cy="10324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a:t>Bases de dados de </a:t>
          </a:r>
          <a:r>
            <a:rPr lang="en-GB" sz="2200" kern="1200" dirty="0" err="1"/>
            <a:t>variantes</a:t>
          </a:r>
          <a:endParaRPr lang="en-GB" sz="2200" kern="1200" dirty="0"/>
        </a:p>
      </dsp:txBody>
      <dsp:txXfrm>
        <a:off x="2730241" y="1115538"/>
        <a:ext cx="2064990" cy="1032495"/>
      </dsp:txXfrm>
    </dsp:sp>
    <dsp:sp modelId="{2E4368B3-D46F-4C72-B2D5-E6BA6D433303}">
      <dsp:nvSpPr>
        <dsp:cNvPr id="0" name=""/>
        <dsp:cNvSpPr/>
      </dsp:nvSpPr>
      <dsp:spPr>
        <a:xfrm>
          <a:off x="1480922" y="2581681"/>
          <a:ext cx="2064990" cy="10324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err="1"/>
            <a:t>Benignas</a:t>
          </a:r>
          <a:endParaRPr lang="en-GB" sz="2200" kern="1200" dirty="0"/>
        </a:p>
      </dsp:txBody>
      <dsp:txXfrm>
        <a:off x="1480922" y="2581681"/>
        <a:ext cx="2064990" cy="1032495"/>
      </dsp:txXfrm>
    </dsp:sp>
    <dsp:sp modelId="{3A0C78A8-D739-48EB-B21B-E9E1A4897F6D}">
      <dsp:nvSpPr>
        <dsp:cNvPr id="0" name=""/>
        <dsp:cNvSpPr/>
      </dsp:nvSpPr>
      <dsp:spPr>
        <a:xfrm>
          <a:off x="1997170" y="4047825"/>
          <a:ext cx="2064990" cy="10324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err="1"/>
            <a:t>Frequencias</a:t>
          </a:r>
          <a:r>
            <a:rPr lang="en-GB" sz="2200" kern="1200" dirty="0"/>
            <a:t> </a:t>
          </a:r>
          <a:r>
            <a:rPr lang="en-GB" sz="2200" kern="1200" dirty="0" err="1"/>
            <a:t>na</a:t>
          </a:r>
          <a:r>
            <a:rPr lang="en-GB" sz="2200" kern="1200" dirty="0"/>
            <a:t> </a:t>
          </a:r>
          <a:r>
            <a:rPr lang="en-GB" sz="2200" kern="1200" dirty="0" err="1"/>
            <a:t>população</a:t>
          </a:r>
          <a:r>
            <a:rPr lang="en-GB" sz="2200" kern="1200" dirty="0"/>
            <a:t> </a:t>
          </a:r>
          <a:r>
            <a:rPr lang="en-GB" sz="2200" kern="1200" dirty="0" err="1"/>
            <a:t>comum</a:t>
          </a:r>
          <a:endParaRPr lang="en-GB" sz="2200" kern="1200" dirty="0"/>
        </a:p>
      </dsp:txBody>
      <dsp:txXfrm>
        <a:off x="1997170" y="4047825"/>
        <a:ext cx="2064990" cy="1032495"/>
      </dsp:txXfrm>
    </dsp:sp>
    <dsp:sp modelId="{C0BA785B-3D48-424C-A862-41D55F22C3F9}">
      <dsp:nvSpPr>
        <dsp:cNvPr id="0" name=""/>
        <dsp:cNvSpPr/>
      </dsp:nvSpPr>
      <dsp:spPr>
        <a:xfrm>
          <a:off x="1997170" y="5513968"/>
          <a:ext cx="2064990" cy="10324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a:t>Caso-</a:t>
          </a:r>
          <a:r>
            <a:rPr lang="en-GB" sz="2200" kern="1200" dirty="0" err="1"/>
            <a:t>Controlo</a:t>
          </a:r>
          <a:endParaRPr lang="en-GB" sz="2200" kern="1200" dirty="0"/>
        </a:p>
      </dsp:txBody>
      <dsp:txXfrm>
        <a:off x="1997170" y="5513968"/>
        <a:ext cx="2064990" cy="1032495"/>
      </dsp:txXfrm>
    </dsp:sp>
    <dsp:sp modelId="{57A8B4DB-60FF-4A9F-907E-B7AEE8EBF3C7}">
      <dsp:nvSpPr>
        <dsp:cNvPr id="0" name=""/>
        <dsp:cNvSpPr/>
      </dsp:nvSpPr>
      <dsp:spPr>
        <a:xfrm>
          <a:off x="3979560" y="2581681"/>
          <a:ext cx="2064990" cy="10324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err="1"/>
            <a:t>Patogénicas</a:t>
          </a:r>
          <a:endParaRPr lang="en-GB" sz="2200" kern="1200" dirty="0"/>
        </a:p>
      </dsp:txBody>
      <dsp:txXfrm>
        <a:off x="3979560" y="2581681"/>
        <a:ext cx="2064990" cy="1032495"/>
      </dsp:txXfrm>
    </dsp:sp>
    <dsp:sp modelId="{3FFB847E-6285-45A6-B21E-E385D9D1255B}">
      <dsp:nvSpPr>
        <dsp:cNvPr id="0" name=""/>
        <dsp:cNvSpPr/>
      </dsp:nvSpPr>
      <dsp:spPr>
        <a:xfrm>
          <a:off x="5228880" y="1115538"/>
          <a:ext cx="2064990" cy="10324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err="1"/>
            <a:t>Anotação</a:t>
          </a:r>
          <a:r>
            <a:rPr lang="en-GB" sz="2200" kern="1200" dirty="0"/>
            <a:t> dos genes e </a:t>
          </a:r>
          <a:r>
            <a:rPr lang="en-GB" sz="2200" kern="1200" dirty="0" err="1"/>
            <a:t>doenças</a:t>
          </a:r>
          <a:r>
            <a:rPr lang="en-GB" sz="2200" kern="1200" dirty="0"/>
            <a:t> </a:t>
          </a:r>
          <a:r>
            <a:rPr lang="en-GB" sz="2200" kern="1200" dirty="0" err="1"/>
            <a:t>associadas</a:t>
          </a:r>
          <a:endParaRPr lang="en-GB" sz="2200" kern="1200" dirty="0"/>
        </a:p>
      </dsp:txBody>
      <dsp:txXfrm>
        <a:off x="5228880" y="1115538"/>
        <a:ext cx="2064990" cy="1032495"/>
      </dsp:txXfrm>
    </dsp:sp>
    <dsp:sp modelId="{B083AD21-3DFE-40C4-9EC3-0D89AA01FE8C}">
      <dsp:nvSpPr>
        <dsp:cNvPr id="0" name=""/>
        <dsp:cNvSpPr/>
      </dsp:nvSpPr>
      <dsp:spPr>
        <a:xfrm>
          <a:off x="7727518" y="1115538"/>
          <a:ext cx="2064990" cy="1032495"/>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err="1"/>
            <a:t>Algoritmos</a:t>
          </a:r>
          <a:r>
            <a:rPr lang="en-GB" sz="2200" kern="1200" dirty="0"/>
            <a:t> de </a:t>
          </a:r>
          <a:r>
            <a:rPr lang="en-GB" sz="2200" kern="1200" dirty="0" err="1"/>
            <a:t>predição</a:t>
          </a:r>
          <a:endParaRPr lang="en-GB" sz="2200" kern="1200" dirty="0"/>
        </a:p>
      </dsp:txBody>
      <dsp:txXfrm>
        <a:off x="7727518" y="1115538"/>
        <a:ext cx="2064990" cy="1032495"/>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042275-2D6C-41F5-81FF-CBD6B5FE7F57}" type="datetimeFigureOut">
              <a:rPr lang="en-GB" smtClean="0"/>
              <a:t>10/07/2026</a:t>
            </a:fld>
            <a:endParaRPr lang="en-GB"/>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7A4E6-103E-479F-9991-6FBDF799862F}" type="slidenum">
              <a:rPr lang="en-GB" smtClean="0"/>
              <a:t>‹nº›</a:t>
            </a:fld>
            <a:endParaRPr lang="en-GB"/>
          </a:p>
        </p:txBody>
      </p:sp>
    </p:spTree>
    <p:extLst>
      <p:ext uri="{BB962C8B-B14F-4D97-AF65-F5344CB8AC3E}">
        <p14:creationId xmlns:p14="http://schemas.microsoft.com/office/powerpoint/2010/main" val="9285485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BF7665-D8B0-229A-6B1C-DD8686FB0137}"/>
              </a:ext>
            </a:extLst>
          </p:cNvPr>
          <p:cNvSpPr>
            <a:spLocks noGrp="1"/>
          </p:cNvSpPr>
          <p:nvPr>
            <p:ph type="ctrTitle"/>
          </p:nvPr>
        </p:nvSpPr>
        <p:spPr>
          <a:xfrm>
            <a:off x="1524000" y="1122363"/>
            <a:ext cx="9144000" cy="2387600"/>
          </a:xfrm>
        </p:spPr>
        <p:txBody>
          <a:bodyPr anchor="b"/>
          <a:lstStyle>
            <a:lvl1pPr algn="ctr">
              <a:defRPr sz="6000"/>
            </a:lvl1pPr>
          </a:lstStyle>
          <a:p>
            <a:r>
              <a:rPr lang="pt-PT"/>
              <a:t>Clique para editar o estilo de título do Modelo Global</a:t>
            </a:r>
            <a:endParaRPr lang="en-GB"/>
          </a:p>
        </p:txBody>
      </p:sp>
      <p:sp>
        <p:nvSpPr>
          <p:cNvPr id="3" name="Subtítulo 2">
            <a:extLst>
              <a:ext uri="{FF2B5EF4-FFF2-40B4-BE49-F238E27FC236}">
                <a16:creationId xmlns:a16="http://schemas.microsoft.com/office/drawing/2014/main" id="{FA9540F8-A5DF-41A3-F615-26C460F2BE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PT"/>
              <a:t>Clique para editar o estilo de subtítulo do Modelo Global</a:t>
            </a:r>
            <a:endParaRPr lang="en-GB"/>
          </a:p>
        </p:txBody>
      </p:sp>
      <p:sp>
        <p:nvSpPr>
          <p:cNvPr id="4" name="Marcador de Posição da Data 3">
            <a:extLst>
              <a:ext uri="{FF2B5EF4-FFF2-40B4-BE49-F238E27FC236}">
                <a16:creationId xmlns:a16="http://schemas.microsoft.com/office/drawing/2014/main" id="{DC5B90C1-5653-5601-BC22-374B43603B4E}"/>
              </a:ext>
            </a:extLst>
          </p:cNvPr>
          <p:cNvSpPr>
            <a:spLocks noGrp="1"/>
          </p:cNvSpPr>
          <p:nvPr>
            <p:ph type="dt" sz="half" idx="10"/>
          </p:nvPr>
        </p:nvSpPr>
        <p:spPr/>
        <p:txBody>
          <a:bodyPr/>
          <a:lstStyle/>
          <a:p>
            <a:fld id="{E28E2C6E-BCC3-4F27-9FD0-8C72CBACEB98}" type="datetime1">
              <a:rPr lang="en-GB" smtClean="0"/>
              <a:t>10/07/2026</a:t>
            </a:fld>
            <a:endParaRPr lang="en-GB"/>
          </a:p>
        </p:txBody>
      </p:sp>
      <p:sp>
        <p:nvSpPr>
          <p:cNvPr id="5" name="Marcador de Posição do Rodapé 4">
            <a:extLst>
              <a:ext uri="{FF2B5EF4-FFF2-40B4-BE49-F238E27FC236}">
                <a16:creationId xmlns:a16="http://schemas.microsoft.com/office/drawing/2014/main" id="{0A6C4FFC-F4A9-9AC5-2409-5981204D20EF}"/>
              </a:ext>
            </a:extLst>
          </p:cNvPr>
          <p:cNvSpPr>
            <a:spLocks noGrp="1"/>
          </p:cNvSpPr>
          <p:nvPr>
            <p:ph type="ftr" sz="quarter" idx="11"/>
          </p:nvPr>
        </p:nvSpPr>
        <p:spPr/>
        <p:txBody>
          <a:bodyPr/>
          <a:lstStyle/>
          <a:p>
            <a:endParaRPr lang="en-GB"/>
          </a:p>
        </p:txBody>
      </p:sp>
      <p:sp>
        <p:nvSpPr>
          <p:cNvPr id="6" name="Marcador de Posição do Número do Diapositivo 5">
            <a:extLst>
              <a:ext uri="{FF2B5EF4-FFF2-40B4-BE49-F238E27FC236}">
                <a16:creationId xmlns:a16="http://schemas.microsoft.com/office/drawing/2014/main" id="{11A1B7BD-26CF-A742-7D12-EFA0EE71B463}"/>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653776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3B410C-E399-4F64-12BD-B7669D44A2F5}"/>
              </a:ext>
            </a:extLst>
          </p:cNvPr>
          <p:cNvSpPr>
            <a:spLocks noGrp="1"/>
          </p:cNvSpPr>
          <p:nvPr>
            <p:ph type="title"/>
          </p:nvPr>
        </p:nvSpPr>
        <p:spPr/>
        <p:txBody>
          <a:bodyPr/>
          <a:lstStyle/>
          <a:p>
            <a:r>
              <a:rPr lang="pt-PT"/>
              <a:t>Clique para editar o estilo de título do Modelo Global</a:t>
            </a:r>
            <a:endParaRPr lang="en-GB"/>
          </a:p>
        </p:txBody>
      </p:sp>
      <p:sp>
        <p:nvSpPr>
          <p:cNvPr id="3" name="Marcador de Posição de Conteúdo 2">
            <a:extLst>
              <a:ext uri="{FF2B5EF4-FFF2-40B4-BE49-F238E27FC236}">
                <a16:creationId xmlns:a16="http://schemas.microsoft.com/office/drawing/2014/main" id="{951B9E63-681B-C1E2-1DEB-5778C31F5D0C}"/>
              </a:ext>
            </a:extLst>
          </p:cNvPr>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4" name="Marcador de Posição da Data 3">
            <a:extLst>
              <a:ext uri="{FF2B5EF4-FFF2-40B4-BE49-F238E27FC236}">
                <a16:creationId xmlns:a16="http://schemas.microsoft.com/office/drawing/2014/main" id="{FC36F0A7-E493-3207-DCF7-542E367B8A0E}"/>
              </a:ext>
            </a:extLst>
          </p:cNvPr>
          <p:cNvSpPr>
            <a:spLocks noGrp="1"/>
          </p:cNvSpPr>
          <p:nvPr>
            <p:ph type="dt" sz="half" idx="10"/>
          </p:nvPr>
        </p:nvSpPr>
        <p:spPr/>
        <p:txBody>
          <a:bodyPr/>
          <a:lstStyle/>
          <a:p>
            <a:fld id="{D25526ED-BD1E-4EB7-AE8C-2DD3CC728576}" type="datetime1">
              <a:rPr lang="en-GB" smtClean="0"/>
              <a:t>10/07/2026</a:t>
            </a:fld>
            <a:endParaRPr lang="en-GB"/>
          </a:p>
        </p:txBody>
      </p:sp>
      <p:sp>
        <p:nvSpPr>
          <p:cNvPr id="5" name="Marcador de Posição do Rodapé 4">
            <a:extLst>
              <a:ext uri="{FF2B5EF4-FFF2-40B4-BE49-F238E27FC236}">
                <a16:creationId xmlns:a16="http://schemas.microsoft.com/office/drawing/2014/main" id="{D6FAD5F9-1B3C-4F58-D717-01228126B665}"/>
              </a:ext>
            </a:extLst>
          </p:cNvPr>
          <p:cNvSpPr>
            <a:spLocks noGrp="1"/>
          </p:cNvSpPr>
          <p:nvPr>
            <p:ph type="ftr" sz="quarter" idx="11"/>
          </p:nvPr>
        </p:nvSpPr>
        <p:spPr/>
        <p:txBody>
          <a:bodyPr/>
          <a:lstStyle/>
          <a:p>
            <a:endParaRPr lang="en-GB"/>
          </a:p>
        </p:txBody>
      </p:sp>
      <p:sp>
        <p:nvSpPr>
          <p:cNvPr id="6" name="Marcador de Posição do Número do Diapositivo 5">
            <a:extLst>
              <a:ext uri="{FF2B5EF4-FFF2-40B4-BE49-F238E27FC236}">
                <a16:creationId xmlns:a16="http://schemas.microsoft.com/office/drawing/2014/main" id="{7608ABA3-E49F-A00E-FF0F-C1497DB57A6C}"/>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782623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BD3D7F-4212-D2C7-11C1-555E7CFAEC6D}"/>
              </a:ext>
            </a:extLst>
          </p:cNvPr>
          <p:cNvSpPr>
            <a:spLocks noGrp="1"/>
          </p:cNvSpPr>
          <p:nvPr>
            <p:ph type="title"/>
          </p:nvPr>
        </p:nvSpPr>
        <p:spPr>
          <a:xfrm>
            <a:off x="831850" y="1709738"/>
            <a:ext cx="10515600" cy="2852737"/>
          </a:xfrm>
        </p:spPr>
        <p:txBody>
          <a:bodyPr anchor="b"/>
          <a:lstStyle>
            <a:lvl1pPr>
              <a:defRPr sz="6000"/>
            </a:lvl1pPr>
          </a:lstStyle>
          <a:p>
            <a:r>
              <a:rPr lang="pt-PT"/>
              <a:t>Clique para editar o estilo de título do Modelo Global</a:t>
            </a:r>
            <a:endParaRPr lang="en-GB"/>
          </a:p>
        </p:txBody>
      </p:sp>
      <p:sp>
        <p:nvSpPr>
          <p:cNvPr id="3" name="Marcador de Posição do Texto 2">
            <a:extLst>
              <a:ext uri="{FF2B5EF4-FFF2-40B4-BE49-F238E27FC236}">
                <a16:creationId xmlns:a16="http://schemas.microsoft.com/office/drawing/2014/main" id="{72B9C508-A6ED-DBB7-05E1-9FB950AE4F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PT"/>
              <a:t>Clique para editar os estilos do texto de Modelo Global</a:t>
            </a:r>
          </a:p>
        </p:txBody>
      </p:sp>
      <p:sp>
        <p:nvSpPr>
          <p:cNvPr id="4" name="Marcador de Posição da Data 3">
            <a:extLst>
              <a:ext uri="{FF2B5EF4-FFF2-40B4-BE49-F238E27FC236}">
                <a16:creationId xmlns:a16="http://schemas.microsoft.com/office/drawing/2014/main" id="{73DC7D9D-E61E-054F-95DE-01938C4B7319}"/>
              </a:ext>
            </a:extLst>
          </p:cNvPr>
          <p:cNvSpPr>
            <a:spLocks noGrp="1"/>
          </p:cNvSpPr>
          <p:nvPr>
            <p:ph type="dt" sz="half" idx="10"/>
          </p:nvPr>
        </p:nvSpPr>
        <p:spPr/>
        <p:txBody>
          <a:bodyPr/>
          <a:lstStyle/>
          <a:p>
            <a:fld id="{69248631-2861-45A4-A0E4-9BECD2CC7581}" type="datetime1">
              <a:rPr lang="en-GB" smtClean="0"/>
              <a:t>10/07/2026</a:t>
            </a:fld>
            <a:endParaRPr lang="en-GB"/>
          </a:p>
        </p:txBody>
      </p:sp>
      <p:sp>
        <p:nvSpPr>
          <p:cNvPr id="5" name="Marcador de Posição do Rodapé 4">
            <a:extLst>
              <a:ext uri="{FF2B5EF4-FFF2-40B4-BE49-F238E27FC236}">
                <a16:creationId xmlns:a16="http://schemas.microsoft.com/office/drawing/2014/main" id="{BBACEBE0-7D95-CAFA-0249-1F33F0E97424}"/>
              </a:ext>
            </a:extLst>
          </p:cNvPr>
          <p:cNvSpPr>
            <a:spLocks noGrp="1"/>
          </p:cNvSpPr>
          <p:nvPr>
            <p:ph type="ftr" sz="quarter" idx="11"/>
          </p:nvPr>
        </p:nvSpPr>
        <p:spPr/>
        <p:txBody>
          <a:bodyPr/>
          <a:lstStyle/>
          <a:p>
            <a:endParaRPr lang="en-GB"/>
          </a:p>
        </p:txBody>
      </p:sp>
      <p:sp>
        <p:nvSpPr>
          <p:cNvPr id="6" name="Marcador de Posição do Número do Diapositivo 5">
            <a:extLst>
              <a:ext uri="{FF2B5EF4-FFF2-40B4-BE49-F238E27FC236}">
                <a16:creationId xmlns:a16="http://schemas.microsoft.com/office/drawing/2014/main" id="{475DF437-AD56-22BC-0F49-EA8BA2F63975}"/>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2410855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4AC0E7-FF9A-9F09-D0FB-E0614D4FC63E}"/>
              </a:ext>
            </a:extLst>
          </p:cNvPr>
          <p:cNvSpPr>
            <a:spLocks noGrp="1"/>
          </p:cNvSpPr>
          <p:nvPr>
            <p:ph type="title"/>
          </p:nvPr>
        </p:nvSpPr>
        <p:spPr/>
        <p:txBody>
          <a:bodyPr/>
          <a:lstStyle/>
          <a:p>
            <a:r>
              <a:rPr lang="pt-PT"/>
              <a:t>Clique para editar o estilo de título do Modelo Global</a:t>
            </a:r>
            <a:endParaRPr lang="en-GB"/>
          </a:p>
        </p:txBody>
      </p:sp>
      <p:sp>
        <p:nvSpPr>
          <p:cNvPr id="3" name="Marcador de Posição de Conteúdo 2">
            <a:extLst>
              <a:ext uri="{FF2B5EF4-FFF2-40B4-BE49-F238E27FC236}">
                <a16:creationId xmlns:a16="http://schemas.microsoft.com/office/drawing/2014/main" id="{6AE7528E-77A9-8092-5428-3230D68C6D3B}"/>
              </a:ext>
            </a:extLst>
          </p:cNvPr>
          <p:cNvSpPr>
            <a:spLocks noGrp="1"/>
          </p:cNvSpPr>
          <p:nvPr>
            <p:ph sz="half" idx="1"/>
          </p:nvPr>
        </p:nvSpPr>
        <p:spPr>
          <a:xfrm>
            <a:off x="838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4" name="Marcador de Posição de Conteúdo 3">
            <a:extLst>
              <a:ext uri="{FF2B5EF4-FFF2-40B4-BE49-F238E27FC236}">
                <a16:creationId xmlns:a16="http://schemas.microsoft.com/office/drawing/2014/main" id="{1C0025B8-4009-8285-2EEE-56FE3055A696}"/>
              </a:ext>
            </a:extLst>
          </p:cNvPr>
          <p:cNvSpPr>
            <a:spLocks noGrp="1"/>
          </p:cNvSpPr>
          <p:nvPr>
            <p:ph sz="half" idx="2"/>
          </p:nvPr>
        </p:nvSpPr>
        <p:spPr>
          <a:xfrm>
            <a:off x="6172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5" name="Marcador de Posição da Data 4">
            <a:extLst>
              <a:ext uri="{FF2B5EF4-FFF2-40B4-BE49-F238E27FC236}">
                <a16:creationId xmlns:a16="http://schemas.microsoft.com/office/drawing/2014/main" id="{87DB63D0-4ED7-318E-F447-34ADA68EF7F4}"/>
              </a:ext>
            </a:extLst>
          </p:cNvPr>
          <p:cNvSpPr>
            <a:spLocks noGrp="1"/>
          </p:cNvSpPr>
          <p:nvPr>
            <p:ph type="dt" sz="half" idx="10"/>
          </p:nvPr>
        </p:nvSpPr>
        <p:spPr/>
        <p:txBody>
          <a:bodyPr/>
          <a:lstStyle/>
          <a:p>
            <a:fld id="{3F0BA9C8-A372-4762-AC67-D352CD7375D5}" type="datetime1">
              <a:rPr lang="en-GB" smtClean="0"/>
              <a:t>10/07/2026</a:t>
            </a:fld>
            <a:endParaRPr lang="en-GB"/>
          </a:p>
        </p:txBody>
      </p:sp>
      <p:sp>
        <p:nvSpPr>
          <p:cNvPr id="6" name="Marcador de Posição do Rodapé 5">
            <a:extLst>
              <a:ext uri="{FF2B5EF4-FFF2-40B4-BE49-F238E27FC236}">
                <a16:creationId xmlns:a16="http://schemas.microsoft.com/office/drawing/2014/main" id="{14FB4D10-4686-20C1-1757-B1F2C6DE0CC8}"/>
              </a:ext>
            </a:extLst>
          </p:cNvPr>
          <p:cNvSpPr>
            <a:spLocks noGrp="1"/>
          </p:cNvSpPr>
          <p:nvPr>
            <p:ph type="ftr" sz="quarter" idx="11"/>
          </p:nvPr>
        </p:nvSpPr>
        <p:spPr/>
        <p:txBody>
          <a:bodyPr/>
          <a:lstStyle/>
          <a:p>
            <a:endParaRPr lang="en-GB"/>
          </a:p>
        </p:txBody>
      </p:sp>
      <p:sp>
        <p:nvSpPr>
          <p:cNvPr id="7" name="Marcador de Posição do Número do Diapositivo 6">
            <a:extLst>
              <a:ext uri="{FF2B5EF4-FFF2-40B4-BE49-F238E27FC236}">
                <a16:creationId xmlns:a16="http://schemas.microsoft.com/office/drawing/2014/main" id="{A2ADBF0F-6F36-EB1A-DAC0-2F4A830D7E74}"/>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18169115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1691B2-9AEC-A6C8-DD2C-E5AD5F31767A}"/>
              </a:ext>
            </a:extLst>
          </p:cNvPr>
          <p:cNvSpPr>
            <a:spLocks noGrp="1"/>
          </p:cNvSpPr>
          <p:nvPr>
            <p:ph type="title"/>
          </p:nvPr>
        </p:nvSpPr>
        <p:spPr>
          <a:xfrm>
            <a:off x="839788" y="365125"/>
            <a:ext cx="10515600" cy="1325563"/>
          </a:xfrm>
        </p:spPr>
        <p:txBody>
          <a:bodyPr/>
          <a:lstStyle/>
          <a:p>
            <a:r>
              <a:rPr lang="pt-PT"/>
              <a:t>Clique para editar o estilo de título do Modelo Global</a:t>
            </a:r>
            <a:endParaRPr lang="en-GB"/>
          </a:p>
        </p:txBody>
      </p:sp>
      <p:sp>
        <p:nvSpPr>
          <p:cNvPr id="3" name="Marcador de Posição do Texto 2">
            <a:extLst>
              <a:ext uri="{FF2B5EF4-FFF2-40B4-BE49-F238E27FC236}">
                <a16:creationId xmlns:a16="http://schemas.microsoft.com/office/drawing/2014/main" id="{81CFB4D0-9388-2F21-1C89-9C3E66D970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4" name="Marcador de Posição de Conteúdo 3">
            <a:extLst>
              <a:ext uri="{FF2B5EF4-FFF2-40B4-BE49-F238E27FC236}">
                <a16:creationId xmlns:a16="http://schemas.microsoft.com/office/drawing/2014/main" id="{BB30C404-BB4E-B519-7DEE-A415DEA0507F}"/>
              </a:ext>
            </a:extLst>
          </p:cNvPr>
          <p:cNvSpPr>
            <a:spLocks noGrp="1"/>
          </p:cNvSpPr>
          <p:nvPr>
            <p:ph sz="half" idx="2"/>
          </p:nvPr>
        </p:nvSpPr>
        <p:spPr>
          <a:xfrm>
            <a:off x="839788" y="2505075"/>
            <a:ext cx="5157787"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5" name="Marcador de Posição do Texto 4">
            <a:extLst>
              <a:ext uri="{FF2B5EF4-FFF2-40B4-BE49-F238E27FC236}">
                <a16:creationId xmlns:a16="http://schemas.microsoft.com/office/drawing/2014/main" id="{F268F0F7-1484-4686-2CA9-4865E99001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6" name="Marcador de Posição de Conteúdo 5">
            <a:extLst>
              <a:ext uri="{FF2B5EF4-FFF2-40B4-BE49-F238E27FC236}">
                <a16:creationId xmlns:a16="http://schemas.microsoft.com/office/drawing/2014/main" id="{0AA4A3A2-1DBD-1AAE-867F-1A1E92CBD61B}"/>
              </a:ext>
            </a:extLst>
          </p:cNvPr>
          <p:cNvSpPr>
            <a:spLocks noGrp="1"/>
          </p:cNvSpPr>
          <p:nvPr>
            <p:ph sz="quarter" idx="4"/>
          </p:nvPr>
        </p:nvSpPr>
        <p:spPr>
          <a:xfrm>
            <a:off x="6172200" y="2505075"/>
            <a:ext cx="5183188"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7" name="Marcador de Posição da Data 6">
            <a:extLst>
              <a:ext uri="{FF2B5EF4-FFF2-40B4-BE49-F238E27FC236}">
                <a16:creationId xmlns:a16="http://schemas.microsoft.com/office/drawing/2014/main" id="{D7F40490-D4BC-3B81-2E78-90F01B612A67}"/>
              </a:ext>
            </a:extLst>
          </p:cNvPr>
          <p:cNvSpPr>
            <a:spLocks noGrp="1"/>
          </p:cNvSpPr>
          <p:nvPr>
            <p:ph type="dt" sz="half" idx="10"/>
          </p:nvPr>
        </p:nvSpPr>
        <p:spPr/>
        <p:txBody>
          <a:bodyPr/>
          <a:lstStyle/>
          <a:p>
            <a:fld id="{32DB1B3C-F212-44FD-BC08-BBABB6DF1237}" type="datetime1">
              <a:rPr lang="en-GB" smtClean="0"/>
              <a:t>10/07/2026</a:t>
            </a:fld>
            <a:endParaRPr lang="en-GB"/>
          </a:p>
        </p:txBody>
      </p:sp>
      <p:sp>
        <p:nvSpPr>
          <p:cNvPr id="8" name="Marcador de Posição do Rodapé 7">
            <a:extLst>
              <a:ext uri="{FF2B5EF4-FFF2-40B4-BE49-F238E27FC236}">
                <a16:creationId xmlns:a16="http://schemas.microsoft.com/office/drawing/2014/main" id="{A3333EFA-85E4-5144-9BD9-575F3F46C522}"/>
              </a:ext>
            </a:extLst>
          </p:cNvPr>
          <p:cNvSpPr>
            <a:spLocks noGrp="1"/>
          </p:cNvSpPr>
          <p:nvPr>
            <p:ph type="ftr" sz="quarter" idx="11"/>
          </p:nvPr>
        </p:nvSpPr>
        <p:spPr/>
        <p:txBody>
          <a:bodyPr/>
          <a:lstStyle/>
          <a:p>
            <a:endParaRPr lang="en-GB"/>
          </a:p>
        </p:txBody>
      </p:sp>
      <p:sp>
        <p:nvSpPr>
          <p:cNvPr id="9" name="Marcador de Posição do Número do Diapositivo 8">
            <a:extLst>
              <a:ext uri="{FF2B5EF4-FFF2-40B4-BE49-F238E27FC236}">
                <a16:creationId xmlns:a16="http://schemas.microsoft.com/office/drawing/2014/main" id="{0083C664-FC1F-BDD2-6075-3CC4932D6E0F}"/>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721831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C9E478-16DB-84DC-8149-A2D7871BE067}"/>
              </a:ext>
            </a:extLst>
          </p:cNvPr>
          <p:cNvSpPr>
            <a:spLocks noGrp="1"/>
          </p:cNvSpPr>
          <p:nvPr>
            <p:ph type="title"/>
          </p:nvPr>
        </p:nvSpPr>
        <p:spPr/>
        <p:txBody>
          <a:bodyPr/>
          <a:lstStyle/>
          <a:p>
            <a:r>
              <a:rPr lang="pt-PT"/>
              <a:t>Clique para editar o estilo de título do Modelo Global</a:t>
            </a:r>
            <a:endParaRPr lang="en-GB"/>
          </a:p>
        </p:txBody>
      </p:sp>
      <p:sp>
        <p:nvSpPr>
          <p:cNvPr id="3" name="Marcador de Posição da Data 2">
            <a:extLst>
              <a:ext uri="{FF2B5EF4-FFF2-40B4-BE49-F238E27FC236}">
                <a16:creationId xmlns:a16="http://schemas.microsoft.com/office/drawing/2014/main" id="{736B1E3D-AC00-BBCD-387B-44E48D212C69}"/>
              </a:ext>
            </a:extLst>
          </p:cNvPr>
          <p:cNvSpPr>
            <a:spLocks noGrp="1"/>
          </p:cNvSpPr>
          <p:nvPr>
            <p:ph type="dt" sz="half" idx="10"/>
          </p:nvPr>
        </p:nvSpPr>
        <p:spPr/>
        <p:txBody>
          <a:bodyPr/>
          <a:lstStyle/>
          <a:p>
            <a:fld id="{50CBF30B-DA7D-4015-8205-745C2BC9BF99}" type="datetime1">
              <a:rPr lang="en-GB" smtClean="0"/>
              <a:t>10/07/2026</a:t>
            </a:fld>
            <a:endParaRPr lang="en-GB"/>
          </a:p>
        </p:txBody>
      </p:sp>
      <p:sp>
        <p:nvSpPr>
          <p:cNvPr id="4" name="Marcador de Posição do Rodapé 3">
            <a:extLst>
              <a:ext uri="{FF2B5EF4-FFF2-40B4-BE49-F238E27FC236}">
                <a16:creationId xmlns:a16="http://schemas.microsoft.com/office/drawing/2014/main" id="{7BC5F434-B3DE-F0A4-4B17-12C04E4C63E6}"/>
              </a:ext>
            </a:extLst>
          </p:cNvPr>
          <p:cNvSpPr>
            <a:spLocks noGrp="1"/>
          </p:cNvSpPr>
          <p:nvPr>
            <p:ph type="ftr" sz="quarter" idx="11"/>
          </p:nvPr>
        </p:nvSpPr>
        <p:spPr/>
        <p:txBody>
          <a:bodyPr/>
          <a:lstStyle/>
          <a:p>
            <a:endParaRPr lang="en-GB"/>
          </a:p>
        </p:txBody>
      </p:sp>
      <p:sp>
        <p:nvSpPr>
          <p:cNvPr id="5" name="Marcador de Posição do Número do Diapositivo 4">
            <a:extLst>
              <a:ext uri="{FF2B5EF4-FFF2-40B4-BE49-F238E27FC236}">
                <a16:creationId xmlns:a16="http://schemas.microsoft.com/office/drawing/2014/main" id="{D355E7B4-87D9-46A9-1B93-BF420080B8E4}"/>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91469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a Data 1">
            <a:extLst>
              <a:ext uri="{FF2B5EF4-FFF2-40B4-BE49-F238E27FC236}">
                <a16:creationId xmlns:a16="http://schemas.microsoft.com/office/drawing/2014/main" id="{27DAF06C-AD15-3E0E-EE94-933061BD7AE4}"/>
              </a:ext>
            </a:extLst>
          </p:cNvPr>
          <p:cNvSpPr>
            <a:spLocks noGrp="1"/>
          </p:cNvSpPr>
          <p:nvPr>
            <p:ph type="dt" sz="half" idx="10"/>
          </p:nvPr>
        </p:nvSpPr>
        <p:spPr/>
        <p:txBody>
          <a:bodyPr/>
          <a:lstStyle/>
          <a:p>
            <a:fld id="{E43CC613-1CD7-4EC5-A35E-698E47A9A474}" type="datetime1">
              <a:rPr lang="en-GB" smtClean="0"/>
              <a:t>10/07/2026</a:t>
            </a:fld>
            <a:endParaRPr lang="en-GB"/>
          </a:p>
        </p:txBody>
      </p:sp>
      <p:sp>
        <p:nvSpPr>
          <p:cNvPr id="3" name="Marcador de Posição do Rodapé 2">
            <a:extLst>
              <a:ext uri="{FF2B5EF4-FFF2-40B4-BE49-F238E27FC236}">
                <a16:creationId xmlns:a16="http://schemas.microsoft.com/office/drawing/2014/main" id="{5A8D0982-61D1-0A4A-CCB7-CEB6B483C830}"/>
              </a:ext>
            </a:extLst>
          </p:cNvPr>
          <p:cNvSpPr>
            <a:spLocks noGrp="1"/>
          </p:cNvSpPr>
          <p:nvPr>
            <p:ph type="ftr" sz="quarter" idx="11"/>
          </p:nvPr>
        </p:nvSpPr>
        <p:spPr/>
        <p:txBody>
          <a:bodyPr/>
          <a:lstStyle/>
          <a:p>
            <a:endParaRPr lang="en-GB"/>
          </a:p>
        </p:txBody>
      </p:sp>
      <p:sp>
        <p:nvSpPr>
          <p:cNvPr id="4" name="Marcador de Posição do Número do Diapositivo 3">
            <a:extLst>
              <a:ext uri="{FF2B5EF4-FFF2-40B4-BE49-F238E27FC236}">
                <a16:creationId xmlns:a16="http://schemas.microsoft.com/office/drawing/2014/main" id="{547DDD37-31F2-A57A-E81E-04CC9C8784B9}"/>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153088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2863D4-F30A-0D72-C92D-1863883D9C9C}"/>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endParaRPr lang="en-GB"/>
          </a:p>
        </p:txBody>
      </p:sp>
      <p:sp>
        <p:nvSpPr>
          <p:cNvPr id="3" name="Marcador de Posição de Conteúdo 2">
            <a:extLst>
              <a:ext uri="{FF2B5EF4-FFF2-40B4-BE49-F238E27FC236}">
                <a16:creationId xmlns:a16="http://schemas.microsoft.com/office/drawing/2014/main" id="{48D05FA1-8D8E-D699-B249-41A0C66AD6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4" name="Marcador de Posição do Texto 3">
            <a:extLst>
              <a:ext uri="{FF2B5EF4-FFF2-40B4-BE49-F238E27FC236}">
                <a16:creationId xmlns:a16="http://schemas.microsoft.com/office/drawing/2014/main" id="{9A20C29C-C173-BA38-083B-9B7C9856D1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A1B446CF-96C3-5CF3-7FD6-9AEC578FA7B9}"/>
              </a:ext>
            </a:extLst>
          </p:cNvPr>
          <p:cNvSpPr>
            <a:spLocks noGrp="1"/>
          </p:cNvSpPr>
          <p:nvPr>
            <p:ph type="dt" sz="half" idx="10"/>
          </p:nvPr>
        </p:nvSpPr>
        <p:spPr/>
        <p:txBody>
          <a:bodyPr/>
          <a:lstStyle/>
          <a:p>
            <a:fld id="{8B0EA1DD-0AF1-4100-BD1B-F80EBF1DE00D}" type="datetime1">
              <a:rPr lang="en-GB" smtClean="0"/>
              <a:t>10/07/2026</a:t>
            </a:fld>
            <a:endParaRPr lang="en-GB"/>
          </a:p>
        </p:txBody>
      </p:sp>
      <p:sp>
        <p:nvSpPr>
          <p:cNvPr id="6" name="Marcador de Posição do Rodapé 5">
            <a:extLst>
              <a:ext uri="{FF2B5EF4-FFF2-40B4-BE49-F238E27FC236}">
                <a16:creationId xmlns:a16="http://schemas.microsoft.com/office/drawing/2014/main" id="{BC855EC8-463B-6885-44B0-AF3410FB46F6}"/>
              </a:ext>
            </a:extLst>
          </p:cNvPr>
          <p:cNvSpPr>
            <a:spLocks noGrp="1"/>
          </p:cNvSpPr>
          <p:nvPr>
            <p:ph type="ftr" sz="quarter" idx="11"/>
          </p:nvPr>
        </p:nvSpPr>
        <p:spPr/>
        <p:txBody>
          <a:bodyPr/>
          <a:lstStyle/>
          <a:p>
            <a:endParaRPr lang="en-GB"/>
          </a:p>
        </p:txBody>
      </p:sp>
      <p:sp>
        <p:nvSpPr>
          <p:cNvPr id="7" name="Marcador de Posição do Número do Diapositivo 6">
            <a:extLst>
              <a:ext uri="{FF2B5EF4-FFF2-40B4-BE49-F238E27FC236}">
                <a16:creationId xmlns:a16="http://schemas.microsoft.com/office/drawing/2014/main" id="{D2DC1361-45A3-CDCF-26E0-34CE763007A7}"/>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2501103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09778B-6F7A-B75E-2B30-68B64BCF2759}"/>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endParaRPr lang="en-GB"/>
          </a:p>
        </p:txBody>
      </p:sp>
      <p:sp>
        <p:nvSpPr>
          <p:cNvPr id="3" name="Marcador de Posição da Imagem 2">
            <a:extLst>
              <a:ext uri="{FF2B5EF4-FFF2-40B4-BE49-F238E27FC236}">
                <a16:creationId xmlns:a16="http://schemas.microsoft.com/office/drawing/2014/main" id="{38CD8B0B-5A2E-3396-8542-91E5F66939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Marcador de Posição do Texto 3">
            <a:extLst>
              <a:ext uri="{FF2B5EF4-FFF2-40B4-BE49-F238E27FC236}">
                <a16:creationId xmlns:a16="http://schemas.microsoft.com/office/drawing/2014/main" id="{66E4649C-8E11-A830-AF34-714067BF8C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3A50C109-165F-247C-5D77-5BADF5E08A3C}"/>
              </a:ext>
            </a:extLst>
          </p:cNvPr>
          <p:cNvSpPr>
            <a:spLocks noGrp="1"/>
          </p:cNvSpPr>
          <p:nvPr>
            <p:ph type="dt" sz="half" idx="10"/>
          </p:nvPr>
        </p:nvSpPr>
        <p:spPr/>
        <p:txBody>
          <a:bodyPr/>
          <a:lstStyle/>
          <a:p>
            <a:fld id="{81564DDE-2278-4A68-8D1D-B30E60C9CB80}" type="datetime1">
              <a:rPr lang="en-GB" smtClean="0"/>
              <a:t>10/07/2026</a:t>
            </a:fld>
            <a:endParaRPr lang="en-GB"/>
          </a:p>
        </p:txBody>
      </p:sp>
      <p:sp>
        <p:nvSpPr>
          <p:cNvPr id="6" name="Marcador de Posição do Rodapé 5">
            <a:extLst>
              <a:ext uri="{FF2B5EF4-FFF2-40B4-BE49-F238E27FC236}">
                <a16:creationId xmlns:a16="http://schemas.microsoft.com/office/drawing/2014/main" id="{7A2C9869-A7A8-6320-C86A-554052D414E4}"/>
              </a:ext>
            </a:extLst>
          </p:cNvPr>
          <p:cNvSpPr>
            <a:spLocks noGrp="1"/>
          </p:cNvSpPr>
          <p:nvPr>
            <p:ph type="ftr" sz="quarter" idx="11"/>
          </p:nvPr>
        </p:nvSpPr>
        <p:spPr/>
        <p:txBody>
          <a:bodyPr/>
          <a:lstStyle/>
          <a:p>
            <a:endParaRPr lang="en-GB"/>
          </a:p>
        </p:txBody>
      </p:sp>
      <p:sp>
        <p:nvSpPr>
          <p:cNvPr id="7" name="Marcador de Posição do Número do Diapositivo 6">
            <a:extLst>
              <a:ext uri="{FF2B5EF4-FFF2-40B4-BE49-F238E27FC236}">
                <a16:creationId xmlns:a16="http://schemas.microsoft.com/office/drawing/2014/main" id="{572E6B9B-961E-96FE-7FAF-192DEB3E12EF}"/>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481047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8A15D8-FA87-A1EF-D928-48780D77714E}"/>
              </a:ext>
            </a:extLst>
          </p:cNvPr>
          <p:cNvSpPr>
            <a:spLocks noGrp="1"/>
          </p:cNvSpPr>
          <p:nvPr>
            <p:ph type="title"/>
          </p:nvPr>
        </p:nvSpPr>
        <p:spPr/>
        <p:txBody>
          <a:bodyPr/>
          <a:lstStyle/>
          <a:p>
            <a:r>
              <a:rPr lang="pt-PT"/>
              <a:t>Clique para editar o estilo de título do Modelo Global</a:t>
            </a:r>
            <a:endParaRPr lang="en-GB"/>
          </a:p>
        </p:txBody>
      </p:sp>
      <p:sp>
        <p:nvSpPr>
          <p:cNvPr id="3" name="Marcador de Posição de Texto Vertical 2">
            <a:extLst>
              <a:ext uri="{FF2B5EF4-FFF2-40B4-BE49-F238E27FC236}">
                <a16:creationId xmlns:a16="http://schemas.microsoft.com/office/drawing/2014/main" id="{B0A8ECEB-7693-25E0-2E52-E6C81563B632}"/>
              </a:ext>
            </a:extLst>
          </p:cNvPr>
          <p:cNvSpPr>
            <a:spLocks noGrp="1"/>
          </p:cNvSpPr>
          <p:nvPr>
            <p:ph type="body" orient="vert" idx="1"/>
          </p:nvPr>
        </p:nvSpPr>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4" name="Marcador de Posição da Data 3">
            <a:extLst>
              <a:ext uri="{FF2B5EF4-FFF2-40B4-BE49-F238E27FC236}">
                <a16:creationId xmlns:a16="http://schemas.microsoft.com/office/drawing/2014/main" id="{E778427F-3C36-A0DE-2CD7-415E699D3D04}"/>
              </a:ext>
            </a:extLst>
          </p:cNvPr>
          <p:cNvSpPr>
            <a:spLocks noGrp="1"/>
          </p:cNvSpPr>
          <p:nvPr>
            <p:ph type="dt" sz="half" idx="10"/>
          </p:nvPr>
        </p:nvSpPr>
        <p:spPr/>
        <p:txBody>
          <a:bodyPr/>
          <a:lstStyle/>
          <a:p>
            <a:fld id="{B5AC49CF-46CE-4B21-AE6A-AF4405642FC5}" type="datetime1">
              <a:rPr lang="en-GB" smtClean="0"/>
              <a:t>10/07/2026</a:t>
            </a:fld>
            <a:endParaRPr lang="en-GB"/>
          </a:p>
        </p:txBody>
      </p:sp>
      <p:sp>
        <p:nvSpPr>
          <p:cNvPr id="5" name="Marcador de Posição do Rodapé 4">
            <a:extLst>
              <a:ext uri="{FF2B5EF4-FFF2-40B4-BE49-F238E27FC236}">
                <a16:creationId xmlns:a16="http://schemas.microsoft.com/office/drawing/2014/main" id="{4CB11CFB-F37D-30D2-CF2F-B07F3897FBD5}"/>
              </a:ext>
            </a:extLst>
          </p:cNvPr>
          <p:cNvSpPr>
            <a:spLocks noGrp="1"/>
          </p:cNvSpPr>
          <p:nvPr>
            <p:ph type="ftr" sz="quarter" idx="11"/>
          </p:nvPr>
        </p:nvSpPr>
        <p:spPr/>
        <p:txBody>
          <a:bodyPr/>
          <a:lstStyle/>
          <a:p>
            <a:endParaRPr lang="en-GB"/>
          </a:p>
        </p:txBody>
      </p:sp>
      <p:sp>
        <p:nvSpPr>
          <p:cNvPr id="6" name="Marcador de Posição do Número do Diapositivo 5">
            <a:extLst>
              <a:ext uri="{FF2B5EF4-FFF2-40B4-BE49-F238E27FC236}">
                <a16:creationId xmlns:a16="http://schemas.microsoft.com/office/drawing/2014/main" id="{A7B6F960-AAA5-EF92-8C35-2E045B679D8B}"/>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593852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83C6224-1D27-E748-3319-0810C4D0D440}"/>
              </a:ext>
            </a:extLst>
          </p:cNvPr>
          <p:cNvSpPr>
            <a:spLocks noGrp="1"/>
          </p:cNvSpPr>
          <p:nvPr>
            <p:ph type="title" orient="vert"/>
          </p:nvPr>
        </p:nvSpPr>
        <p:spPr>
          <a:xfrm>
            <a:off x="8724900" y="365125"/>
            <a:ext cx="2628900" cy="5811838"/>
          </a:xfrm>
        </p:spPr>
        <p:txBody>
          <a:bodyPr vert="eaVert"/>
          <a:lstStyle/>
          <a:p>
            <a:r>
              <a:rPr lang="pt-PT"/>
              <a:t>Clique para editar o estilo de título do Modelo Global</a:t>
            </a:r>
            <a:endParaRPr lang="en-GB"/>
          </a:p>
        </p:txBody>
      </p:sp>
      <p:sp>
        <p:nvSpPr>
          <p:cNvPr id="3" name="Marcador de Posição de Texto Vertical 2">
            <a:extLst>
              <a:ext uri="{FF2B5EF4-FFF2-40B4-BE49-F238E27FC236}">
                <a16:creationId xmlns:a16="http://schemas.microsoft.com/office/drawing/2014/main" id="{817A4506-4300-3468-94BA-89CCC28D8E95}"/>
              </a:ext>
            </a:extLst>
          </p:cNvPr>
          <p:cNvSpPr>
            <a:spLocks noGrp="1"/>
          </p:cNvSpPr>
          <p:nvPr>
            <p:ph type="body" orient="vert" idx="1"/>
          </p:nvPr>
        </p:nvSpPr>
        <p:spPr>
          <a:xfrm>
            <a:off x="838200" y="365125"/>
            <a:ext cx="7734300" cy="5811838"/>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4" name="Marcador de Posição da Data 3">
            <a:extLst>
              <a:ext uri="{FF2B5EF4-FFF2-40B4-BE49-F238E27FC236}">
                <a16:creationId xmlns:a16="http://schemas.microsoft.com/office/drawing/2014/main" id="{31FDE97F-3F28-880A-F2D8-921325BB1F3A}"/>
              </a:ext>
            </a:extLst>
          </p:cNvPr>
          <p:cNvSpPr>
            <a:spLocks noGrp="1"/>
          </p:cNvSpPr>
          <p:nvPr>
            <p:ph type="dt" sz="half" idx="10"/>
          </p:nvPr>
        </p:nvSpPr>
        <p:spPr/>
        <p:txBody>
          <a:bodyPr/>
          <a:lstStyle/>
          <a:p>
            <a:fld id="{81A6A34D-1CC7-41CC-85F9-21F475540462}" type="datetime1">
              <a:rPr lang="en-GB" smtClean="0"/>
              <a:t>10/07/2026</a:t>
            </a:fld>
            <a:endParaRPr lang="en-GB"/>
          </a:p>
        </p:txBody>
      </p:sp>
      <p:sp>
        <p:nvSpPr>
          <p:cNvPr id="5" name="Marcador de Posição do Rodapé 4">
            <a:extLst>
              <a:ext uri="{FF2B5EF4-FFF2-40B4-BE49-F238E27FC236}">
                <a16:creationId xmlns:a16="http://schemas.microsoft.com/office/drawing/2014/main" id="{10AF1666-CBF3-2C4C-3A8D-EE9DE21DA355}"/>
              </a:ext>
            </a:extLst>
          </p:cNvPr>
          <p:cNvSpPr>
            <a:spLocks noGrp="1"/>
          </p:cNvSpPr>
          <p:nvPr>
            <p:ph type="ftr" sz="quarter" idx="11"/>
          </p:nvPr>
        </p:nvSpPr>
        <p:spPr/>
        <p:txBody>
          <a:bodyPr/>
          <a:lstStyle/>
          <a:p>
            <a:endParaRPr lang="en-GB"/>
          </a:p>
        </p:txBody>
      </p:sp>
      <p:sp>
        <p:nvSpPr>
          <p:cNvPr id="6" name="Marcador de Posição do Número do Diapositivo 5">
            <a:extLst>
              <a:ext uri="{FF2B5EF4-FFF2-40B4-BE49-F238E27FC236}">
                <a16:creationId xmlns:a16="http://schemas.microsoft.com/office/drawing/2014/main" id="{CBC7D222-5A79-7CCE-2D6B-8EFB193C08B7}"/>
              </a:ext>
            </a:extLst>
          </p:cNvPr>
          <p:cNvSpPr>
            <a:spLocks noGrp="1"/>
          </p:cNvSpPr>
          <p:nvPr>
            <p:ph type="sldNum" sz="quarter" idx="12"/>
          </p:nvPr>
        </p:nvSpPr>
        <p:spPr/>
        <p:txBody>
          <a:bodyPr/>
          <a:lstStyle/>
          <a:p>
            <a:fld id="{6D49FC33-1B8E-4C1B-8D07-84B8EBAC733E}" type="slidenum">
              <a:rPr lang="en-GB" smtClean="0"/>
              <a:t>‹nº›</a:t>
            </a:fld>
            <a:endParaRPr lang="en-GB"/>
          </a:p>
        </p:txBody>
      </p:sp>
    </p:spTree>
    <p:extLst>
      <p:ext uri="{BB962C8B-B14F-4D97-AF65-F5344CB8AC3E}">
        <p14:creationId xmlns:p14="http://schemas.microsoft.com/office/powerpoint/2010/main" val="1120599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Título 1">
            <a:extLst>
              <a:ext uri="{FF2B5EF4-FFF2-40B4-BE49-F238E27FC236}">
                <a16:creationId xmlns:a16="http://schemas.microsoft.com/office/drawing/2014/main" id="{77B15271-E7C0-1FE9-0DEE-F7D20D188B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PT"/>
              <a:t>Clique para editar o estilo de título do Modelo Global</a:t>
            </a:r>
            <a:endParaRPr lang="en-GB"/>
          </a:p>
        </p:txBody>
      </p:sp>
      <p:sp>
        <p:nvSpPr>
          <p:cNvPr id="3" name="Marcador de Posição do Texto 2">
            <a:extLst>
              <a:ext uri="{FF2B5EF4-FFF2-40B4-BE49-F238E27FC236}">
                <a16:creationId xmlns:a16="http://schemas.microsoft.com/office/drawing/2014/main" id="{15D6AAEF-C90F-556D-F56B-4515C4E8E5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GB"/>
          </a:p>
        </p:txBody>
      </p:sp>
      <p:sp>
        <p:nvSpPr>
          <p:cNvPr id="4" name="Marcador de Posição da Data 3">
            <a:extLst>
              <a:ext uri="{FF2B5EF4-FFF2-40B4-BE49-F238E27FC236}">
                <a16:creationId xmlns:a16="http://schemas.microsoft.com/office/drawing/2014/main" id="{802B3321-DE42-D999-232A-90D64F65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E21D7C6-184B-4799-A4C0-6160F65168AC}" type="datetime1">
              <a:rPr lang="en-GB" smtClean="0"/>
              <a:t>10/07/2026</a:t>
            </a:fld>
            <a:endParaRPr lang="en-GB"/>
          </a:p>
        </p:txBody>
      </p:sp>
      <p:sp>
        <p:nvSpPr>
          <p:cNvPr id="5" name="Marcador de Posição do Rodapé 4">
            <a:extLst>
              <a:ext uri="{FF2B5EF4-FFF2-40B4-BE49-F238E27FC236}">
                <a16:creationId xmlns:a16="http://schemas.microsoft.com/office/drawing/2014/main" id="{DAB5B98B-9B08-FAAB-1B77-9F57C552C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Marcador de Posição do Número do Diapositivo 5">
            <a:extLst>
              <a:ext uri="{FF2B5EF4-FFF2-40B4-BE49-F238E27FC236}">
                <a16:creationId xmlns:a16="http://schemas.microsoft.com/office/drawing/2014/main" id="{2D851498-54A7-0FDB-366D-E8D053B208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49FC33-1B8E-4C1B-8D07-84B8EBAC733E}" type="slidenum">
              <a:rPr lang="en-GB" smtClean="0"/>
              <a:t>‹nº›</a:t>
            </a:fld>
            <a:endParaRPr lang="en-GB"/>
          </a:p>
        </p:txBody>
      </p:sp>
    </p:spTree>
    <p:extLst>
      <p:ext uri="{BB962C8B-B14F-4D97-AF65-F5344CB8AC3E}">
        <p14:creationId xmlns:p14="http://schemas.microsoft.com/office/powerpoint/2010/main" val="1105250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www.internationalgenome.org/"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www.ncbi.nlm.nih.gov/snp/" TargetMode="External"/><Relationship Id="rId5" Type="http://schemas.openxmlformats.org/officeDocument/2006/relationships/hyperlink" Target="https://gnomad.broadinstitute.org/" TargetMode="Externa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gif"/><Relationship Id="rId7" Type="http://schemas.openxmlformats.org/officeDocument/2006/relationships/hyperlink" Target="https://www.hgmd.cf.ac.uk/ac/index.php" TargetMode="Externa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hyperlink" Target="https://www.ncbi.nlm.nih.gov/clinvar/" TargetMode="External"/><Relationship Id="rId5" Type="http://schemas.openxmlformats.org/officeDocument/2006/relationships/hyperlink" Target="https://www.deciphergenomics.org/" TargetMode="Externa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hyperlink" Target="https://www.deciphergenomics.org/" TargetMode="External"/></Relationships>
</file>

<file path=ppt/slides/_rels/slide11.xml.rels><?xml version="1.0" encoding="UTF-8" standalone="yes"?>
<Relationships xmlns="http://schemas.openxmlformats.org/package/2006/relationships"><Relationship Id="rId8" Type="http://schemas.openxmlformats.org/officeDocument/2006/relationships/hyperlink" Target="https://www.orpha.net/pt/disease" TargetMode="External"/><Relationship Id="rId3" Type="http://schemas.openxmlformats.org/officeDocument/2006/relationships/image" Target="../media/image10.png"/><Relationship Id="rId7" Type="http://schemas.openxmlformats.org/officeDocument/2006/relationships/hyperlink" Target="https://thegencc.org/" TargetMode="External"/><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hyperlink" Target="https://www.ebi.ac.uk/gene2phenotype/" TargetMode="External"/><Relationship Id="rId11" Type="http://schemas.openxmlformats.org/officeDocument/2006/relationships/image" Target="../media/image13.png"/><Relationship Id="rId5" Type="http://schemas.openxmlformats.org/officeDocument/2006/relationships/image" Target="../media/image12.jpeg"/><Relationship Id="rId10" Type="http://schemas.openxmlformats.org/officeDocument/2006/relationships/hyperlink" Target="https://clinicalgenome.org/" TargetMode="External"/><Relationship Id="rId4" Type="http://schemas.openxmlformats.org/officeDocument/2006/relationships/image" Target="../media/image11.jpeg"/><Relationship Id="rId9" Type="http://schemas.openxmlformats.org/officeDocument/2006/relationships/hyperlink" Target="https://www.omim.org/"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variantvalidator.org/service/validate/" TargetMode="Externa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hyperlink" Target="https://gnomad.broadinstitute.or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F736CF-99B3-4B9D-2135-5C426AA76720}"/>
              </a:ext>
            </a:extLst>
          </p:cNvPr>
          <p:cNvSpPr>
            <a:spLocks noGrp="1"/>
          </p:cNvSpPr>
          <p:nvPr>
            <p:ph type="title"/>
          </p:nvPr>
        </p:nvSpPr>
        <p:spPr>
          <a:xfrm>
            <a:off x="838200" y="2766218"/>
            <a:ext cx="10515600" cy="1325563"/>
          </a:xfrm>
        </p:spPr>
        <p:txBody>
          <a:bodyPr/>
          <a:lstStyle/>
          <a:p>
            <a:pPr algn="ctr"/>
            <a:r>
              <a:rPr lang="en-GB" dirty="0" err="1"/>
              <a:t>Interpretação</a:t>
            </a:r>
            <a:r>
              <a:rPr lang="en-GB" dirty="0"/>
              <a:t> de </a:t>
            </a:r>
            <a:r>
              <a:rPr lang="en-GB" dirty="0" err="1"/>
              <a:t>variantes</a:t>
            </a:r>
            <a:r>
              <a:rPr lang="en-GB" dirty="0"/>
              <a:t> </a:t>
            </a:r>
            <a:r>
              <a:rPr lang="en-GB" dirty="0" err="1"/>
              <a:t>genómicas</a:t>
            </a:r>
            <a:endParaRPr lang="en-GB" dirty="0"/>
          </a:p>
        </p:txBody>
      </p:sp>
      <p:sp>
        <p:nvSpPr>
          <p:cNvPr id="4" name="Marcador de Posição do Número do Diapositivo 3">
            <a:extLst>
              <a:ext uri="{FF2B5EF4-FFF2-40B4-BE49-F238E27FC236}">
                <a16:creationId xmlns:a16="http://schemas.microsoft.com/office/drawing/2014/main" id="{648FC219-148B-D940-1F6A-CB42A0C1CC63}"/>
              </a:ext>
            </a:extLst>
          </p:cNvPr>
          <p:cNvSpPr>
            <a:spLocks noGrp="1"/>
          </p:cNvSpPr>
          <p:nvPr>
            <p:ph type="sldNum" sz="quarter" idx="12"/>
          </p:nvPr>
        </p:nvSpPr>
        <p:spPr/>
        <p:txBody>
          <a:bodyPr/>
          <a:lstStyle/>
          <a:p>
            <a:fld id="{6D49FC33-1B8E-4C1B-8D07-84B8EBAC733E}" type="slidenum">
              <a:rPr lang="en-GB" smtClean="0"/>
              <a:t>1</a:t>
            </a:fld>
            <a:endParaRPr lang="en-GB"/>
          </a:p>
        </p:txBody>
      </p:sp>
    </p:spTree>
    <p:extLst>
      <p:ext uri="{BB962C8B-B14F-4D97-AF65-F5344CB8AC3E}">
        <p14:creationId xmlns:p14="http://schemas.microsoft.com/office/powerpoint/2010/main" val="553347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3757FC-07BD-BF2E-9227-0027ED3B0C51}"/>
              </a:ext>
            </a:extLst>
          </p:cNvPr>
          <p:cNvSpPr>
            <a:spLocks noGrp="1"/>
          </p:cNvSpPr>
          <p:nvPr>
            <p:ph type="ctrTitle"/>
          </p:nvPr>
        </p:nvSpPr>
        <p:spPr/>
        <p:txBody>
          <a:bodyPr/>
          <a:lstStyle/>
          <a:p>
            <a:r>
              <a:rPr lang="en-GB" dirty="0" err="1"/>
              <a:t>Sessão</a:t>
            </a:r>
            <a:r>
              <a:rPr lang="en-GB" dirty="0"/>
              <a:t> 2</a:t>
            </a:r>
          </a:p>
        </p:txBody>
      </p:sp>
      <p:sp>
        <p:nvSpPr>
          <p:cNvPr id="3" name="Subtítulo 2">
            <a:extLst>
              <a:ext uri="{FF2B5EF4-FFF2-40B4-BE49-F238E27FC236}">
                <a16:creationId xmlns:a16="http://schemas.microsoft.com/office/drawing/2014/main" id="{8CC3B287-B634-1547-022A-B1246031F3CA}"/>
              </a:ext>
            </a:extLst>
          </p:cNvPr>
          <p:cNvSpPr>
            <a:spLocks noGrp="1"/>
          </p:cNvSpPr>
          <p:nvPr>
            <p:ph type="subTitle" idx="1"/>
          </p:nvPr>
        </p:nvSpPr>
        <p:spPr/>
        <p:txBody>
          <a:bodyPr/>
          <a:lstStyle/>
          <a:p>
            <a:r>
              <a:rPr lang="en-GB" dirty="0" err="1"/>
              <a:t>Variantes</a:t>
            </a:r>
            <a:r>
              <a:rPr lang="en-GB" dirty="0"/>
              <a:t> </a:t>
            </a:r>
            <a:r>
              <a:rPr lang="en-GB" dirty="0" err="1"/>
              <a:t>associadas</a:t>
            </a:r>
            <a:r>
              <a:rPr lang="en-GB" dirty="0"/>
              <a:t> a </a:t>
            </a:r>
            <a:r>
              <a:rPr lang="en-GB" dirty="0" err="1"/>
              <a:t>doenças</a:t>
            </a:r>
            <a:endParaRPr lang="en-GB" dirty="0"/>
          </a:p>
        </p:txBody>
      </p:sp>
    </p:spTree>
    <p:extLst>
      <p:ext uri="{BB962C8B-B14F-4D97-AF65-F5344CB8AC3E}">
        <p14:creationId xmlns:p14="http://schemas.microsoft.com/office/powerpoint/2010/main" val="3225334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559B2A-3B40-E6CB-0B3F-67D6B7E07573}"/>
              </a:ext>
            </a:extLst>
          </p:cNvPr>
          <p:cNvSpPr>
            <a:spLocks noGrp="1"/>
          </p:cNvSpPr>
          <p:nvPr>
            <p:ph type="title"/>
          </p:nvPr>
        </p:nvSpPr>
        <p:spPr/>
        <p:txBody>
          <a:bodyPr/>
          <a:lstStyle/>
          <a:p>
            <a:r>
              <a:rPr lang="pt-PT" dirty="0"/>
              <a:t>Processo de analise de variantes</a:t>
            </a:r>
          </a:p>
        </p:txBody>
      </p:sp>
      <p:sp>
        <p:nvSpPr>
          <p:cNvPr id="4" name="Marcador de Posição do Número do Diapositivo 3">
            <a:extLst>
              <a:ext uri="{FF2B5EF4-FFF2-40B4-BE49-F238E27FC236}">
                <a16:creationId xmlns:a16="http://schemas.microsoft.com/office/drawing/2014/main" id="{1A691285-F7BA-9D3C-88E8-CDFEDEEFAEC6}"/>
              </a:ext>
            </a:extLst>
          </p:cNvPr>
          <p:cNvSpPr>
            <a:spLocks noGrp="1"/>
          </p:cNvSpPr>
          <p:nvPr>
            <p:ph type="sldNum" sz="quarter" idx="12"/>
          </p:nvPr>
        </p:nvSpPr>
        <p:spPr/>
        <p:txBody>
          <a:bodyPr/>
          <a:lstStyle/>
          <a:p>
            <a:fld id="{6D49FC33-1B8E-4C1B-8D07-84B8EBAC733E}" type="slidenum">
              <a:rPr lang="en-GB" smtClean="0"/>
              <a:t>3</a:t>
            </a:fld>
            <a:endParaRPr lang="en-GB"/>
          </a:p>
        </p:txBody>
      </p:sp>
      <p:graphicFrame>
        <p:nvGraphicFramePr>
          <p:cNvPr id="9" name="Diagrama 8">
            <a:extLst>
              <a:ext uri="{FF2B5EF4-FFF2-40B4-BE49-F238E27FC236}">
                <a16:creationId xmlns:a16="http://schemas.microsoft.com/office/drawing/2014/main" id="{74705FB6-EEF6-3CD3-3F9D-54088A236DDF}"/>
              </a:ext>
            </a:extLst>
          </p:cNvPr>
          <p:cNvGraphicFramePr/>
          <p:nvPr>
            <p:extLst>
              <p:ext uri="{D42A27DB-BD31-4B8C-83A1-F6EECF244321}">
                <p14:modId xmlns:p14="http://schemas.microsoft.com/office/powerpoint/2010/main" val="1890748005"/>
              </p:ext>
            </p:extLst>
          </p:nvPr>
        </p:nvGraphicFramePr>
        <p:xfrm>
          <a:off x="538480" y="292946"/>
          <a:ext cx="11023600" cy="61992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eta: Em Ângulo 2">
            <a:extLst>
              <a:ext uri="{FF2B5EF4-FFF2-40B4-BE49-F238E27FC236}">
                <a16:creationId xmlns:a16="http://schemas.microsoft.com/office/drawing/2014/main" id="{0BAC4825-16C3-27AA-9113-0AE2023D3B81}"/>
              </a:ext>
            </a:extLst>
          </p:cNvPr>
          <p:cNvSpPr/>
          <p:nvPr/>
        </p:nvSpPr>
        <p:spPr>
          <a:xfrm flipV="1">
            <a:off x="7383295" y="4260715"/>
            <a:ext cx="2811293" cy="1770434"/>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PT" dirty="0">
              <a:solidFill>
                <a:schemeClr val="tx1"/>
              </a:solidFill>
            </a:endParaRPr>
          </a:p>
        </p:txBody>
      </p:sp>
      <p:sp>
        <p:nvSpPr>
          <p:cNvPr id="6" name="CaixaDeTexto 5">
            <a:extLst>
              <a:ext uri="{FF2B5EF4-FFF2-40B4-BE49-F238E27FC236}">
                <a16:creationId xmlns:a16="http://schemas.microsoft.com/office/drawing/2014/main" id="{097F1C4A-7E71-4D0C-CD13-0C27F61212F9}"/>
              </a:ext>
            </a:extLst>
          </p:cNvPr>
          <p:cNvSpPr txBox="1"/>
          <p:nvPr/>
        </p:nvSpPr>
        <p:spPr>
          <a:xfrm>
            <a:off x="8083685" y="5436156"/>
            <a:ext cx="3647873" cy="369332"/>
          </a:xfrm>
          <a:prstGeom prst="rect">
            <a:avLst/>
          </a:prstGeom>
          <a:noFill/>
        </p:spPr>
        <p:txBody>
          <a:bodyPr wrap="square" rtlCol="0">
            <a:spAutoFit/>
          </a:bodyPr>
          <a:lstStyle/>
          <a:p>
            <a:r>
              <a:rPr lang="pt-PT" b="1" dirty="0">
                <a:solidFill>
                  <a:schemeClr val="bg1"/>
                </a:solidFill>
              </a:rPr>
              <a:t>Manualmente</a:t>
            </a:r>
          </a:p>
        </p:txBody>
      </p:sp>
    </p:spTree>
    <p:extLst>
      <p:ext uri="{BB962C8B-B14F-4D97-AF65-F5344CB8AC3E}">
        <p14:creationId xmlns:p14="http://schemas.microsoft.com/office/powerpoint/2010/main" val="20608969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osição do Número do Diapositivo 3">
            <a:extLst>
              <a:ext uri="{FF2B5EF4-FFF2-40B4-BE49-F238E27FC236}">
                <a16:creationId xmlns:a16="http://schemas.microsoft.com/office/drawing/2014/main" id="{E1F19F32-D830-753A-1C53-8FFCC1E0511D}"/>
              </a:ext>
            </a:extLst>
          </p:cNvPr>
          <p:cNvSpPr>
            <a:spLocks noGrp="1"/>
          </p:cNvSpPr>
          <p:nvPr>
            <p:ph type="sldNum" sz="quarter" idx="12"/>
          </p:nvPr>
        </p:nvSpPr>
        <p:spPr/>
        <p:txBody>
          <a:bodyPr/>
          <a:lstStyle/>
          <a:p>
            <a:fld id="{6D49FC33-1B8E-4C1B-8D07-84B8EBAC733E}" type="slidenum">
              <a:rPr lang="en-GB" smtClean="0"/>
              <a:t>4</a:t>
            </a:fld>
            <a:endParaRPr lang="en-GB"/>
          </a:p>
        </p:txBody>
      </p:sp>
      <p:graphicFrame>
        <p:nvGraphicFramePr>
          <p:cNvPr id="10" name="Diagrama 9">
            <a:extLst>
              <a:ext uri="{FF2B5EF4-FFF2-40B4-BE49-F238E27FC236}">
                <a16:creationId xmlns:a16="http://schemas.microsoft.com/office/drawing/2014/main" id="{5CFBB4A2-7A2A-B82A-DFF6-CA93C3890378}"/>
              </a:ext>
            </a:extLst>
          </p:cNvPr>
          <p:cNvGraphicFramePr/>
          <p:nvPr>
            <p:extLst>
              <p:ext uri="{D42A27DB-BD31-4B8C-83A1-F6EECF244321}">
                <p14:modId xmlns:p14="http://schemas.microsoft.com/office/powerpoint/2010/main" val="4158009868"/>
              </p:ext>
            </p:extLst>
          </p:nvPr>
        </p:nvGraphicFramePr>
        <p:xfrm>
          <a:off x="-1" y="106822"/>
          <a:ext cx="12192001" cy="65468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0223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72C16C-D876-74D3-B466-DA900E2AD66A}"/>
              </a:ext>
            </a:extLst>
          </p:cNvPr>
          <p:cNvSpPr>
            <a:spLocks noGrp="1"/>
          </p:cNvSpPr>
          <p:nvPr>
            <p:ph type="title"/>
          </p:nvPr>
        </p:nvSpPr>
        <p:spPr/>
        <p:txBody>
          <a:bodyPr/>
          <a:lstStyle/>
          <a:p>
            <a:r>
              <a:rPr lang="en-GB" dirty="0"/>
              <a:t>Bases de dados de </a:t>
            </a:r>
            <a:r>
              <a:rPr lang="en-GB" dirty="0" err="1"/>
              <a:t>variantes</a:t>
            </a:r>
            <a:r>
              <a:rPr lang="en-GB" dirty="0"/>
              <a:t> </a:t>
            </a:r>
            <a:r>
              <a:rPr lang="en-GB" dirty="0" err="1"/>
              <a:t>benignas</a:t>
            </a:r>
            <a:br>
              <a:rPr lang="en-GB" dirty="0"/>
            </a:br>
            <a:r>
              <a:rPr lang="en-GB" sz="3200" dirty="0" err="1"/>
              <a:t>Frequências</a:t>
            </a:r>
            <a:r>
              <a:rPr lang="en-GB" sz="3200" dirty="0"/>
              <a:t> </a:t>
            </a:r>
            <a:r>
              <a:rPr lang="en-GB" sz="3200" dirty="0" err="1"/>
              <a:t>na</a:t>
            </a:r>
            <a:r>
              <a:rPr lang="en-GB" sz="3200" dirty="0"/>
              <a:t> </a:t>
            </a:r>
            <a:r>
              <a:rPr lang="en-GB" sz="3200" dirty="0" err="1"/>
              <a:t>população</a:t>
            </a:r>
            <a:r>
              <a:rPr lang="en-GB" sz="3200" dirty="0"/>
              <a:t> </a:t>
            </a:r>
            <a:r>
              <a:rPr lang="en-GB" sz="3200" dirty="0" err="1"/>
              <a:t>comum</a:t>
            </a:r>
            <a:endParaRPr lang="en-GB" dirty="0"/>
          </a:p>
        </p:txBody>
      </p:sp>
      <p:sp>
        <p:nvSpPr>
          <p:cNvPr id="6" name="Marcador de Posição do Número do Diapositivo 5">
            <a:extLst>
              <a:ext uri="{FF2B5EF4-FFF2-40B4-BE49-F238E27FC236}">
                <a16:creationId xmlns:a16="http://schemas.microsoft.com/office/drawing/2014/main" id="{27CFF95B-1F2E-81E7-48DD-A9DD1C9E8B12}"/>
              </a:ext>
            </a:extLst>
          </p:cNvPr>
          <p:cNvSpPr>
            <a:spLocks noGrp="1"/>
          </p:cNvSpPr>
          <p:nvPr>
            <p:ph type="sldNum" sz="quarter" idx="12"/>
          </p:nvPr>
        </p:nvSpPr>
        <p:spPr/>
        <p:txBody>
          <a:bodyPr/>
          <a:lstStyle/>
          <a:p>
            <a:fld id="{6D49FC33-1B8E-4C1B-8D07-84B8EBAC733E}" type="slidenum">
              <a:rPr lang="en-GB" smtClean="0"/>
              <a:t>5</a:t>
            </a:fld>
            <a:endParaRPr lang="en-GB"/>
          </a:p>
        </p:txBody>
      </p:sp>
      <p:sp>
        <p:nvSpPr>
          <p:cNvPr id="3" name="CaixaDeTexto 2">
            <a:extLst>
              <a:ext uri="{FF2B5EF4-FFF2-40B4-BE49-F238E27FC236}">
                <a16:creationId xmlns:a16="http://schemas.microsoft.com/office/drawing/2014/main" id="{082EA18D-808B-77E9-448B-F35265B4392C}"/>
              </a:ext>
            </a:extLst>
          </p:cNvPr>
          <p:cNvSpPr txBox="1"/>
          <p:nvPr/>
        </p:nvSpPr>
        <p:spPr>
          <a:xfrm>
            <a:off x="525292" y="1568360"/>
            <a:ext cx="11391089" cy="1754326"/>
          </a:xfrm>
          <a:prstGeom prst="rect">
            <a:avLst/>
          </a:prstGeom>
          <a:noFill/>
        </p:spPr>
        <p:txBody>
          <a:bodyPr wrap="square" rtlCol="0">
            <a:spAutoFit/>
          </a:bodyPr>
          <a:lstStyle/>
          <a:p>
            <a:pPr algn="just"/>
            <a:r>
              <a:rPr lang="pt-PT" dirty="0"/>
              <a:t>Ao avaliar a patogenicidade de uma variante, assume-se geralmente, de forma segura, que uma variante causadora de doença não deverá ocorrer em indivíduos não afetados, especialmente em condições graves com elevada </a:t>
            </a:r>
            <a:r>
              <a:rPr lang="pt-PT" dirty="0" err="1"/>
              <a:t>penetrância</a:t>
            </a:r>
            <a:r>
              <a:rPr lang="pt-PT" dirty="0"/>
              <a:t>. Esta avaliação é realizada através da análise das frequências alélicas e </a:t>
            </a:r>
            <a:r>
              <a:rPr lang="pt-PT" dirty="0" err="1"/>
              <a:t>genotípicas</a:t>
            </a:r>
            <a:r>
              <a:rPr lang="pt-PT" dirty="0"/>
              <a:t> na população.</a:t>
            </a:r>
          </a:p>
          <a:p>
            <a:pPr algn="just"/>
            <a:endParaRPr lang="pt-PT" dirty="0"/>
          </a:p>
          <a:p>
            <a:pPr algn="just"/>
            <a:r>
              <a:rPr lang="pt-PT" dirty="0"/>
              <a:t>Para isto podemos usar bases de dados como:</a:t>
            </a:r>
          </a:p>
        </p:txBody>
      </p:sp>
      <p:sp>
        <p:nvSpPr>
          <p:cNvPr id="21" name="Retângulo 20">
            <a:extLst>
              <a:ext uri="{FF2B5EF4-FFF2-40B4-BE49-F238E27FC236}">
                <a16:creationId xmlns:a16="http://schemas.microsoft.com/office/drawing/2014/main" id="{C0C9ECCF-085A-F55D-1026-D1D96C67218E}"/>
              </a:ext>
            </a:extLst>
          </p:cNvPr>
          <p:cNvSpPr/>
          <p:nvPr/>
        </p:nvSpPr>
        <p:spPr>
          <a:xfrm>
            <a:off x="457201" y="3433864"/>
            <a:ext cx="3686782" cy="18482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2" descr="The Control Plane for Data Agents | 20minds">
            <a:extLst>
              <a:ext uri="{FF2B5EF4-FFF2-40B4-BE49-F238E27FC236}">
                <a16:creationId xmlns:a16="http://schemas.microsoft.com/office/drawing/2014/main" id="{3FE8D0D0-0A56-39C6-9E2E-770CFD3F21F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931" t="15392" r="11037" b="15367"/>
          <a:stretch/>
        </p:blipFill>
        <p:spPr bwMode="auto">
          <a:xfrm>
            <a:off x="5137825" y="3725694"/>
            <a:ext cx="2616741" cy="121204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sing gnomAD to Drive Insights in Precision Medicine">
            <a:extLst>
              <a:ext uri="{FF2B5EF4-FFF2-40B4-BE49-F238E27FC236}">
                <a16:creationId xmlns:a16="http://schemas.microsoft.com/office/drawing/2014/main" id="{400521E9-95AF-24AE-FC28-3F53127B1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967" t="14011" r="7400" b="6835"/>
          <a:stretch/>
        </p:blipFill>
        <p:spPr bwMode="auto">
          <a:xfrm>
            <a:off x="642026" y="3618693"/>
            <a:ext cx="3307404" cy="144942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Nov3 2015 1000 Genomes Project">
            <a:extLst>
              <a:ext uri="{FF2B5EF4-FFF2-40B4-BE49-F238E27FC236}">
                <a16:creationId xmlns:a16="http://schemas.microsoft.com/office/drawing/2014/main" id="{FC56E0F5-959E-968F-2816-045990280D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02816" y="3467610"/>
            <a:ext cx="2870554" cy="1911789"/>
          </a:xfrm>
          <a:prstGeom prst="rect">
            <a:avLst/>
          </a:prstGeom>
          <a:noFill/>
          <a:extLst>
            <a:ext uri="{909E8E84-426E-40DD-AFC4-6F175D3DCCD1}">
              <a14:hiddenFill xmlns:a14="http://schemas.microsoft.com/office/drawing/2010/main">
                <a:solidFill>
                  <a:srgbClr val="FFFFFF"/>
                </a:solidFill>
              </a14:hiddenFill>
            </a:ext>
          </a:extLst>
        </p:spPr>
      </p:pic>
      <p:sp>
        <p:nvSpPr>
          <p:cNvPr id="12" name="CaixaDeTexto 11">
            <a:extLst>
              <a:ext uri="{FF2B5EF4-FFF2-40B4-BE49-F238E27FC236}">
                <a16:creationId xmlns:a16="http://schemas.microsoft.com/office/drawing/2014/main" id="{51564408-8174-B060-4F64-ECC0BC24296D}"/>
              </a:ext>
            </a:extLst>
          </p:cNvPr>
          <p:cNvSpPr txBox="1"/>
          <p:nvPr/>
        </p:nvSpPr>
        <p:spPr>
          <a:xfrm>
            <a:off x="342900" y="5394147"/>
            <a:ext cx="3674624" cy="369332"/>
          </a:xfrm>
          <a:prstGeom prst="rect">
            <a:avLst/>
          </a:prstGeom>
          <a:noFill/>
        </p:spPr>
        <p:txBody>
          <a:bodyPr wrap="square">
            <a:spAutoFit/>
          </a:bodyPr>
          <a:lstStyle/>
          <a:p>
            <a:r>
              <a:rPr lang="en-GB" dirty="0">
                <a:hlinkClick r:id="rId5"/>
              </a:rPr>
              <a:t>https://gnomad.broadinstitute.org/</a:t>
            </a:r>
            <a:endParaRPr lang="en-GB" dirty="0"/>
          </a:p>
        </p:txBody>
      </p:sp>
      <p:sp>
        <p:nvSpPr>
          <p:cNvPr id="16" name="CaixaDeTexto 15">
            <a:extLst>
              <a:ext uri="{FF2B5EF4-FFF2-40B4-BE49-F238E27FC236}">
                <a16:creationId xmlns:a16="http://schemas.microsoft.com/office/drawing/2014/main" id="{005F02A8-3C70-FD9C-F41B-7FCE5A2FD07B}"/>
              </a:ext>
            </a:extLst>
          </p:cNvPr>
          <p:cNvSpPr txBox="1"/>
          <p:nvPr/>
        </p:nvSpPr>
        <p:spPr>
          <a:xfrm>
            <a:off x="4584159" y="4936946"/>
            <a:ext cx="3713535" cy="369332"/>
          </a:xfrm>
          <a:prstGeom prst="rect">
            <a:avLst/>
          </a:prstGeom>
          <a:noFill/>
        </p:spPr>
        <p:txBody>
          <a:bodyPr wrap="square">
            <a:spAutoFit/>
          </a:bodyPr>
          <a:lstStyle/>
          <a:p>
            <a:r>
              <a:rPr lang="en-GB" dirty="0">
                <a:hlinkClick r:id="rId6"/>
              </a:rPr>
              <a:t>https://www.ncbi.nlm.nih.gov/snp/</a:t>
            </a:r>
            <a:endParaRPr lang="en-GB" dirty="0"/>
          </a:p>
        </p:txBody>
      </p:sp>
      <p:sp>
        <p:nvSpPr>
          <p:cNvPr id="20" name="CaixaDeTexto 19">
            <a:extLst>
              <a:ext uri="{FF2B5EF4-FFF2-40B4-BE49-F238E27FC236}">
                <a16:creationId xmlns:a16="http://schemas.microsoft.com/office/drawing/2014/main" id="{D1168C84-E722-6B7E-55A5-308BD48DBEED}"/>
              </a:ext>
            </a:extLst>
          </p:cNvPr>
          <p:cNvSpPr txBox="1"/>
          <p:nvPr/>
        </p:nvSpPr>
        <p:spPr>
          <a:xfrm>
            <a:off x="8083683" y="5355238"/>
            <a:ext cx="4180461" cy="369332"/>
          </a:xfrm>
          <a:prstGeom prst="rect">
            <a:avLst/>
          </a:prstGeom>
          <a:noFill/>
        </p:spPr>
        <p:txBody>
          <a:bodyPr wrap="square">
            <a:spAutoFit/>
          </a:bodyPr>
          <a:lstStyle/>
          <a:p>
            <a:r>
              <a:rPr lang="en-GB" dirty="0">
                <a:hlinkClick r:id="rId7"/>
              </a:rPr>
              <a:t>https://www.internationalgenome.org/</a:t>
            </a:r>
            <a:endParaRPr lang="en-GB" dirty="0"/>
          </a:p>
        </p:txBody>
      </p:sp>
    </p:spTree>
    <p:extLst>
      <p:ext uri="{BB962C8B-B14F-4D97-AF65-F5344CB8AC3E}">
        <p14:creationId xmlns:p14="http://schemas.microsoft.com/office/powerpoint/2010/main" val="3742930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991C33-A046-C0BA-BE8C-E4F2ECE6B501}"/>
              </a:ext>
            </a:extLst>
          </p:cNvPr>
          <p:cNvSpPr>
            <a:spLocks noGrp="1"/>
          </p:cNvSpPr>
          <p:nvPr>
            <p:ph type="title"/>
          </p:nvPr>
        </p:nvSpPr>
        <p:spPr/>
        <p:txBody>
          <a:bodyPr/>
          <a:lstStyle/>
          <a:p>
            <a:r>
              <a:rPr lang="en-GB" dirty="0"/>
              <a:t>Bases de dados de </a:t>
            </a:r>
            <a:r>
              <a:rPr lang="en-GB" dirty="0" err="1"/>
              <a:t>variantes</a:t>
            </a:r>
            <a:r>
              <a:rPr lang="en-GB" dirty="0"/>
              <a:t> </a:t>
            </a:r>
            <a:r>
              <a:rPr lang="en-GB" dirty="0" err="1"/>
              <a:t>benignas</a:t>
            </a:r>
            <a:br>
              <a:rPr lang="en-GB" dirty="0"/>
            </a:br>
            <a:r>
              <a:rPr lang="en-GB" sz="3200" dirty="0" err="1"/>
              <a:t>Frequências</a:t>
            </a:r>
            <a:r>
              <a:rPr lang="en-GB" sz="3200" dirty="0"/>
              <a:t> </a:t>
            </a:r>
            <a:r>
              <a:rPr lang="en-GB" sz="3200" dirty="0" err="1"/>
              <a:t>na</a:t>
            </a:r>
            <a:r>
              <a:rPr lang="en-GB" sz="3200" dirty="0"/>
              <a:t> </a:t>
            </a:r>
            <a:r>
              <a:rPr lang="en-GB" sz="3200" dirty="0" err="1"/>
              <a:t>população</a:t>
            </a:r>
            <a:r>
              <a:rPr lang="en-GB" sz="3200" dirty="0"/>
              <a:t> </a:t>
            </a:r>
            <a:r>
              <a:rPr lang="en-GB" sz="3200" dirty="0" err="1"/>
              <a:t>comum</a:t>
            </a:r>
            <a:endParaRPr lang="en-GB" dirty="0"/>
          </a:p>
        </p:txBody>
      </p:sp>
      <p:sp>
        <p:nvSpPr>
          <p:cNvPr id="3" name="Marcador de Posição de Conteúdo 2">
            <a:extLst>
              <a:ext uri="{FF2B5EF4-FFF2-40B4-BE49-F238E27FC236}">
                <a16:creationId xmlns:a16="http://schemas.microsoft.com/office/drawing/2014/main" id="{CA7D9ECE-7197-A8A3-BB7F-7D52A7B246B4}"/>
              </a:ext>
            </a:extLst>
          </p:cNvPr>
          <p:cNvSpPr>
            <a:spLocks noGrp="1"/>
          </p:cNvSpPr>
          <p:nvPr>
            <p:ph idx="1"/>
          </p:nvPr>
        </p:nvSpPr>
        <p:spPr>
          <a:xfrm>
            <a:off x="225357" y="1839692"/>
            <a:ext cx="11741285" cy="4351338"/>
          </a:xfrm>
        </p:spPr>
        <p:txBody>
          <a:bodyPr>
            <a:normAutofit fontScale="62500" lnSpcReduction="20000"/>
          </a:bodyPr>
          <a:lstStyle/>
          <a:p>
            <a:pPr marL="0" indent="0">
              <a:buNone/>
            </a:pPr>
            <a:r>
              <a:rPr lang="pt-PT" sz="4000" dirty="0"/>
              <a:t>Devemos ter em conta que:</a:t>
            </a:r>
          </a:p>
          <a:p>
            <a:pPr marL="0" indent="0" algn="just">
              <a:buNone/>
            </a:pPr>
            <a:endParaRPr lang="pt-PT" sz="3400" dirty="0"/>
          </a:p>
          <a:p>
            <a:pPr algn="just"/>
            <a:r>
              <a:rPr lang="pt-PT" sz="3400" dirty="0"/>
              <a:t>Embora a presença de uma variante numa população local com frequência superior à esperada favoreça a sua classificação como benigna, </a:t>
            </a:r>
            <a:r>
              <a:rPr lang="pt-PT" sz="3400" b="1" dirty="0"/>
              <a:t>a sua ausência não constitui evidência a favor da causalidade da doença.</a:t>
            </a:r>
          </a:p>
          <a:p>
            <a:pPr algn="just"/>
            <a:r>
              <a:rPr lang="pt-PT" sz="3400" dirty="0"/>
              <a:t>Os alelos responsáveis por doenças mendelianas deverão ser raros em todas as etnias. Quando uma população está sub-representada, é mais provável que variantes dessa população sejam classificadas como “possivelmente causadoras de doença”. Além disso, algumas variantes raras nas populações europeias mais representadas podem ser comuns noutras populações, podendo ser incorretamente classificadas como patogénicas. </a:t>
            </a:r>
            <a:r>
              <a:rPr lang="pt-PT" sz="3400" b="1" dirty="0"/>
              <a:t>Assim, é fundamental assegurar uma representação mais ampla de todas as populações nas bases de dados de referência.</a:t>
            </a:r>
          </a:p>
          <a:p>
            <a:pPr algn="just"/>
            <a:r>
              <a:rPr lang="pt-PT" sz="3400" b="1" dirty="0"/>
              <a:t>Variantes com frequência alélica inferior a 1% no </a:t>
            </a:r>
            <a:r>
              <a:rPr lang="pt-PT" sz="3400" b="1" dirty="0" err="1"/>
              <a:t>gnomAD</a:t>
            </a:r>
            <a:r>
              <a:rPr lang="pt-PT" sz="3400" b="1" dirty="0"/>
              <a:t> são geralmente priorizadas para interpretação. </a:t>
            </a:r>
            <a:r>
              <a:rPr lang="pt-PT" sz="3400" dirty="0"/>
              <a:t>A exclusão de variantes com elevada frequência na mesma população do doente pode reduzir o número de variantes consideradas de cerca de 200 para aproximadamente 50.</a:t>
            </a:r>
          </a:p>
        </p:txBody>
      </p:sp>
      <p:sp>
        <p:nvSpPr>
          <p:cNvPr id="4" name="Marcador de Posição do Número do Diapositivo 3">
            <a:extLst>
              <a:ext uri="{FF2B5EF4-FFF2-40B4-BE49-F238E27FC236}">
                <a16:creationId xmlns:a16="http://schemas.microsoft.com/office/drawing/2014/main" id="{2887BB9F-ED44-0642-7873-FCF1D796E3AD}"/>
              </a:ext>
            </a:extLst>
          </p:cNvPr>
          <p:cNvSpPr>
            <a:spLocks noGrp="1"/>
          </p:cNvSpPr>
          <p:nvPr>
            <p:ph type="sldNum" sz="quarter" idx="12"/>
          </p:nvPr>
        </p:nvSpPr>
        <p:spPr/>
        <p:txBody>
          <a:bodyPr/>
          <a:lstStyle/>
          <a:p>
            <a:fld id="{6D49FC33-1B8E-4C1B-8D07-84B8EBAC733E}" type="slidenum">
              <a:rPr lang="en-GB" smtClean="0"/>
              <a:t>6</a:t>
            </a:fld>
            <a:endParaRPr lang="en-GB"/>
          </a:p>
        </p:txBody>
      </p:sp>
    </p:spTree>
    <p:extLst>
      <p:ext uri="{BB962C8B-B14F-4D97-AF65-F5344CB8AC3E}">
        <p14:creationId xmlns:p14="http://schemas.microsoft.com/office/powerpoint/2010/main" val="1006434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F2A21D-3DD8-4A56-2EB6-92AA2ACDAD50}"/>
              </a:ext>
            </a:extLst>
          </p:cNvPr>
          <p:cNvSpPr>
            <a:spLocks noGrp="1"/>
          </p:cNvSpPr>
          <p:nvPr>
            <p:ph type="title"/>
          </p:nvPr>
        </p:nvSpPr>
        <p:spPr>
          <a:xfrm>
            <a:off x="702013" y="112206"/>
            <a:ext cx="10515600" cy="1325563"/>
          </a:xfrm>
        </p:spPr>
        <p:txBody>
          <a:bodyPr/>
          <a:lstStyle/>
          <a:p>
            <a:r>
              <a:rPr lang="en-GB" dirty="0"/>
              <a:t>Bases de dados de </a:t>
            </a:r>
            <a:r>
              <a:rPr lang="en-GB" dirty="0" err="1"/>
              <a:t>variantes</a:t>
            </a:r>
            <a:r>
              <a:rPr lang="en-GB" dirty="0"/>
              <a:t> </a:t>
            </a:r>
            <a:r>
              <a:rPr lang="en-GB" dirty="0" err="1"/>
              <a:t>benignas</a:t>
            </a:r>
            <a:br>
              <a:rPr lang="en-GB" dirty="0"/>
            </a:br>
            <a:r>
              <a:rPr lang="en-GB" sz="3200" dirty="0" err="1"/>
              <a:t>Estudos</a:t>
            </a:r>
            <a:r>
              <a:rPr lang="en-GB" sz="3200" dirty="0"/>
              <a:t> </a:t>
            </a:r>
            <a:r>
              <a:rPr lang="en-GB" sz="3200" dirty="0" err="1"/>
              <a:t>caso-controlo</a:t>
            </a:r>
            <a:endParaRPr lang="en-GB" dirty="0"/>
          </a:p>
        </p:txBody>
      </p:sp>
      <p:sp>
        <p:nvSpPr>
          <p:cNvPr id="3" name="Marcador de Posição de Conteúdo 2">
            <a:extLst>
              <a:ext uri="{FF2B5EF4-FFF2-40B4-BE49-F238E27FC236}">
                <a16:creationId xmlns:a16="http://schemas.microsoft.com/office/drawing/2014/main" id="{319C76D4-1569-C93E-356F-F00F2A51A0A0}"/>
              </a:ext>
            </a:extLst>
          </p:cNvPr>
          <p:cNvSpPr>
            <a:spLocks noGrp="1"/>
          </p:cNvSpPr>
          <p:nvPr>
            <p:ph idx="1"/>
          </p:nvPr>
        </p:nvSpPr>
        <p:spPr>
          <a:xfrm>
            <a:off x="194553" y="1825625"/>
            <a:ext cx="11537004" cy="4954554"/>
          </a:xfrm>
        </p:spPr>
        <p:txBody>
          <a:bodyPr>
            <a:normAutofit fontScale="62500" lnSpcReduction="20000"/>
          </a:bodyPr>
          <a:lstStyle/>
          <a:p>
            <a:pPr marL="0" indent="0">
              <a:buNone/>
            </a:pPr>
            <a:r>
              <a:rPr lang="pt-PT" dirty="0"/>
              <a:t>Nesses estudos, a frequência de uma variante genética é comparada entre:</a:t>
            </a:r>
          </a:p>
          <a:p>
            <a:r>
              <a:rPr lang="pt-PT" b="1" dirty="0"/>
              <a:t>indivíduos afetados (casos)</a:t>
            </a:r>
          </a:p>
          <a:p>
            <a:r>
              <a:rPr lang="pt-PT" b="1" dirty="0"/>
              <a:t>indivíduos não afetados (controles)</a:t>
            </a:r>
          </a:p>
          <a:p>
            <a:pPr marL="0" indent="0">
              <a:buNone/>
            </a:pPr>
            <a:r>
              <a:rPr lang="pt-PT" dirty="0"/>
              <a:t>O objetivo é determinar se a variante é significativamente mais frequente em indivíduos afetados, corroborando uma associação com a doença.</a:t>
            </a:r>
          </a:p>
          <a:p>
            <a:pPr marL="0" indent="0">
              <a:buNone/>
            </a:pPr>
            <a:endParaRPr lang="pt-PT" dirty="0"/>
          </a:p>
          <a:p>
            <a:pPr marL="0" indent="0">
              <a:buNone/>
            </a:pPr>
            <a:r>
              <a:rPr lang="pt-PT" b="1" dirty="0"/>
              <a:t>No entanto, os estudos caso-controlo são mais comuns e robustos para:</a:t>
            </a:r>
          </a:p>
          <a:p>
            <a:pPr>
              <a:buFont typeface="Arial" panose="020B0604020202020204" pitchFamily="34" charset="0"/>
              <a:buChar char="•"/>
            </a:pPr>
            <a:r>
              <a:rPr lang="pt-PT" dirty="0"/>
              <a:t>genes frequentes em doenças comuns </a:t>
            </a:r>
          </a:p>
          <a:p>
            <a:pPr>
              <a:buFont typeface="Arial" panose="020B0604020202020204" pitchFamily="34" charset="0"/>
              <a:buChar char="•"/>
            </a:pPr>
            <a:r>
              <a:rPr lang="pt-PT" dirty="0"/>
              <a:t>genes muito estudados (ex.: BRCA1/2) </a:t>
            </a:r>
          </a:p>
          <a:p>
            <a:pPr>
              <a:buFont typeface="Arial" panose="020B0604020202020204" pitchFamily="34" charset="0"/>
              <a:buChar char="•"/>
            </a:pPr>
            <a:r>
              <a:rPr lang="pt-PT" dirty="0"/>
              <a:t>grandes coortes populacionais </a:t>
            </a:r>
          </a:p>
          <a:p>
            <a:pPr>
              <a:buFont typeface="Arial" panose="020B0604020202020204" pitchFamily="34" charset="0"/>
              <a:buChar char="•"/>
            </a:pPr>
            <a:endParaRPr lang="pt-PT" dirty="0"/>
          </a:p>
          <a:p>
            <a:pPr marL="0" indent="0">
              <a:buNone/>
            </a:pPr>
            <a:r>
              <a:rPr lang="pt-PT" b="1" dirty="0"/>
              <a:t>e menos frequentes para:</a:t>
            </a:r>
          </a:p>
          <a:p>
            <a:pPr>
              <a:buFont typeface="Arial" panose="020B0604020202020204" pitchFamily="34" charset="0"/>
              <a:buChar char="•"/>
            </a:pPr>
            <a:r>
              <a:rPr lang="pt-PT" dirty="0"/>
              <a:t>variantes </a:t>
            </a:r>
            <a:r>
              <a:rPr lang="pt-PT" dirty="0" err="1"/>
              <a:t>ultra-raras</a:t>
            </a:r>
            <a:r>
              <a:rPr lang="pt-PT" dirty="0"/>
              <a:t> </a:t>
            </a:r>
          </a:p>
          <a:p>
            <a:pPr>
              <a:buFont typeface="Arial" panose="020B0604020202020204" pitchFamily="34" charset="0"/>
              <a:buChar char="•"/>
            </a:pPr>
            <a:r>
              <a:rPr lang="pt-PT" dirty="0"/>
              <a:t>doenças mendelianas raras </a:t>
            </a:r>
          </a:p>
          <a:p>
            <a:pPr>
              <a:buFont typeface="Arial" panose="020B0604020202020204" pitchFamily="34" charset="0"/>
              <a:buChar char="•"/>
            </a:pPr>
            <a:r>
              <a:rPr lang="pt-PT" dirty="0"/>
              <a:t>variantes privadas/familiares</a:t>
            </a:r>
          </a:p>
        </p:txBody>
      </p:sp>
    </p:spTree>
    <p:extLst>
      <p:ext uri="{BB962C8B-B14F-4D97-AF65-F5344CB8AC3E}">
        <p14:creationId xmlns:p14="http://schemas.microsoft.com/office/powerpoint/2010/main" val="3487560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F2A21D-3DD8-4A56-2EB6-92AA2ACDAD50}"/>
              </a:ext>
            </a:extLst>
          </p:cNvPr>
          <p:cNvSpPr>
            <a:spLocks noGrp="1"/>
          </p:cNvSpPr>
          <p:nvPr>
            <p:ph type="title"/>
          </p:nvPr>
        </p:nvSpPr>
        <p:spPr>
          <a:xfrm>
            <a:off x="215630" y="0"/>
            <a:ext cx="10515600" cy="1325563"/>
          </a:xfrm>
        </p:spPr>
        <p:txBody>
          <a:bodyPr/>
          <a:lstStyle/>
          <a:p>
            <a:r>
              <a:rPr lang="en-GB" dirty="0"/>
              <a:t>Bases de dados de </a:t>
            </a:r>
            <a:r>
              <a:rPr lang="en-GB" dirty="0" err="1"/>
              <a:t>variantes</a:t>
            </a:r>
            <a:r>
              <a:rPr lang="en-GB" dirty="0"/>
              <a:t> </a:t>
            </a:r>
            <a:r>
              <a:rPr lang="en-GB" dirty="0" err="1"/>
              <a:t>benignas</a:t>
            </a:r>
            <a:br>
              <a:rPr lang="en-GB" dirty="0"/>
            </a:br>
            <a:r>
              <a:rPr lang="en-GB" sz="3200" dirty="0" err="1"/>
              <a:t>Estudos</a:t>
            </a:r>
            <a:r>
              <a:rPr lang="en-GB" sz="3200" dirty="0"/>
              <a:t> </a:t>
            </a:r>
            <a:r>
              <a:rPr lang="en-GB" sz="3200" dirty="0" err="1"/>
              <a:t>caso-controlo</a:t>
            </a:r>
            <a:endParaRPr lang="en-GB" dirty="0"/>
          </a:p>
        </p:txBody>
      </p:sp>
      <p:sp>
        <p:nvSpPr>
          <p:cNvPr id="4" name="Marcador de Posição do Número do Diapositivo 3">
            <a:extLst>
              <a:ext uri="{FF2B5EF4-FFF2-40B4-BE49-F238E27FC236}">
                <a16:creationId xmlns:a16="http://schemas.microsoft.com/office/drawing/2014/main" id="{078C4463-EAD0-5033-4E9F-F93611E6E425}"/>
              </a:ext>
            </a:extLst>
          </p:cNvPr>
          <p:cNvSpPr>
            <a:spLocks noGrp="1"/>
          </p:cNvSpPr>
          <p:nvPr>
            <p:ph type="sldNum" sz="quarter" idx="12"/>
          </p:nvPr>
        </p:nvSpPr>
        <p:spPr/>
        <p:txBody>
          <a:bodyPr/>
          <a:lstStyle/>
          <a:p>
            <a:fld id="{6D49FC33-1B8E-4C1B-8D07-84B8EBAC733E}" type="slidenum">
              <a:rPr lang="en-GB" smtClean="0"/>
              <a:t>8</a:t>
            </a:fld>
            <a:endParaRPr lang="en-GB" dirty="0"/>
          </a:p>
        </p:txBody>
      </p:sp>
      <p:sp>
        <p:nvSpPr>
          <p:cNvPr id="88" name="CaixaDeTexto 87">
            <a:extLst>
              <a:ext uri="{FF2B5EF4-FFF2-40B4-BE49-F238E27FC236}">
                <a16:creationId xmlns:a16="http://schemas.microsoft.com/office/drawing/2014/main" id="{C805CD20-ED21-B883-DB14-72D3DB1A5A9B}"/>
              </a:ext>
            </a:extLst>
          </p:cNvPr>
          <p:cNvSpPr txBox="1"/>
          <p:nvPr/>
        </p:nvSpPr>
        <p:spPr>
          <a:xfrm>
            <a:off x="573931" y="1858383"/>
            <a:ext cx="11011711" cy="646331"/>
          </a:xfrm>
          <a:prstGeom prst="rect">
            <a:avLst/>
          </a:prstGeom>
          <a:noFill/>
        </p:spPr>
        <p:txBody>
          <a:bodyPr wrap="square">
            <a:spAutoFit/>
          </a:bodyPr>
          <a:lstStyle/>
          <a:p>
            <a:r>
              <a:rPr lang="pt-PT" dirty="0"/>
              <a:t>Por isso, para este tipo de dados, não existe uma base de dados de referência, e para caso, seria necessário procurar publicações especificas para o gene(s) </a:t>
            </a:r>
            <a:r>
              <a:rPr lang="pt-PT" dirty="0" err="1"/>
              <a:t>afectado</a:t>
            </a:r>
            <a:r>
              <a:rPr lang="pt-PT" dirty="0"/>
              <a:t>(s)</a:t>
            </a:r>
            <a:endParaRPr lang="en-GB" dirty="0"/>
          </a:p>
        </p:txBody>
      </p:sp>
      <p:pic>
        <p:nvPicPr>
          <p:cNvPr id="5" name="Imagem 4">
            <a:extLst>
              <a:ext uri="{FF2B5EF4-FFF2-40B4-BE49-F238E27FC236}">
                <a16:creationId xmlns:a16="http://schemas.microsoft.com/office/drawing/2014/main" id="{0EA0A095-F2B5-97B3-59CA-D0E2D77B2E98}"/>
              </a:ext>
            </a:extLst>
          </p:cNvPr>
          <p:cNvPicPr>
            <a:picLocks noChangeAspect="1"/>
          </p:cNvPicPr>
          <p:nvPr/>
        </p:nvPicPr>
        <p:blipFill>
          <a:blip r:embed="rId2"/>
          <a:stretch>
            <a:fillRect/>
          </a:stretch>
        </p:blipFill>
        <p:spPr>
          <a:xfrm>
            <a:off x="2152099" y="2947056"/>
            <a:ext cx="7887801" cy="3181794"/>
          </a:xfrm>
          <a:prstGeom prst="rect">
            <a:avLst/>
          </a:prstGeom>
        </p:spPr>
      </p:pic>
    </p:spTree>
    <p:extLst>
      <p:ext uri="{BB962C8B-B14F-4D97-AF65-F5344CB8AC3E}">
        <p14:creationId xmlns:p14="http://schemas.microsoft.com/office/powerpoint/2010/main" val="1213860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D59190-26BE-90B2-0E06-F041EEFB802F}"/>
              </a:ext>
            </a:extLst>
          </p:cNvPr>
          <p:cNvSpPr>
            <a:spLocks noGrp="1"/>
          </p:cNvSpPr>
          <p:nvPr>
            <p:ph type="title"/>
          </p:nvPr>
        </p:nvSpPr>
        <p:spPr>
          <a:xfrm>
            <a:off x="400455" y="0"/>
            <a:ext cx="10515600" cy="1325563"/>
          </a:xfrm>
        </p:spPr>
        <p:txBody>
          <a:bodyPr/>
          <a:lstStyle/>
          <a:p>
            <a:r>
              <a:rPr lang="en-GB" dirty="0"/>
              <a:t>Bases de dados de </a:t>
            </a:r>
            <a:r>
              <a:rPr lang="en-GB" dirty="0" err="1"/>
              <a:t>variantes</a:t>
            </a:r>
            <a:r>
              <a:rPr lang="en-GB" dirty="0"/>
              <a:t> – </a:t>
            </a:r>
            <a:r>
              <a:rPr lang="en-GB" dirty="0" err="1"/>
              <a:t>Patogénicas</a:t>
            </a:r>
            <a:endParaRPr lang="en-GB" dirty="0"/>
          </a:p>
        </p:txBody>
      </p:sp>
      <p:sp>
        <p:nvSpPr>
          <p:cNvPr id="4" name="Marcador de Posição do Número do Diapositivo 3">
            <a:extLst>
              <a:ext uri="{FF2B5EF4-FFF2-40B4-BE49-F238E27FC236}">
                <a16:creationId xmlns:a16="http://schemas.microsoft.com/office/drawing/2014/main" id="{A6AA1C84-6219-9A27-3C04-C92DEA80584D}"/>
              </a:ext>
            </a:extLst>
          </p:cNvPr>
          <p:cNvSpPr>
            <a:spLocks noGrp="1"/>
          </p:cNvSpPr>
          <p:nvPr>
            <p:ph type="sldNum" sz="quarter" idx="12"/>
          </p:nvPr>
        </p:nvSpPr>
        <p:spPr/>
        <p:txBody>
          <a:bodyPr/>
          <a:lstStyle/>
          <a:p>
            <a:fld id="{6D49FC33-1B8E-4C1B-8D07-84B8EBAC733E}" type="slidenum">
              <a:rPr lang="en-GB" smtClean="0"/>
              <a:t>9</a:t>
            </a:fld>
            <a:endParaRPr lang="en-GB" dirty="0"/>
          </a:p>
        </p:txBody>
      </p:sp>
      <p:sp>
        <p:nvSpPr>
          <p:cNvPr id="3" name="CaixaDeTexto 2">
            <a:extLst>
              <a:ext uri="{FF2B5EF4-FFF2-40B4-BE49-F238E27FC236}">
                <a16:creationId xmlns:a16="http://schemas.microsoft.com/office/drawing/2014/main" id="{3F5EEB78-AF68-34BD-6E78-ABDC2EED9ADC}"/>
              </a:ext>
            </a:extLst>
          </p:cNvPr>
          <p:cNvSpPr txBox="1"/>
          <p:nvPr/>
        </p:nvSpPr>
        <p:spPr>
          <a:xfrm>
            <a:off x="405319" y="1187175"/>
            <a:ext cx="11011711" cy="1200329"/>
          </a:xfrm>
          <a:prstGeom prst="rect">
            <a:avLst/>
          </a:prstGeom>
          <a:noFill/>
        </p:spPr>
        <p:txBody>
          <a:bodyPr wrap="square">
            <a:spAutoFit/>
          </a:bodyPr>
          <a:lstStyle/>
          <a:p>
            <a:r>
              <a:rPr lang="pt-PT" dirty="0"/>
              <a:t>Por outro lado, existem uma serie de bases de dados que indicam a associação entre variantes especificas e fenótipos.</a:t>
            </a:r>
          </a:p>
          <a:p>
            <a:endParaRPr lang="pt-PT" dirty="0"/>
          </a:p>
          <a:p>
            <a:r>
              <a:rPr lang="pt-PT" dirty="0"/>
              <a:t>Dentro destes:</a:t>
            </a:r>
            <a:endParaRPr lang="en-GB" dirty="0"/>
          </a:p>
        </p:txBody>
      </p:sp>
      <p:pic>
        <p:nvPicPr>
          <p:cNvPr id="3074" name="Picture 2" descr="Identify conditions in ClinVar and Genetic Testing Registry with MONDO IDs  - NCBI Insights">
            <a:extLst>
              <a:ext uri="{FF2B5EF4-FFF2-40B4-BE49-F238E27FC236}">
                <a16:creationId xmlns:a16="http://schemas.microsoft.com/office/drawing/2014/main" id="{D579D70E-C36C-B301-B3FB-19C673FB73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585" t="15288" r="43030" b="15862"/>
          <a:stretch/>
        </p:blipFill>
        <p:spPr bwMode="auto">
          <a:xfrm>
            <a:off x="612842" y="2835612"/>
            <a:ext cx="3506825" cy="150292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GMD help">
            <a:extLst>
              <a:ext uri="{FF2B5EF4-FFF2-40B4-BE49-F238E27FC236}">
                <a16:creationId xmlns:a16="http://schemas.microsoft.com/office/drawing/2014/main" id="{C33B38C6-D06C-DA80-7C9F-BE8CA0A42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7116" y="2419694"/>
            <a:ext cx="2214866" cy="2018612"/>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Best Commercial Lending Platform - Decipher Credit">
            <a:extLst>
              <a:ext uri="{FF2B5EF4-FFF2-40B4-BE49-F238E27FC236}">
                <a16:creationId xmlns:a16="http://schemas.microsoft.com/office/drawing/2014/main" id="{6AC5E052-FAE8-16B2-8F5C-7ED472B6D6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57411" y="5058382"/>
            <a:ext cx="5863952" cy="1372073"/>
          </a:xfrm>
          <a:prstGeom prst="rect">
            <a:avLst/>
          </a:prstGeom>
          <a:noFill/>
          <a:extLst>
            <a:ext uri="{909E8E84-426E-40DD-AFC4-6F175D3DCCD1}">
              <a14:hiddenFill xmlns:a14="http://schemas.microsoft.com/office/drawing/2010/main">
                <a:solidFill>
                  <a:srgbClr val="FFFFFF"/>
                </a:solidFill>
              </a14:hiddenFill>
            </a:ext>
          </a:extLst>
        </p:spPr>
      </p:pic>
      <p:sp>
        <p:nvSpPr>
          <p:cNvPr id="6" name="CaixaDeTexto 5">
            <a:extLst>
              <a:ext uri="{FF2B5EF4-FFF2-40B4-BE49-F238E27FC236}">
                <a16:creationId xmlns:a16="http://schemas.microsoft.com/office/drawing/2014/main" id="{F83509C9-AA1F-988A-7095-45ACBD1A5141}"/>
              </a:ext>
            </a:extLst>
          </p:cNvPr>
          <p:cNvSpPr txBox="1"/>
          <p:nvPr/>
        </p:nvSpPr>
        <p:spPr>
          <a:xfrm>
            <a:off x="4866261" y="6172360"/>
            <a:ext cx="6094378" cy="369332"/>
          </a:xfrm>
          <a:prstGeom prst="rect">
            <a:avLst/>
          </a:prstGeom>
          <a:noFill/>
        </p:spPr>
        <p:txBody>
          <a:bodyPr wrap="square">
            <a:spAutoFit/>
          </a:bodyPr>
          <a:lstStyle/>
          <a:p>
            <a:r>
              <a:rPr lang="en-GB" dirty="0">
                <a:hlinkClick r:id="rId5"/>
              </a:rPr>
              <a:t>https://www.deciphergenomics.org/</a:t>
            </a:r>
            <a:endParaRPr lang="en-GB" dirty="0"/>
          </a:p>
        </p:txBody>
      </p:sp>
      <p:sp>
        <p:nvSpPr>
          <p:cNvPr id="8" name="CaixaDeTexto 7">
            <a:extLst>
              <a:ext uri="{FF2B5EF4-FFF2-40B4-BE49-F238E27FC236}">
                <a16:creationId xmlns:a16="http://schemas.microsoft.com/office/drawing/2014/main" id="{BAEF62CC-2775-E47A-1241-71FAA30E5134}"/>
              </a:ext>
            </a:extLst>
          </p:cNvPr>
          <p:cNvSpPr txBox="1"/>
          <p:nvPr/>
        </p:nvSpPr>
        <p:spPr>
          <a:xfrm>
            <a:off x="420721" y="4324104"/>
            <a:ext cx="4054002" cy="369332"/>
          </a:xfrm>
          <a:prstGeom prst="rect">
            <a:avLst/>
          </a:prstGeom>
          <a:noFill/>
        </p:spPr>
        <p:txBody>
          <a:bodyPr wrap="square">
            <a:spAutoFit/>
          </a:bodyPr>
          <a:lstStyle/>
          <a:p>
            <a:r>
              <a:rPr lang="en-GB" dirty="0">
                <a:hlinkClick r:id="rId6"/>
              </a:rPr>
              <a:t>https://www.ncbi.nlm.nih.gov/clinvar/</a:t>
            </a:r>
            <a:endParaRPr lang="en-GB" dirty="0"/>
          </a:p>
        </p:txBody>
      </p:sp>
      <p:sp>
        <p:nvSpPr>
          <p:cNvPr id="14" name="CaixaDeTexto 13">
            <a:extLst>
              <a:ext uri="{FF2B5EF4-FFF2-40B4-BE49-F238E27FC236}">
                <a16:creationId xmlns:a16="http://schemas.microsoft.com/office/drawing/2014/main" id="{430192FC-0356-8DCD-4F6A-753FF51751D7}"/>
              </a:ext>
            </a:extLst>
          </p:cNvPr>
          <p:cNvSpPr txBox="1"/>
          <p:nvPr/>
        </p:nvSpPr>
        <p:spPr>
          <a:xfrm>
            <a:off x="8416858" y="4477253"/>
            <a:ext cx="2915866" cy="369332"/>
          </a:xfrm>
          <a:prstGeom prst="rect">
            <a:avLst/>
          </a:prstGeom>
          <a:noFill/>
        </p:spPr>
        <p:txBody>
          <a:bodyPr wrap="square">
            <a:spAutoFit/>
          </a:bodyPr>
          <a:lstStyle/>
          <a:p>
            <a:r>
              <a:rPr lang="en-GB" dirty="0">
                <a:hlinkClick r:id="rId7"/>
              </a:rPr>
              <a:t>https://www.hgmd.cf.ac.uk</a:t>
            </a:r>
            <a:endParaRPr lang="en-GB" dirty="0"/>
          </a:p>
        </p:txBody>
      </p:sp>
    </p:spTree>
    <p:extLst>
      <p:ext uri="{BB962C8B-B14F-4D97-AF65-F5344CB8AC3E}">
        <p14:creationId xmlns:p14="http://schemas.microsoft.com/office/powerpoint/2010/main" val="2599002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6924A-E618-AA2A-3CB8-E9966663D36E}"/>
              </a:ext>
            </a:extLst>
          </p:cNvPr>
          <p:cNvSpPr>
            <a:spLocks noGrp="1"/>
          </p:cNvSpPr>
          <p:nvPr>
            <p:ph type="title"/>
          </p:nvPr>
        </p:nvSpPr>
        <p:spPr>
          <a:xfrm>
            <a:off x="293451" y="-243192"/>
            <a:ext cx="10515600" cy="1325563"/>
          </a:xfrm>
        </p:spPr>
        <p:txBody>
          <a:bodyPr/>
          <a:lstStyle/>
          <a:p>
            <a:r>
              <a:rPr lang="en-GB" dirty="0" err="1"/>
              <a:t>Anotação</a:t>
            </a:r>
            <a:r>
              <a:rPr lang="en-GB" dirty="0"/>
              <a:t> dos genes</a:t>
            </a:r>
          </a:p>
        </p:txBody>
      </p:sp>
      <p:sp>
        <p:nvSpPr>
          <p:cNvPr id="3" name="CaixaDeTexto 2">
            <a:extLst>
              <a:ext uri="{FF2B5EF4-FFF2-40B4-BE49-F238E27FC236}">
                <a16:creationId xmlns:a16="http://schemas.microsoft.com/office/drawing/2014/main" id="{767049DF-2325-51A9-E79C-1785F2C46A2F}"/>
              </a:ext>
            </a:extLst>
          </p:cNvPr>
          <p:cNvSpPr txBox="1"/>
          <p:nvPr/>
        </p:nvSpPr>
        <p:spPr>
          <a:xfrm>
            <a:off x="249677" y="691065"/>
            <a:ext cx="5846323" cy="1477328"/>
          </a:xfrm>
          <a:prstGeom prst="rect">
            <a:avLst/>
          </a:prstGeom>
          <a:noFill/>
        </p:spPr>
        <p:txBody>
          <a:bodyPr wrap="square">
            <a:spAutoFit/>
          </a:bodyPr>
          <a:lstStyle/>
          <a:p>
            <a:r>
              <a:rPr lang="pt-PT" dirty="0"/>
              <a:t>Existem várias informações associadas aos genes que podem ser uteis para a interpretação de uma variante, nomeadamente:</a:t>
            </a:r>
          </a:p>
          <a:p>
            <a:endParaRPr lang="pt-PT" dirty="0"/>
          </a:p>
          <a:p>
            <a:endParaRPr lang="pt-PT" dirty="0"/>
          </a:p>
        </p:txBody>
      </p:sp>
      <p:pic>
        <p:nvPicPr>
          <p:cNvPr id="9" name="Imagem 8">
            <a:extLst>
              <a:ext uri="{FF2B5EF4-FFF2-40B4-BE49-F238E27FC236}">
                <a16:creationId xmlns:a16="http://schemas.microsoft.com/office/drawing/2014/main" id="{E53FCF41-9A3B-E21D-690E-81F338E468AC}"/>
              </a:ext>
            </a:extLst>
          </p:cNvPr>
          <p:cNvPicPr>
            <a:picLocks noChangeAspect="1"/>
          </p:cNvPicPr>
          <p:nvPr/>
        </p:nvPicPr>
        <p:blipFill>
          <a:blip r:embed="rId2"/>
          <a:stretch>
            <a:fillRect/>
          </a:stretch>
        </p:blipFill>
        <p:spPr>
          <a:xfrm>
            <a:off x="6896910" y="126460"/>
            <a:ext cx="4574635" cy="1748834"/>
          </a:xfrm>
          <a:prstGeom prst="rect">
            <a:avLst/>
          </a:prstGeom>
        </p:spPr>
      </p:pic>
      <p:pic>
        <p:nvPicPr>
          <p:cNvPr id="10" name="Picture 10" descr="Best Commercial Lending Platform - Decipher Credit">
            <a:extLst>
              <a:ext uri="{FF2B5EF4-FFF2-40B4-BE49-F238E27FC236}">
                <a16:creationId xmlns:a16="http://schemas.microsoft.com/office/drawing/2014/main" id="{85CE3808-A4CB-C1F1-1392-13EE28B50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5855671" y="795024"/>
            <a:ext cx="1643974" cy="384665"/>
          </a:xfrm>
          <a:prstGeom prst="rect">
            <a:avLst/>
          </a:prstGeom>
          <a:noFill/>
          <a:extLst>
            <a:ext uri="{909E8E84-426E-40DD-AFC4-6F175D3DCCD1}">
              <a14:hiddenFill xmlns:a14="http://schemas.microsoft.com/office/drawing/2010/main">
                <a:solidFill>
                  <a:srgbClr val="FFFFFF"/>
                </a:solidFill>
              </a14:hiddenFill>
            </a:ext>
          </a:extLst>
        </p:spPr>
      </p:pic>
      <p:sp>
        <p:nvSpPr>
          <p:cNvPr id="11" name="CaixaDeTexto 10">
            <a:extLst>
              <a:ext uri="{FF2B5EF4-FFF2-40B4-BE49-F238E27FC236}">
                <a16:creationId xmlns:a16="http://schemas.microsoft.com/office/drawing/2014/main" id="{05E0CABA-95AE-2D33-97E7-5A8FDAB33E06}"/>
              </a:ext>
            </a:extLst>
          </p:cNvPr>
          <p:cNvSpPr txBox="1"/>
          <p:nvPr/>
        </p:nvSpPr>
        <p:spPr>
          <a:xfrm>
            <a:off x="9588477" y="167645"/>
            <a:ext cx="3917813" cy="261610"/>
          </a:xfrm>
          <a:prstGeom prst="rect">
            <a:avLst/>
          </a:prstGeom>
          <a:noFill/>
        </p:spPr>
        <p:txBody>
          <a:bodyPr wrap="square">
            <a:spAutoFit/>
          </a:bodyPr>
          <a:lstStyle/>
          <a:p>
            <a:r>
              <a:rPr lang="en-GB" sz="1050" dirty="0">
                <a:hlinkClick r:id="rId4"/>
              </a:rPr>
              <a:t>https://www.deciphergenomics.org/</a:t>
            </a:r>
            <a:endParaRPr lang="en-GB" sz="1050" dirty="0"/>
          </a:p>
        </p:txBody>
      </p:sp>
      <p:sp>
        <p:nvSpPr>
          <p:cNvPr id="23" name="CaixaDeTexto 22">
            <a:extLst>
              <a:ext uri="{FF2B5EF4-FFF2-40B4-BE49-F238E27FC236}">
                <a16:creationId xmlns:a16="http://schemas.microsoft.com/office/drawing/2014/main" id="{D7D2546D-976C-A963-54D1-343874458C96}"/>
              </a:ext>
            </a:extLst>
          </p:cNvPr>
          <p:cNvSpPr txBox="1"/>
          <p:nvPr/>
        </p:nvSpPr>
        <p:spPr>
          <a:xfrm>
            <a:off x="0" y="1841242"/>
            <a:ext cx="12192000" cy="5016758"/>
          </a:xfrm>
          <a:prstGeom prst="rect">
            <a:avLst/>
          </a:prstGeom>
          <a:noFill/>
        </p:spPr>
        <p:txBody>
          <a:bodyPr wrap="square">
            <a:spAutoFit/>
          </a:bodyPr>
          <a:lstStyle/>
          <a:p>
            <a:pPr marL="285750" indent="-285750">
              <a:buFont typeface="Arial" panose="020B0604020202020204" pitchFamily="34" charset="0"/>
              <a:buChar char="•"/>
            </a:pPr>
            <a:r>
              <a:rPr lang="pt-PT" sz="1600" b="1" dirty="0" err="1"/>
              <a:t>Probability</a:t>
            </a:r>
            <a:r>
              <a:rPr lang="pt-PT" sz="1600" b="1" dirty="0"/>
              <a:t> </a:t>
            </a:r>
            <a:r>
              <a:rPr lang="pt-PT" sz="1600" b="1" dirty="0" err="1"/>
              <a:t>of</a:t>
            </a:r>
            <a:r>
              <a:rPr lang="pt-PT" sz="1600" b="1" dirty="0"/>
              <a:t> </a:t>
            </a:r>
            <a:r>
              <a:rPr lang="pt-PT" sz="1600" b="1" dirty="0" err="1"/>
              <a:t>loss-of-function</a:t>
            </a:r>
            <a:r>
              <a:rPr lang="pt-PT" sz="1600" b="1" dirty="0"/>
              <a:t> </a:t>
            </a:r>
            <a:r>
              <a:rPr lang="pt-PT" sz="1600" b="1" dirty="0" err="1"/>
              <a:t>intolerance</a:t>
            </a:r>
            <a:r>
              <a:rPr lang="pt-PT" sz="1600" b="1" dirty="0"/>
              <a:t> (</a:t>
            </a:r>
            <a:r>
              <a:rPr lang="pt-PT" sz="1600" b="1" dirty="0" err="1"/>
              <a:t>pLI</a:t>
            </a:r>
            <a:r>
              <a:rPr lang="pt-PT" sz="1600" b="1" dirty="0"/>
              <a:t>)</a:t>
            </a:r>
          </a:p>
          <a:p>
            <a:r>
              <a:rPr lang="pt-PT" sz="1400" dirty="0"/>
              <a:t>Mede a probabilidade de um gene ser intolerante a variantes de perda de função (</a:t>
            </a:r>
            <a:r>
              <a:rPr lang="pt-PT" sz="1400" dirty="0" err="1"/>
              <a:t>LoF</a:t>
            </a:r>
            <a:r>
              <a:rPr lang="pt-PT" sz="1400" dirty="0"/>
              <a:t>), como nonsense, </a:t>
            </a:r>
            <a:r>
              <a:rPr lang="pt-PT" sz="1400" dirty="0" err="1"/>
              <a:t>frameshift</a:t>
            </a:r>
            <a:r>
              <a:rPr lang="pt-PT" sz="1400" dirty="0"/>
              <a:t> ou </a:t>
            </a:r>
            <a:r>
              <a:rPr lang="pt-PT" sz="1400" dirty="0" err="1"/>
              <a:t>splice</a:t>
            </a:r>
            <a:r>
              <a:rPr lang="pt-PT" sz="1400" dirty="0"/>
              <a:t>-site.</a:t>
            </a:r>
            <a:r>
              <a:rPr lang="pt-PT" sz="1400" b="1" dirty="0"/>
              <a:t> Valores próximos de 1 sugerem que variantes </a:t>
            </a:r>
            <a:r>
              <a:rPr lang="pt-PT" sz="1400" b="1" dirty="0" err="1"/>
              <a:t>LoF</a:t>
            </a:r>
            <a:r>
              <a:rPr lang="pt-PT" sz="1400" b="1" dirty="0"/>
              <a:t> nesse gene são raras na população por serem potencialmente deletérias.</a:t>
            </a:r>
          </a:p>
          <a:p>
            <a:endParaRPr lang="pt-PT" sz="1400" dirty="0"/>
          </a:p>
          <a:p>
            <a:pPr marL="285750" indent="-285750">
              <a:buFont typeface="Arial" panose="020B0604020202020204" pitchFamily="34" charset="0"/>
              <a:buChar char="•"/>
            </a:pPr>
            <a:r>
              <a:rPr lang="pt-PT" sz="1600" b="1" dirty="0" err="1"/>
              <a:t>Loss-of-function</a:t>
            </a:r>
            <a:r>
              <a:rPr lang="pt-PT" sz="1600" b="1" dirty="0"/>
              <a:t> </a:t>
            </a:r>
            <a:r>
              <a:rPr lang="pt-PT" sz="1600" b="1" dirty="0" err="1"/>
              <a:t>observed</a:t>
            </a:r>
            <a:r>
              <a:rPr lang="pt-PT" sz="1600" b="1" dirty="0"/>
              <a:t>/</a:t>
            </a:r>
            <a:r>
              <a:rPr lang="pt-PT" sz="1600" b="1" dirty="0" err="1"/>
              <a:t>expected</a:t>
            </a:r>
            <a:r>
              <a:rPr lang="pt-PT" sz="1600" b="1" dirty="0"/>
              <a:t> (LOEUF)</a:t>
            </a:r>
          </a:p>
          <a:p>
            <a:r>
              <a:rPr lang="pt-PT" sz="1400" dirty="0"/>
              <a:t>Razão entre o número de variantes </a:t>
            </a:r>
            <a:r>
              <a:rPr lang="pt-PT" sz="1400" dirty="0" err="1"/>
              <a:t>LoF</a:t>
            </a:r>
            <a:r>
              <a:rPr lang="pt-PT" sz="1400" dirty="0"/>
              <a:t> observadas e o número esperado num gene. </a:t>
            </a:r>
            <a:r>
              <a:rPr lang="pt-PT" sz="1400" b="1" dirty="0"/>
              <a:t>Valores baixos indicam forte restrição evolutiva, sugerindo intolerância a perda de função.</a:t>
            </a:r>
          </a:p>
          <a:p>
            <a:endParaRPr lang="pt-PT" sz="1400" dirty="0"/>
          </a:p>
          <a:p>
            <a:pPr marL="285750" indent="-285750">
              <a:buFont typeface="Arial" panose="020B0604020202020204" pitchFamily="34" charset="0"/>
              <a:buChar char="•"/>
            </a:pPr>
            <a:r>
              <a:rPr lang="pt-PT" sz="1600" b="1" dirty="0" err="1"/>
              <a:t>Heterozygous</a:t>
            </a:r>
            <a:r>
              <a:rPr lang="pt-PT" sz="1600" b="1" dirty="0"/>
              <a:t> </a:t>
            </a:r>
            <a:r>
              <a:rPr lang="pt-PT" sz="1600" b="1" dirty="0" err="1"/>
              <a:t>loss-of-function</a:t>
            </a:r>
            <a:r>
              <a:rPr lang="pt-PT" sz="1600" b="1" dirty="0"/>
              <a:t> </a:t>
            </a:r>
            <a:r>
              <a:rPr lang="pt-PT" sz="1600" b="1" dirty="0" err="1"/>
              <a:t>intolerance</a:t>
            </a:r>
            <a:r>
              <a:rPr lang="pt-PT" sz="1600" b="1" dirty="0"/>
              <a:t> (</a:t>
            </a:r>
            <a:r>
              <a:rPr lang="pt-PT" sz="1600" b="1" dirty="0" err="1"/>
              <a:t>sHet</a:t>
            </a:r>
            <a:r>
              <a:rPr lang="pt-PT" sz="1600" b="1" dirty="0"/>
              <a:t>)</a:t>
            </a:r>
          </a:p>
          <a:p>
            <a:r>
              <a:rPr lang="pt-PT" sz="1400" dirty="0"/>
              <a:t>Estima a pressão seletiva contra variantes </a:t>
            </a:r>
            <a:r>
              <a:rPr lang="pt-PT" sz="1400" dirty="0" err="1"/>
              <a:t>LoF</a:t>
            </a:r>
            <a:r>
              <a:rPr lang="pt-PT" sz="1400" dirty="0"/>
              <a:t> em </a:t>
            </a:r>
            <a:r>
              <a:rPr lang="pt-PT" sz="1400" dirty="0" err="1"/>
              <a:t>heterozigotia</a:t>
            </a:r>
            <a:r>
              <a:rPr lang="pt-PT" sz="1400" dirty="0"/>
              <a:t>. </a:t>
            </a:r>
            <a:r>
              <a:rPr lang="pt-PT" sz="1400" b="1" dirty="0"/>
              <a:t>Valores elevados sugerem que perder uma cópia funcional do gene pode ter impacto biológico relevante.</a:t>
            </a:r>
          </a:p>
          <a:p>
            <a:endParaRPr lang="pt-PT" sz="1400" dirty="0"/>
          </a:p>
          <a:p>
            <a:pPr marL="285750" indent="-285750">
              <a:buFont typeface="Arial" panose="020B0604020202020204" pitchFamily="34" charset="0"/>
              <a:buChar char="•"/>
            </a:pPr>
            <a:r>
              <a:rPr lang="pt-PT" sz="1600" b="1" dirty="0" err="1"/>
              <a:t>Probability</a:t>
            </a:r>
            <a:r>
              <a:rPr lang="pt-PT" sz="1600" b="1" dirty="0"/>
              <a:t> </a:t>
            </a:r>
            <a:r>
              <a:rPr lang="pt-PT" sz="1600" b="1" dirty="0" err="1"/>
              <a:t>of</a:t>
            </a:r>
            <a:r>
              <a:rPr lang="pt-PT" sz="1600" b="1" dirty="0"/>
              <a:t> </a:t>
            </a:r>
            <a:r>
              <a:rPr lang="pt-PT" sz="1600" b="1" dirty="0" err="1"/>
              <a:t>haploinsufficiency</a:t>
            </a:r>
            <a:r>
              <a:rPr lang="pt-PT" sz="1600" b="1" dirty="0"/>
              <a:t> (</a:t>
            </a:r>
            <a:r>
              <a:rPr lang="pt-PT" sz="1600" b="1" dirty="0" err="1"/>
              <a:t>pHaplo</a:t>
            </a:r>
            <a:r>
              <a:rPr lang="pt-PT" sz="1600" b="1" dirty="0"/>
              <a:t>)</a:t>
            </a:r>
          </a:p>
          <a:p>
            <a:r>
              <a:rPr lang="pt-PT" sz="1400" dirty="0"/>
              <a:t>Probabilidade de um gene apresentar </a:t>
            </a:r>
            <a:r>
              <a:rPr lang="pt-PT" sz="1400" dirty="0" err="1"/>
              <a:t>haploinsuficiência</a:t>
            </a:r>
            <a:r>
              <a:rPr lang="pt-PT" sz="1400" dirty="0"/>
              <a:t>, ou seja, de uma única cópia funcional não ser suficiente para manter a função normal.</a:t>
            </a:r>
          </a:p>
          <a:p>
            <a:endParaRPr lang="pt-PT" sz="1400" dirty="0"/>
          </a:p>
          <a:p>
            <a:pPr marL="285750" indent="-285750">
              <a:buFont typeface="Arial" panose="020B0604020202020204" pitchFamily="34" charset="0"/>
              <a:buChar char="•"/>
            </a:pPr>
            <a:r>
              <a:rPr lang="pt-PT" sz="1600" b="1" dirty="0" err="1"/>
              <a:t>Probability</a:t>
            </a:r>
            <a:r>
              <a:rPr lang="pt-PT" sz="1600" b="1" dirty="0"/>
              <a:t> </a:t>
            </a:r>
            <a:r>
              <a:rPr lang="pt-PT" sz="1600" b="1" dirty="0" err="1"/>
              <a:t>of</a:t>
            </a:r>
            <a:r>
              <a:rPr lang="pt-PT" sz="1600" b="1" dirty="0"/>
              <a:t> </a:t>
            </a:r>
            <a:r>
              <a:rPr lang="pt-PT" sz="1600" b="1" dirty="0" err="1"/>
              <a:t>triplosensitivity</a:t>
            </a:r>
            <a:r>
              <a:rPr lang="pt-PT" sz="1600" b="1" dirty="0"/>
              <a:t> (</a:t>
            </a:r>
            <a:r>
              <a:rPr lang="pt-PT" sz="1600" b="1" dirty="0" err="1"/>
              <a:t>pTriplo</a:t>
            </a:r>
            <a:r>
              <a:rPr lang="pt-PT" sz="1600" b="1" dirty="0"/>
              <a:t>)</a:t>
            </a:r>
          </a:p>
          <a:p>
            <a:r>
              <a:rPr lang="pt-PT" sz="1400" dirty="0"/>
              <a:t>Probabilidade de um gene ser sensível ao aumento do número de cópias. </a:t>
            </a:r>
            <a:r>
              <a:rPr lang="pt-PT" sz="1400" b="1" dirty="0"/>
              <a:t>Genes com valores elevados podem estar associados a doença quando duplicados.</a:t>
            </a:r>
          </a:p>
          <a:p>
            <a:endParaRPr lang="pt-PT" sz="1400" dirty="0"/>
          </a:p>
          <a:p>
            <a:pPr marL="285750" indent="-285750">
              <a:buFont typeface="Arial" panose="020B0604020202020204" pitchFamily="34" charset="0"/>
              <a:buChar char="•"/>
            </a:pPr>
            <a:r>
              <a:rPr lang="pt-PT" sz="1600" b="1" dirty="0" err="1"/>
              <a:t>Missense</a:t>
            </a:r>
            <a:r>
              <a:rPr lang="pt-PT" sz="1600" b="1" dirty="0"/>
              <a:t> </a:t>
            </a:r>
            <a:r>
              <a:rPr lang="pt-PT" sz="1600" b="1" dirty="0" err="1"/>
              <a:t>intolerance</a:t>
            </a:r>
            <a:r>
              <a:rPr lang="pt-PT" sz="1600" b="1" dirty="0"/>
              <a:t> (</a:t>
            </a:r>
            <a:r>
              <a:rPr lang="pt-PT" sz="1600" b="1" dirty="0" err="1"/>
              <a:t>Missense</a:t>
            </a:r>
            <a:r>
              <a:rPr lang="pt-PT" sz="1600" b="1" dirty="0"/>
              <a:t> Z score)</a:t>
            </a:r>
          </a:p>
          <a:p>
            <a:r>
              <a:rPr lang="pt-PT" sz="1400" dirty="0"/>
              <a:t>Mede a intolerância de um gene a variantes </a:t>
            </a:r>
            <a:r>
              <a:rPr lang="pt-PT" sz="1400" dirty="0" err="1"/>
              <a:t>missense</a:t>
            </a:r>
            <a:r>
              <a:rPr lang="pt-PT" sz="1400" dirty="0"/>
              <a:t>. </a:t>
            </a:r>
            <a:r>
              <a:rPr lang="pt-PT" sz="1400" b="1" dirty="0"/>
              <a:t>Valores positivos elevados indicam menos variantes </a:t>
            </a:r>
            <a:r>
              <a:rPr lang="pt-PT" sz="1400" b="1" dirty="0" err="1"/>
              <a:t>missense</a:t>
            </a:r>
            <a:r>
              <a:rPr lang="pt-PT" sz="1400" b="1" dirty="0"/>
              <a:t> observadas do que esperado, sugerindo que alterações </a:t>
            </a:r>
            <a:r>
              <a:rPr lang="pt-PT" sz="1400" b="1" dirty="0" err="1"/>
              <a:t>aminoacídicas</a:t>
            </a:r>
            <a:r>
              <a:rPr lang="pt-PT" sz="1400" b="1" dirty="0"/>
              <a:t> nesse gene são frequentemente deletérias.</a:t>
            </a:r>
          </a:p>
        </p:txBody>
      </p:sp>
    </p:spTree>
    <p:extLst>
      <p:ext uri="{BB962C8B-B14F-4D97-AF65-F5344CB8AC3E}">
        <p14:creationId xmlns:p14="http://schemas.microsoft.com/office/powerpoint/2010/main" val="665797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6924A-E618-AA2A-3CB8-E9966663D36E}"/>
              </a:ext>
            </a:extLst>
          </p:cNvPr>
          <p:cNvSpPr>
            <a:spLocks noGrp="1"/>
          </p:cNvSpPr>
          <p:nvPr>
            <p:ph type="title"/>
          </p:nvPr>
        </p:nvSpPr>
        <p:spPr>
          <a:xfrm>
            <a:off x="293451" y="0"/>
            <a:ext cx="10515600" cy="1325563"/>
          </a:xfrm>
        </p:spPr>
        <p:txBody>
          <a:bodyPr/>
          <a:lstStyle/>
          <a:p>
            <a:r>
              <a:rPr lang="en-GB" dirty="0" err="1"/>
              <a:t>Anotação</a:t>
            </a:r>
            <a:r>
              <a:rPr lang="en-GB" dirty="0"/>
              <a:t> dos genes e </a:t>
            </a:r>
            <a:r>
              <a:rPr lang="en-GB" dirty="0" err="1"/>
              <a:t>doenças</a:t>
            </a:r>
            <a:r>
              <a:rPr lang="en-GB" dirty="0"/>
              <a:t> </a:t>
            </a:r>
            <a:r>
              <a:rPr lang="en-GB" dirty="0" err="1"/>
              <a:t>associadas</a:t>
            </a:r>
            <a:endParaRPr lang="en-GB" dirty="0"/>
          </a:p>
        </p:txBody>
      </p:sp>
      <p:sp>
        <p:nvSpPr>
          <p:cNvPr id="4" name="Marcador de Posição do Número do Diapositivo 3">
            <a:extLst>
              <a:ext uri="{FF2B5EF4-FFF2-40B4-BE49-F238E27FC236}">
                <a16:creationId xmlns:a16="http://schemas.microsoft.com/office/drawing/2014/main" id="{5431FD46-2F1A-0DE8-F7B5-AD84D7371F7E}"/>
              </a:ext>
            </a:extLst>
          </p:cNvPr>
          <p:cNvSpPr>
            <a:spLocks noGrp="1"/>
          </p:cNvSpPr>
          <p:nvPr>
            <p:ph type="sldNum" sz="quarter" idx="12"/>
          </p:nvPr>
        </p:nvSpPr>
        <p:spPr/>
        <p:txBody>
          <a:bodyPr/>
          <a:lstStyle/>
          <a:p>
            <a:fld id="{6D49FC33-1B8E-4C1B-8D07-84B8EBAC733E}" type="slidenum">
              <a:rPr lang="en-GB" smtClean="0"/>
              <a:t>11</a:t>
            </a:fld>
            <a:endParaRPr lang="en-GB"/>
          </a:p>
        </p:txBody>
      </p:sp>
      <p:pic>
        <p:nvPicPr>
          <p:cNvPr id="1026" name="Picture 2" descr="omim-50-logo - AGSD-UK">
            <a:extLst>
              <a:ext uri="{FF2B5EF4-FFF2-40B4-BE49-F238E27FC236}">
                <a16:creationId xmlns:a16="http://schemas.microsoft.com/office/drawing/2014/main" id="{CA72E660-AB70-5466-1D14-200FFD48FE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043" y="2411041"/>
            <a:ext cx="1933575" cy="1238250"/>
          </a:xfrm>
          <a:prstGeom prst="rect">
            <a:avLst/>
          </a:prstGeom>
          <a:noFill/>
          <a:extLst>
            <a:ext uri="{909E8E84-426E-40DD-AFC4-6F175D3DCCD1}">
              <a14:hiddenFill xmlns:a14="http://schemas.microsoft.com/office/drawing/2010/main">
                <a:solidFill>
                  <a:srgbClr val="FFFFFF"/>
                </a:solidFill>
              </a14:hiddenFill>
            </a:ext>
          </a:extLst>
        </p:spPr>
      </p:pic>
      <p:sp>
        <p:nvSpPr>
          <p:cNvPr id="3" name="CaixaDeTexto 2">
            <a:extLst>
              <a:ext uri="{FF2B5EF4-FFF2-40B4-BE49-F238E27FC236}">
                <a16:creationId xmlns:a16="http://schemas.microsoft.com/office/drawing/2014/main" id="{767049DF-2325-51A9-E79C-1785F2C46A2F}"/>
              </a:ext>
            </a:extLst>
          </p:cNvPr>
          <p:cNvSpPr txBox="1"/>
          <p:nvPr/>
        </p:nvSpPr>
        <p:spPr>
          <a:xfrm>
            <a:off x="337225" y="1138537"/>
            <a:ext cx="11011711" cy="923330"/>
          </a:xfrm>
          <a:prstGeom prst="rect">
            <a:avLst/>
          </a:prstGeom>
          <a:noFill/>
        </p:spPr>
        <p:txBody>
          <a:bodyPr wrap="square">
            <a:spAutoFit/>
          </a:bodyPr>
          <a:lstStyle/>
          <a:p>
            <a:r>
              <a:rPr lang="pt-PT" dirty="0"/>
              <a:t>Por outro lado, existem uma serie de bases de dados que indicam a associação entre genes  e fenótipos.</a:t>
            </a:r>
          </a:p>
          <a:p>
            <a:endParaRPr lang="pt-PT" dirty="0"/>
          </a:p>
          <a:p>
            <a:r>
              <a:rPr lang="pt-PT" dirty="0"/>
              <a:t>Dentro destes:</a:t>
            </a:r>
            <a:endParaRPr lang="en-GB" dirty="0"/>
          </a:p>
        </p:txBody>
      </p:sp>
      <p:pic>
        <p:nvPicPr>
          <p:cNvPr id="6" name="Imagem 5">
            <a:extLst>
              <a:ext uri="{FF2B5EF4-FFF2-40B4-BE49-F238E27FC236}">
                <a16:creationId xmlns:a16="http://schemas.microsoft.com/office/drawing/2014/main" id="{0F85E643-27FA-E908-D907-C3B81E62620F}"/>
              </a:ext>
            </a:extLst>
          </p:cNvPr>
          <p:cNvPicPr>
            <a:picLocks noChangeAspect="1"/>
          </p:cNvPicPr>
          <p:nvPr/>
        </p:nvPicPr>
        <p:blipFill>
          <a:blip r:embed="rId3"/>
          <a:stretch>
            <a:fillRect/>
          </a:stretch>
        </p:blipFill>
        <p:spPr>
          <a:xfrm>
            <a:off x="6766210" y="4754445"/>
            <a:ext cx="3161956" cy="824367"/>
          </a:xfrm>
          <a:prstGeom prst="rect">
            <a:avLst/>
          </a:prstGeom>
        </p:spPr>
      </p:pic>
      <p:pic>
        <p:nvPicPr>
          <p:cNvPr id="7" name="Picture 2" descr="Hope ORPHANET - Hope">
            <a:extLst>
              <a:ext uri="{FF2B5EF4-FFF2-40B4-BE49-F238E27FC236}">
                <a16:creationId xmlns:a16="http://schemas.microsoft.com/office/drawing/2014/main" id="{30C4C8F8-C192-9727-917C-524FBE95DB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8247" y="2175754"/>
            <a:ext cx="4034547" cy="179313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enCC genes with classifications">
            <a:extLst>
              <a:ext uri="{FF2B5EF4-FFF2-40B4-BE49-F238E27FC236}">
                <a16:creationId xmlns:a16="http://schemas.microsoft.com/office/drawing/2014/main" id="{B2A9C1C7-F3F5-8E7E-D68E-6C3B37F3DF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1623" y="4473575"/>
            <a:ext cx="3662997" cy="1294927"/>
          </a:xfrm>
          <a:prstGeom prst="rect">
            <a:avLst/>
          </a:prstGeom>
          <a:noFill/>
          <a:extLst>
            <a:ext uri="{909E8E84-426E-40DD-AFC4-6F175D3DCCD1}">
              <a14:hiddenFill xmlns:a14="http://schemas.microsoft.com/office/drawing/2010/main">
                <a:solidFill>
                  <a:srgbClr val="FFFFFF"/>
                </a:solidFill>
              </a14:hiddenFill>
            </a:ext>
          </a:extLst>
        </p:spPr>
      </p:pic>
      <p:sp>
        <p:nvSpPr>
          <p:cNvPr id="12" name="CaixaDeTexto 11">
            <a:extLst>
              <a:ext uri="{FF2B5EF4-FFF2-40B4-BE49-F238E27FC236}">
                <a16:creationId xmlns:a16="http://schemas.microsoft.com/office/drawing/2014/main" id="{2D9BCE5B-AFF1-2F9C-7EE9-2E832FB20FF9}"/>
              </a:ext>
            </a:extLst>
          </p:cNvPr>
          <p:cNvSpPr txBox="1"/>
          <p:nvPr/>
        </p:nvSpPr>
        <p:spPr>
          <a:xfrm>
            <a:off x="6329464" y="5734616"/>
            <a:ext cx="4156953" cy="369332"/>
          </a:xfrm>
          <a:prstGeom prst="rect">
            <a:avLst/>
          </a:prstGeom>
          <a:noFill/>
        </p:spPr>
        <p:txBody>
          <a:bodyPr wrap="square">
            <a:spAutoFit/>
          </a:bodyPr>
          <a:lstStyle/>
          <a:p>
            <a:r>
              <a:rPr lang="en-GB" dirty="0">
                <a:hlinkClick r:id="rId6"/>
              </a:rPr>
              <a:t>https://www.ebi.ac.uk/gene2phenotype/</a:t>
            </a:r>
            <a:endParaRPr lang="en-GB" dirty="0"/>
          </a:p>
        </p:txBody>
      </p:sp>
      <p:sp>
        <p:nvSpPr>
          <p:cNvPr id="13" name="CaixaDeTexto 12">
            <a:extLst>
              <a:ext uri="{FF2B5EF4-FFF2-40B4-BE49-F238E27FC236}">
                <a16:creationId xmlns:a16="http://schemas.microsoft.com/office/drawing/2014/main" id="{BD12202D-06BB-45D8-867E-7F6E597D52E3}"/>
              </a:ext>
            </a:extLst>
          </p:cNvPr>
          <p:cNvSpPr txBox="1"/>
          <p:nvPr/>
        </p:nvSpPr>
        <p:spPr>
          <a:xfrm>
            <a:off x="2080908" y="5848105"/>
            <a:ext cx="2789407" cy="369332"/>
          </a:xfrm>
          <a:prstGeom prst="rect">
            <a:avLst/>
          </a:prstGeom>
          <a:noFill/>
        </p:spPr>
        <p:txBody>
          <a:bodyPr wrap="square">
            <a:spAutoFit/>
          </a:bodyPr>
          <a:lstStyle/>
          <a:p>
            <a:r>
              <a:rPr lang="en-GB" dirty="0">
                <a:hlinkClick r:id="rId7"/>
              </a:rPr>
              <a:t>https://thegencc.org/</a:t>
            </a:r>
            <a:endParaRPr lang="en-GB" dirty="0"/>
          </a:p>
        </p:txBody>
      </p:sp>
      <p:sp>
        <p:nvSpPr>
          <p:cNvPr id="15" name="CaixaDeTexto 14">
            <a:extLst>
              <a:ext uri="{FF2B5EF4-FFF2-40B4-BE49-F238E27FC236}">
                <a16:creationId xmlns:a16="http://schemas.microsoft.com/office/drawing/2014/main" id="{661999EF-6779-BC92-B711-8E41E762BE8A}"/>
              </a:ext>
            </a:extLst>
          </p:cNvPr>
          <p:cNvSpPr txBox="1"/>
          <p:nvPr/>
        </p:nvSpPr>
        <p:spPr>
          <a:xfrm>
            <a:off x="6539419" y="3575074"/>
            <a:ext cx="3771901" cy="369332"/>
          </a:xfrm>
          <a:prstGeom prst="rect">
            <a:avLst/>
          </a:prstGeom>
          <a:noFill/>
        </p:spPr>
        <p:txBody>
          <a:bodyPr wrap="square">
            <a:spAutoFit/>
          </a:bodyPr>
          <a:lstStyle/>
          <a:p>
            <a:r>
              <a:rPr lang="pt-PT" dirty="0">
                <a:hlinkClick r:id="rId8"/>
              </a:rPr>
              <a:t>https://www.orpha.net/pt/disease</a:t>
            </a:r>
            <a:endParaRPr lang="en-GB" dirty="0"/>
          </a:p>
        </p:txBody>
      </p:sp>
      <p:sp>
        <p:nvSpPr>
          <p:cNvPr id="16" name="CaixaDeTexto 15">
            <a:extLst>
              <a:ext uri="{FF2B5EF4-FFF2-40B4-BE49-F238E27FC236}">
                <a16:creationId xmlns:a16="http://schemas.microsoft.com/office/drawing/2014/main" id="{D755F9D6-412E-5C1C-99EA-2F02987C21B8}"/>
              </a:ext>
            </a:extLst>
          </p:cNvPr>
          <p:cNvSpPr txBox="1"/>
          <p:nvPr/>
        </p:nvSpPr>
        <p:spPr>
          <a:xfrm>
            <a:off x="700392" y="3659381"/>
            <a:ext cx="3284706" cy="369332"/>
          </a:xfrm>
          <a:prstGeom prst="rect">
            <a:avLst/>
          </a:prstGeom>
          <a:noFill/>
        </p:spPr>
        <p:txBody>
          <a:bodyPr wrap="square">
            <a:spAutoFit/>
          </a:bodyPr>
          <a:lstStyle/>
          <a:p>
            <a:r>
              <a:rPr lang="pt-PT" dirty="0">
                <a:hlinkClick r:id="rId9"/>
              </a:rPr>
              <a:t>https://www.omim.org/</a:t>
            </a:r>
            <a:endParaRPr lang="en-GB" dirty="0"/>
          </a:p>
        </p:txBody>
      </p:sp>
      <p:sp>
        <p:nvSpPr>
          <p:cNvPr id="20" name="CaixaDeTexto 19">
            <a:extLst>
              <a:ext uri="{FF2B5EF4-FFF2-40B4-BE49-F238E27FC236}">
                <a16:creationId xmlns:a16="http://schemas.microsoft.com/office/drawing/2014/main" id="{BEB4AA34-9A79-294D-AC44-595D70AD7529}"/>
              </a:ext>
            </a:extLst>
          </p:cNvPr>
          <p:cNvSpPr txBox="1"/>
          <p:nvPr/>
        </p:nvSpPr>
        <p:spPr>
          <a:xfrm>
            <a:off x="3533572" y="3779356"/>
            <a:ext cx="6094378" cy="369332"/>
          </a:xfrm>
          <a:prstGeom prst="rect">
            <a:avLst/>
          </a:prstGeom>
          <a:noFill/>
        </p:spPr>
        <p:txBody>
          <a:bodyPr wrap="square">
            <a:spAutoFit/>
          </a:bodyPr>
          <a:lstStyle/>
          <a:p>
            <a:r>
              <a:rPr lang="en-GB" dirty="0">
                <a:hlinkClick r:id="rId10"/>
              </a:rPr>
              <a:t>https://clinicalgenome.org/</a:t>
            </a:r>
            <a:endParaRPr lang="en-GB" dirty="0"/>
          </a:p>
        </p:txBody>
      </p:sp>
      <p:pic>
        <p:nvPicPr>
          <p:cNvPr id="5" name="Picture 8" descr="About Us - ClinGen | Clinical Genome Resource">
            <a:extLst>
              <a:ext uri="{FF2B5EF4-FFF2-40B4-BE49-F238E27FC236}">
                <a16:creationId xmlns:a16="http://schemas.microsoft.com/office/drawing/2014/main" id="{5A5FF599-4AD7-9C4F-FE35-FF84EC2ACC6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21730" y="1989915"/>
            <a:ext cx="2419350"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3647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44273-4B3D-288A-09A0-291EBD4671C7}"/>
              </a:ext>
            </a:extLst>
          </p:cNvPr>
          <p:cNvSpPr>
            <a:spLocks noGrp="1"/>
          </p:cNvSpPr>
          <p:nvPr>
            <p:ph type="title"/>
          </p:nvPr>
        </p:nvSpPr>
        <p:spPr/>
        <p:txBody>
          <a:bodyPr/>
          <a:lstStyle/>
          <a:p>
            <a:r>
              <a:rPr lang="en-GB" dirty="0" err="1"/>
              <a:t>Exercicio</a:t>
            </a:r>
            <a:r>
              <a:rPr lang="en-GB" dirty="0"/>
              <a:t> - </a:t>
            </a:r>
            <a:r>
              <a:rPr lang="en-GB" dirty="0" err="1"/>
              <a:t>Exploração</a:t>
            </a:r>
            <a:r>
              <a:rPr lang="en-GB" dirty="0"/>
              <a:t> das bases de dados</a:t>
            </a:r>
          </a:p>
        </p:txBody>
      </p:sp>
      <p:sp>
        <p:nvSpPr>
          <p:cNvPr id="4" name="Marcador de Posição do Número do Diapositivo 3">
            <a:extLst>
              <a:ext uri="{FF2B5EF4-FFF2-40B4-BE49-F238E27FC236}">
                <a16:creationId xmlns:a16="http://schemas.microsoft.com/office/drawing/2014/main" id="{6CAEA832-B673-89C4-CDA8-5630B8ACAB0F}"/>
              </a:ext>
            </a:extLst>
          </p:cNvPr>
          <p:cNvSpPr>
            <a:spLocks noGrp="1"/>
          </p:cNvSpPr>
          <p:nvPr>
            <p:ph type="sldNum" sz="quarter" idx="12"/>
          </p:nvPr>
        </p:nvSpPr>
        <p:spPr/>
        <p:txBody>
          <a:bodyPr/>
          <a:lstStyle/>
          <a:p>
            <a:fld id="{6D49FC33-1B8E-4C1B-8D07-84B8EBAC733E}" type="slidenum">
              <a:rPr lang="en-GB" smtClean="0"/>
              <a:t>12</a:t>
            </a:fld>
            <a:endParaRPr lang="en-GB"/>
          </a:p>
        </p:txBody>
      </p:sp>
      <p:sp>
        <p:nvSpPr>
          <p:cNvPr id="3" name="CaixaDeTexto 2">
            <a:extLst>
              <a:ext uri="{FF2B5EF4-FFF2-40B4-BE49-F238E27FC236}">
                <a16:creationId xmlns:a16="http://schemas.microsoft.com/office/drawing/2014/main" id="{DEB3C973-9D03-5D74-2B1B-FCE9DB414D96}"/>
              </a:ext>
            </a:extLst>
          </p:cNvPr>
          <p:cNvSpPr txBox="1"/>
          <p:nvPr/>
        </p:nvSpPr>
        <p:spPr>
          <a:xfrm>
            <a:off x="534364" y="1574157"/>
            <a:ext cx="10912998" cy="2031325"/>
          </a:xfrm>
          <a:prstGeom prst="rect">
            <a:avLst/>
          </a:prstGeom>
          <a:noFill/>
        </p:spPr>
        <p:txBody>
          <a:bodyPr wrap="square" rtlCol="0">
            <a:spAutoFit/>
          </a:bodyPr>
          <a:lstStyle/>
          <a:p>
            <a:r>
              <a:rPr lang="en-GB" dirty="0"/>
              <a:t>Para as </a:t>
            </a:r>
            <a:r>
              <a:rPr lang="en-GB" dirty="0" err="1"/>
              <a:t>seguintes</a:t>
            </a:r>
            <a:r>
              <a:rPr lang="en-GB" dirty="0"/>
              <a:t> </a:t>
            </a:r>
            <a:r>
              <a:rPr lang="en-GB" dirty="0" err="1"/>
              <a:t>variantes</a:t>
            </a:r>
            <a:r>
              <a:rPr lang="en-GB" dirty="0"/>
              <a:t>, </a:t>
            </a:r>
            <a:r>
              <a:rPr lang="en-GB" dirty="0" err="1"/>
              <a:t>indicar</a:t>
            </a:r>
            <a:r>
              <a:rPr lang="en-GB" dirty="0"/>
              <a:t>:</a:t>
            </a:r>
          </a:p>
          <a:p>
            <a:endParaRPr lang="en-GB" dirty="0"/>
          </a:p>
          <a:p>
            <a:pPr marL="285750" indent="-285750">
              <a:buFontTx/>
              <a:buChar char="-"/>
            </a:pPr>
            <a:r>
              <a:rPr lang="en-GB" dirty="0" err="1"/>
              <a:t>Verificar</a:t>
            </a:r>
            <a:r>
              <a:rPr lang="en-GB" dirty="0"/>
              <a:t> se a </a:t>
            </a:r>
            <a:r>
              <a:rPr lang="en-GB" dirty="0" err="1"/>
              <a:t>nomenclatura</a:t>
            </a:r>
            <a:r>
              <a:rPr lang="en-GB" dirty="0"/>
              <a:t> </a:t>
            </a:r>
            <a:r>
              <a:rPr lang="en-GB" dirty="0" err="1"/>
              <a:t>apresentada</a:t>
            </a:r>
            <a:r>
              <a:rPr lang="en-GB" dirty="0"/>
              <a:t> é </a:t>
            </a:r>
            <a:r>
              <a:rPr lang="en-GB" dirty="0" err="1"/>
              <a:t>válida</a:t>
            </a:r>
            <a:endParaRPr lang="en-GB" dirty="0"/>
          </a:p>
          <a:p>
            <a:pPr marL="285750" indent="-285750">
              <a:buFontTx/>
              <a:buChar char="-"/>
            </a:pPr>
            <a:r>
              <a:rPr lang="en-GB" dirty="0" err="1"/>
              <a:t>Indicar</a:t>
            </a:r>
            <a:r>
              <a:rPr lang="en-GB" dirty="0"/>
              <a:t> a </a:t>
            </a:r>
            <a:r>
              <a:rPr lang="en-GB" dirty="0" err="1"/>
              <a:t>região</a:t>
            </a:r>
            <a:r>
              <a:rPr lang="en-GB" dirty="0"/>
              <a:t> </a:t>
            </a:r>
            <a:r>
              <a:rPr lang="en-GB" dirty="0" err="1"/>
              <a:t>genómica</a:t>
            </a:r>
            <a:r>
              <a:rPr lang="en-GB" dirty="0"/>
              <a:t> para a </a:t>
            </a:r>
            <a:r>
              <a:rPr lang="en-GB" dirty="0" err="1"/>
              <a:t>variante</a:t>
            </a:r>
            <a:r>
              <a:rPr lang="en-GB" dirty="0"/>
              <a:t> (</a:t>
            </a:r>
            <a:r>
              <a:rPr lang="en-GB" dirty="0" err="1"/>
              <a:t>em</a:t>
            </a:r>
            <a:r>
              <a:rPr lang="en-GB" dirty="0"/>
              <a:t> hg38)</a:t>
            </a:r>
          </a:p>
          <a:p>
            <a:pPr marL="285750" indent="-285750">
              <a:buFontTx/>
              <a:buChar char="-"/>
            </a:pPr>
            <a:r>
              <a:rPr lang="en-GB" dirty="0"/>
              <a:t>Genes </a:t>
            </a:r>
            <a:r>
              <a:rPr lang="en-GB" dirty="0" err="1"/>
              <a:t>afetados</a:t>
            </a:r>
            <a:r>
              <a:rPr lang="en-GB" dirty="0"/>
              <a:t> e </a:t>
            </a:r>
            <a:r>
              <a:rPr lang="en-GB" dirty="0" err="1"/>
              <a:t>como</a:t>
            </a:r>
            <a:r>
              <a:rPr lang="en-GB" dirty="0"/>
              <a:t> (</a:t>
            </a:r>
            <a:r>
              <a:rPr lang="en-GB" dirty="0" err="1"/>
              <a:t>mutação</a:t>
            </a:r>
            <a:r>
              <a:rPr lang="en-GB" dirty="0"/>
              <a:t>, </a:t>
            </a:r>
            <a:r>
              <a:rPr lang="en-GB" dirty="0" err="1"/>
              <a:t>deleção</a:t>
            </a:r>
            <a:r>
              <a:rPr lang="en-GB" dirty="0"/>
              <a:t>, etc), e scores </a:t>
            </a:r>
            <a:r>
              <a:rPr lang="en-GB" dirty="0" err="1"/>
              <a:t>preditivos</a:t>
            </a:r>
            <a:r>
              <a:rPr lang="en-GB" dirty="0"/>
              <a:t> </a:t>
            </a:r>
            <a:r>
              <a:rPr lang="en-GB" dirty="0" err="1"/>
              <a:t>associados</a:t>
            </a:r>
            <a:endParaRPr lang="en-GB" dirty="0"/>
          </a:p>
          <a:p>
            <a:pPr marL="285750" indent="-285750">
              <a:buFontTx/>
              <a:buChar char="-"/>
            </a:pPr>
            <a:r>
              <a:rPr lang="en-GB" dirty="0" err="1"/>
              <a:t>Sobreposição</a:t>
            </a:r>
            <a:r>
              <a:rPr lang="en-GB" dirty="0"/>
              <a:t> (se </a:t>
            </a:r>
            <a:r>
              <a:rPr lang="en-GB" dirty="0" err="1"/>
              <a:t>existir</a:t>
            </a:r>
            <a:r>
              <a:rPr lang="en-GB" dirty="0"/>
              <a:t>) com bases de dados </a:t>
            </a:r>
            <a:r>
              <a:rPr lang="en-GB" dirty="0" err="1"/>
              <a:t>benignas</a:t>
            </a:r>
            <a:r>
              <a:rPr lang="en-GB" dirty="0"/>
              <a:t> </a:t>
            </a:r>
            <a:r>
              <a:rPr lang="en-GB" dirty="0" err="1"/>
              <a:t>ou</a:t>
            </a:r>
            <a:r>
              <a:rPr lang="en-GB" dirty="0"/>
              <a:t> </a:t>
            </a:r>
            <a:r>
              <a:rPr lang="en-GB" dirty="0" err="1"/>
              <a:t>patogénicas</a:t>
            </a:r>
            <a:endParaRPr lang="en-GB" dirty="0"/>
          </a:p>
          <a:p>
            <a:pPr marL="285750" indent="-285750">
              <a:buFontTx/>
              <a:buChar char="-"/>
            </a:pPr>
            <a:r>
              <a:rPr lang="en-GB" dirty="0" err="1"/>
              <a:t>Doenças</a:t>
            </a:r>
            <a:r>
              <a:rPr lang="en-GB" dirty="0"/>
              <a:t> </a:t>
            </a:r>
            <a:r>
              <a:rPr lang="en-GB" dirty="0" err="1"/>
              <a:t>associadas</a:t>
            </a:r>
            <a:r>
              <a:rPr lang="en-GB" dirty="0"/>
              <a:t> a esses genes</a:t>
            </a:r>
          </a:p>
        </p:txBody>
      </p:sp>
      <p:sp>
        <p:nvSpPr>
          <p:cNvPr id="7" name="CaixaDeTexto 6">
            <a:extLst>
              <a:ext uri="{FF2B5EF4-FFF2-40B4-BE49-F238E27FC236}">
                <a16:creationId xmlns:a16="http://schemas.microsoft.com/office/drawing/2014/main" id="{686D7399-2639-B80E-6AC4-11B302E977DA}"/>
              </a:ext>
            </a:extLst>
          </p:cNvPr>
          <p:cNvSpPr txBox="1"/>
          <p:nvPr/>
        </p:nvSpPr>
        <p:spPr>
          <a:xfrm>
            <a:off x="955742" y="4226782"/>
            <a:ext cx="6094378" cy="707886"/>
          </a:xfrm>
          <a:prstGeom prst="rect">
            <a:avLst/>
          </a:prstGeom>
          <a:noFill/>
        </p:spPr>
        <p:txBody>
          <a:bodyPr wrap="square">
            <a:spAutoFit/>
          </a:bodyPr>
          <a:lstStyle/>
          <a:p>
            <a:r>
              <a:rPr lang="en-GB" sz="2000" dirty="0">
                <a:solidFill>
                  <a:srgbClr val="0070C0"/>
                </a:solidFill>
              </a:rPr>
              <a:t>1) NM_007294.4:c.68_69delAG</a:t>
            </a:r>
          </a:p>
          <a:p>
            <a:r>
              <a:rPr lang="en-GB" sz="2000" dirty="0">
                <a:solidFill>
                  <a:srgbClr val="0070C0"/>
                </a:solidFill>
              </a:rPr>
              <a:t>     p.Glu23ValfsTer17</a:t>
            </a:r>
          </a:p>
        </p:txBody>
      </p:sp>
      <p:sp>
        <p:nvSpPr>
          <p:cNvPr id="5" name="CaixaDeTexto 4">
            <a:extLst>
              <a:ext uri="{FF2B5EF4-FFF2-40B4-BE49-F238E27FC236}">
                <a16:creationId xmlns:a16="http://schemas.microsoft.com/office/drawing/2014/main" id="{311A7136-D2F6-FA20-C0E0-48858C6BC32A}"/>
              </a:ext>
            </a:extLst>
          </p:cNvPr>
          <p:cNvSpPr txBox="1"/>
          <p:nvPr/>
        </p:nvSpPr>
        <p:spPr>
          <a:xfrm>
            <a:off x="6128375" y="4226782"/>
            <a:ext cx="6094378" cy="707886"/>
          </a:xfrm>
          <a:prstGeom prst="rect">
            <a:avLst/>
          </a:prstGeom>
          <a:noFill/>
        </p:spPr>
        <p:txBody>
          <a:bodyPr wrap="square">
            <a:spAutoFit/>
          </a:bodyPr>
          <a:lstStyle/>
          <a:p>
            <a:r>
              <a:rPr lang="en-GB" sz="2000" dirty="0">
                <a:solidFill>
                  <a:srgbClr val="0070C0"/>
                </a:solidFill>
              </a:rPr>
              <a:t>2) </a:t>
            </a:r>
            <a:r>
              <a:rPr lang="de-DE" sz="2000" dirty="0">
                <a:solidFill>
                  <a:srgbClr val="0070C0"/>
                </a:solidFill>
              </a:rPr>
              <a:t>NM_000277.3:c.1222C&gt;T</a:t>
            </a:r>
            <a:br>
              <a:rPr lang="de-DE" sz="2000" dirty="0">
                <a:solidFill>
                  <a:srgbClr val="0070C0"/>
                </a:solidFill>
              </a:rPr>
            </a:br>
            <a:r>
              <a:rPr lang="de-DE" sz="2000" dirty="0">
                <a:solidFill>
                  <a:srgbClr val="0070C0"/>
                </a:solidFill>
              </a:rPr>
              <a:t>     p.Arg408Trp</a:t>
            </a:r>
            <a:endParaRPr lang="en-GB" sz="2000" dirty="0">
              <a:solidFill>
                <a:srgbClr val="0070C0"/>
              </a:solidFill>
            </a:endParaRPr>
          </a:p>
        </p:txBody>
      </p:sp>
    </p:spTree>
    <p:extLst>
      <p:ext uri="{BB962C8B-B14F-4D97-AF65-F5344CB8AC3E}">
        <p14:creationId xmlns:p14="http://schemas.microsoft.com/office/powerpoint/2010/main" val="33495339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44273-4B3D-288A-09A0-291EBD4671C7}"/>
              </a:ext>
            </a:extLst>
          </p:cNvPr>
          <p:cNvSpPr>
            <a:spLocks noGrp="1"/>
          </p:cNvSpPr>
          <p:nvPr>
            <p:ph type="title"/>
          </p:nvPr>
        </p:nvSpPr>
        <p:spPr>
          <a:xfrm>
            <a:off x="0" y="-130985"/>
            <a:ext cx="10515600" cy="1325563"/>
          </a:xfrm>
        </p:spPr>
        <p:txBody>
          <a:bodyPr/>
          <a:lstStyle/>
          <a:p>
            <a:r>
              <a:rPr lang="en-GB" dirty="0" err="1"/>
              <a:t>Exercicio</a:t>
            </a:r>
            <a:r>
              <a:rPr lang="en-GB" dirty="0"/>
              <a:t> – </a:t>
            </a:r>
            <a:r>
              <a:rPr lang="en-GB" dirty="0" err="1"/>
              <a:t>Solução</a:t>
            </a:r>
            <a:r>
              <a:rPr lang="en-GB" dirty="0"/>
              <a:t> 1</a:t>
            </a:r>
          </a:p>
        </p:txBody>
      </p:sp>
      <p:sp>
        <p:nvSpPr>
          <p:cNvPr id="4" name="Marcador de Posição do Número do Diapositivo 3">
            <a:extLst>
              <a:ext uri="{FF2B5EF4-FFF2-40B4-BE49-F238E27FC236}">
                <a16:creationId xmlns:a16="http://schemas.microsoft.com/office/drawing/2014/main" id="{6CAEA832-B673-89C4-CDA8-5630B8ACAB0F}"/>
              </a:ext>
            </a:extLst>
          </p:cNvPr>
          <p:cNvSpPr>
            <a:spLocks noGrp="1"/>
          </p:cNvSpPr>
          <p:nvPr>
            <p:ph type="sldNum" sz="quarter" idx="12"/>
          </p:nvPr>
        </p:nvSpPr>
        <p:spPr/>
        <p:txBody>
          <a:bodyPr/>
          <a:lstStyle/>
          <a:p>
            <a:fld id="{6D49FC33-1B8E-4C1B-8D07-84B8EBAC733E}" type="slidenum">
              <a:rPr lang="en-GB" smtClean="0"/>
              <a:t>13</a:t>
            </a:fld>
            <a:endParaRPr lang="en-GB"/>
          </a:p>
        </p:txBody>
      </p:sp>
      <p:sp>
        <p:nvSpPr>
          <p:cNvPr id="3" name="CaixaDeTexto 2">
            <a:extLst>
              <a:ext uri="{FF2B5EF4-FFF2-40B4-BE49-F238E27FC236}">
                <a16:creationId xmlns:a16="http://schemas.microsoft.com/office/drawing/2014/main" id="{DEB3C973-9D03-5D74-2B1B-FCE9DB414D96}"/>
              </a:ext>
            </a:extLst>
          </p:cNvPr>
          <p:cNvSpPr txBox="1"/>
          <p:nvPr/>
        </p:nvSpPr>
        <p:spPr>
          <a:xfrm>
            <a:off x="150592" y="900199"/>
            <a:ext cx="12041407" cy="1477328"/>
          </a:xfrm>
          <a:prstGeom prst="rect">
            <a:avLst/>
          </a:prstGeom>
          <a:noFill/>
        </p:spPr>
        <p:txBody>
          <a:bodyPr wrap="square" rtlCol="0">
            <a:spAutoFit/>
          </a:bodyPr>
          <a:lstStyle/>
          <a:p>
            <a:r>
              <a:rPr lang="en-GB" dirty="0"/>
              <a:t>- </a:t>
            </a:r>
            <a:r>
              <a:rPr lang="en-GB" dirty="0" err="1"/>
              <a:t>Nomenclatura</a:t>
            </a:r>
            <a:r>
              <a:rPr lang="en-GB" dirty="0"/>
              <a:t>:  NM_007294.4:c.68_69del; </a:t>
            </a:r>
          </a:p>
          <a:p>
            <a:r>
              <a:rPr lang="pt-PT" b="0" i="0" dirty="0">
                <a:solidFill>
                  <a:srgbClr val="212529"/>
                </a:solidFill>
                <a:effectLst/>
                <a:latin typeface="-apple-system"/>
              </a:rPr>
              <a:t>	               NC_000017.11:g.43124030_43124031del ou [Hg38]chr17:43,124,030-43,124,031del</a:t>
            </a:r>
            <a:endParaRPr lang="en-GB" dirty="0"/>
          </a:p>
          <a:p>
            <a:endParaRPr lang="en-GB" dirty="0"/>
          </a:p>
          <a:p>
            <a:r>
              <a:rPr lang="en-GB" dirty="0"/>
              <a:t>- </a:t>
            </a:r>
            <a:r>
              <a:rPr lang="en-GB" dirty="0" err="1"/>
              <a:t>Mutação</a:t>
            </a:r>
            <a:r>
              <a:rPr lang="en-GB" dirty="0"/>
              <a:t> frameshift, no </a:t>
            </a:r>
            <a:r>
              <a:rPr lang="en-GB" dirty="0" err="1"/>
              <a:t>exão</a:t>
            </a:r>
            <a:r>
              <a:rPr lang="en-GB" dirty="0"/>
              <a:t> 2 do gene BRCA1</a:t>
            </a:r>
          </a:p>
          <a:p>
            <a:endParaRPr lang="en-GB" dirty="0"/>
          </a:p>
        </p:txBody>
      </p:sp>
      <p:sp>
        <p:nvSpPr>
          <p:cNvPr id="7" name="CaixaDeTexto 6">
            <a:extLst>
              <a:ext uri="{FF2B5EF4-FFF2-40B4-BE49-F238E27FC236}">
                <a16:creationId xmlns:a16="http://schemas.microsoft.com/office/drawing/2014/main" id="{686D7399-2639-B80E-6AC4-11B302E977DA}"/>
              </a:ext>
            </a:extLst>
          </p:cNvPr>
          <p:cNvSpPr txBox="1"/>
          <p:nvPr/>
        </p:nvSpPr>
        <p:spPr>
          <a:xfrm>
            <a:off x="8469090" y="100847"/>
            <a:ext cx="6094378" cy="707886"/>
          </a:xfrm>
          <a:prstGeom prst="rect">
            <a:avLst/>
          </a:prstGeom>
          <a:noFill/>
        </p:spPr>
        <p:txBody>
          <a:bodyPr wrap="square">
            <a:spAutoFit/>
          </a:bodyPr>
          <a:lstStyle/>
          <a:p>
            <a:pPr marL="342900" indent="-342900">
              <a:buAutoNum type="arabicParenR"/>
            </a:pPr>
            <a:r>
              <a:rPr lang="en-GB" sz="2000" dirty="0">
                <a:solidFill>
                  <a:srgbClr val="0070C0"/>
                </a:solidFill>
              </a:rPr>
              <a:t>NM_007294.4:c.68_69delAG</a:t>
            </a:r>
          </a:p>
          <a:p>
            <a:r>
              <a:rPr lang="en-GB" sz="2000" dirty="0">
                <a:solidFill>
                  <a:srgbClr val="0070C0"/>
                </a:solidFill>
              </a:rPr>
              <a:t>       p.Glu23ValfsTer17</a:t>
            </a:r>
          </a:p>
        </p:txBody>
      </p:sp>
      <p:pic>
        <p:nvPicPr>
          <p:cNvPr id="6" name="Imagem 5">
            <a:extLst>
              <a:ext uri="{FF2B5EF4-FFF2-40B4-BE49-F238E27FC236}">
                <a16:creationId xmlns:a16="http://schemas.microsoft.com/office/drawing/2014/main" id="{94C1FFCD-C71D-E9C6-B997-F41990DA962E}"/>
              </a:ext>
            </a:extLst>
          </p:cNvPr>
          <p:cNvPicPr>
            <a:picLocks noChangeAspect="1"/>
          </p:cNvPicPr>
          <p:nvPr/>
        </p:nvPicPr>
        <p:blipFill>
          <a:blip r:embed="rId2"/>
          <a:stretch>
            <a:fillRect/>
          </a:stretch>
        </p:blipFill>
        <p:spPr>
          <a:xfrm>
            <a:off x="1278382" y="3090818"/>
            <a:ext cx="6930938" cy="2696721"/>
          </a:xfrm>
          <a:prstGeom prst="rect">
            <a:avLst/>
          </a:prstGeom>
        </p:spPr>
      </p:pic>
      <p:sp>
        <p:nvSpPr>
          <p:cNvPr id="8" name="CaixaDeTexto 7">
            <a:extLst>
              <a:ext uri="{FF2B5EF4-FFF2-40B4-BE49-F238E27FC236}">
                <a16:creationId xmlns:a16="http://schemas.microsoft.com/office/drawing/2014/main" id="{FC546BC0-DD5E-CB40-1AE9-758E2DBC953B}"/>
              </a:ext>
            </a:extLst>
          </p:cNvPr>
          <p:cNvSpPr txBox="1"/>
          <p:nvPr/>
        </p:nvSpPr>
        <p:spPr>
          <a:xfrm>
            <a:off x="214007" y="3492233"/>
            <a:ext cx="1624519" cy="369332"/>
          </a:xfrm>
          <a:prstGeom prst="rect">
            <a:avLst/>
          </a:prstGeom>
          <a:noFill/>
        </p:spPr>
        <p:txBody>
          <a:bodyPr wrap="square" rtlCol="0">
            <a:spAutoFit/>
          </a:bodyPr>
          <a:lstStyle/>
          <a:p>
            <a:r>
              <a:rPr lang="en-GB" b="1" dirty="0" err="1"/>
              <a:t>ClinVar</a:t>
            </a:r>
            <a:endParaRPr lang="en-GB" b="1" dirty="0"/>
          </a:p>
        </p:txBody>
      </p:sp>
      <p:pic>
        <p:nvPicPr>
          <p:cNvPr id="10" name="Imagem 9">
            <a:extLst>
              <a:ext uri="{FF2B5EF4-FFF2-40B4-BE49-F238E27FC236}">
                <a16:creationId xmlns:a16="http://schemas.microsoft.com/office/drawing/2014/main" id="{30CD277D-49A4-792E-B880-61149B145B4B}"/>
              </a:ext>
            </a:extLst>
          </p:cNvPr>
          <p:cNvPicPr>
            <a:picLocks noChangeAspect="1"/>
          </p:cNvPicPr>
          <p:nvPr/>
        </p:nvPicPr>
        <p:blipFill>
          <a:blip r:embed="rId3"/>
          <a:srcRect l="3459" r="18006"/>
          <a:stretch/>
        </p:blipFill>
        <p:spPr>
          <a:xfrm>
            <a:off x="671207" y="5845603"/>
            <a:ext cx="7509753" cy="924852"/>
          </a:xfrm>
          <a:prstGeom prst="rect">
            <a:avLst/>
          </a:prstGeom>
        </p:spPr>
      </p:pic>
      <p:sp>
        <p:nvSpPr>
          <p:cNvPr id="11" name="CaixaDeTexto 10">
            <a:extLst>
              <a:ext uri="{FF2B5EF4-FFF2-40B4-BE49-F238E27FC236}">
                <a16:creationId xmlns:a16="http://schemas.microsoft.com/office/drawing/2014/main" id="{FFE02A63-1A7A-BAEC-319C-AE5D929A7C47}"/>
              </a:ext>
            </a:extLst>
          </p:cNvPr>
          <p:cNvSpPr txBox="1"/>
          <p:nvPr/>
        </p:nvSpPr>
        <p:spPr>
          <a:xfrm>
            <a:off x="-100520" y="6125186"/>
            <a:ext cx="1624519" cy="369332"/>
          </a:xfrm>
          <a:prstGeom prst="rect">
            <a:avLst/>
          </a:prstGeom>
          <a:noFill/>
        </p:spPr>
        <p:txBody>
          <a:bodyPr wrap="square" rtlCol="0">
            <a:spAutoFit/>
          </a:bodyPr>
          <a:lstStyle/>
          <a:p>
            <a:r>
              <a:rPr lang="en-GB" b="1" dirty="0"/>
              <a:t>HGMD</a:t>
            </a:r>
          </a:p>
        </p:txBody>
      </p:sp>
      <p:pic>
        <p:nvPicPr>
          <p:cNvPr id="9" name="Imagem 8">
            <a:extLst>
              <a:ext uri="{FF2B5EF4-FFF2-40B4-BE49-F238E27FC236}">
                <a16:creationId xmlns:a16="http://schemas.microsoft.com/office/drawing/2014/main" id="{2B06CFBD-B215-02DB-D8D1-33A1CC6F08C5}"/>
              </a:ext>
            </a:extLst>
          </p:cNvPr>
          <p:cNvPicPr>
            <a:picLocks noChangeAspect="1"/>
          </p:cNvPicPr>
          <p:nvPr/>
        </p:nvPicPr>
        <p:blipFill>
          <a:blip r:embed="rId4"/>
          <a:srcRect r="13701"/>
          <a:stretch/>
        </p:blipFill>
        <p:spPr>
          <a:xfrm>
            <a:off x="8402424" y="3647569"/>
            <a:ext cx="3717201" cy="1762371"/>
          </a:xfrm>
          <a:prstGeom prst="rect">
            <a:avLst/>
          </a:prstGeom>
        </p:spPr>
      </p:pic>
      <p:sp>
        <p:nvSpPr>
          <p:cNvPr id="13" name="CaixaDeTexto 12">
            <a:extLst>
              <a:ext uri="{FF2B5EF4-FFF2-40B4-BE49-F238E27FC236}">
                <a16:creationId xmlns:a16="http://schemas.microsoft.com/office/drawing/2014/main" id="{E49CD926-55C5-A80D-DC58-A8AD37C6DD05}"/>
              </a:ext>
            </a:extLst>
          </p:cNvPr>
          <p:cNvSpPr txBox="1"/>
          <p:nvPr/>
        </p:nvSpPr>
        <p:spPr>
          <a:xfrm>
            <a:off x="5550408" y="1893185"/>
            <a:ext cx="6734264" cy="923330"/>
          </a:xfrm>
          <a:prstGeom prst="rect">
            <a:avLst/>
          </a:prstGeom>
          <a:noFill/>
        </p:spPr>
        <p:txBody>
          <a:bodyPr wrap="square">
            <a:spAutoFit/>
          </a:bodyPr>
          <a:lstStyle/>
          <a:p>
            <a:pPr marL="285750" indent="-285750">
              <a:buFontTx/>
              <a:buChar char="-"/>
            </a:pPr>
            <a:r>
              <a:rPr lang="en-GB" dirty="0"/>
              <a:t>Sem </a:t>
            </a:r>
            <a:r>
              <a:rPr lang="en-GB" dirty="0" err="1"/>
              <a:t>sobreposição</a:t>
            </a:r>
            <a:r>
              <a:rPr lang="en-GB" dirty="0"/>
              <a:t> com bases de dados </a:t>
            </a:r>
            <a:r>
              <a:rPr lang="en-GB" dirty="0" err="1"/>
              <a:t>benignas</a:t>
            </a:r>
            <a:r>
              <a:rPr lang="en-GB" dirty="0"/>
              <a:t>/</a:t>
            </a:r>
            <a:r>
              <a:rPr lang="en-GB" dirty="0" err="1"/>
              <a:t>população</a:t>
            </a:r>
            <a:r>
              <a:rPr lang="en-GB" dirty="0"/>
              <a:t> </a:t>
            </a:r>
            <a:r>
              <a:rPr lang="en-GB" dirty="0" err="1"/>
              <a:t>comum</a:t>
            </a:r>
            <a:endParaRPr lang="en-GB" dirty="0"/>
          </a:p>
          <a:p>
            <a:pPr marL="285750" indent="-285750">
              <a:buFontTx/>
              <a:buChar char="-"/>
            </a:pPr>
            <a:r>
              <a:rPr lang="en-GB" dirty="0"/>
              <a:t>Sem </a:t>
            </a:r>
            <a:r>
              <a:rPr lang="en-GB" dirty="0" err="1"/>
              <a:t>sobreposição</a:t>
            </a:r>
            <a:r>
              <a:rPr lang="en-GB" dirty="0"/>
              <a:t> total com </a:t>
            </a:r>
            <a:r>
              <a:rPr lang="en-GB" dirty="0" err="1"/>
              <a:t>alterações</a:t>
            </a:r>
            <a:r>
              <a:rPr lang="en-GB" dirty="0"/>
              <a:t> </a:t>
            </a:r>
            <a:r>
              <a:rPr lang="en-GB" dirty="0" err="1"/>
              <a:t>patogenicas</a:t>
            </a:r>
            <a:endParaRPr lang="en-GB" dirty="0"/>
          </a:p>
        </p:txBody>
      </p:sp>
    </p:spTree>
    <p:extLst>
      <p:ext uri="{BB962C8B-B14F-4D97-AF65-F5344CB8AC3E}">
        <p14:creationId xmlns:p14="http://schemas.microsoft.com/office/powerpoint/2010/main" val="3913098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44273-4B3D-288A-09A0-291EBD4671C7}"/>
              </a:ext>
            </a:extLst>
          </p:cNvPr>
          <p:cNvSpPr>
            <a:spLocks noGrp="1"/>
          </p:cNvSpPr>
          <p:nvPr>
            <p:ph type="title"/>
          </p:nvPr>
        </p:nvSpPr>
        <p:spPr>
          <a:xfrm>
            <a:off x="0" y="-130985"/>
            <a:ext cx="10515600" cy="1325563"/>
          </a:xfrm>
        </p:spPr>
        <p:txBody>
          <a:bodyPr/>
          <a:lstStyle/>
          <a:p>
            <a:r>
              <a:rPr lang="en-GB" dirty="0" err="1"/>
              <a:t>Exercicio</a:t>
            </a:r>
            <a:r>
              <a:rPr lang="en-GB" dirty="0"/>
              <a:t> – </a:t>
            </a:r>
            <a:r>
              <a:rPr lang="en-GB" dirty="0" err="1"/>
              <a:t>Solução</a:t>
            </a:r>
            <a:r>
              <a:rPr lang="en-GB" dirty="0"/>
              <a:t> 1</a:t>
            </a:r>
          </a:p>
        </p:txBody>
      </p:sp>
      <p:sp>
        <p:nvSpPr>
          <p:cNvPr id="4" name="Marcador de Posição do Número do Diapositivo 3">
            <a:extLst>
              <a:ext uri="{FF2B5EF4-FFF2-40B4-BE49-F238E27FC236}">
                <a16:creationId xmlns:a16="http://schemas.microsoft.com/office/drawing/2014/main" id="{6CAEA832-B673-89C4-CDA8-5630B8ACAB0F}"/>
              </a:ext>
            </a:extLst>
          </p:cNvPr>
          <p:cNvSpPr>
            <a:spLocks noGrp="1"/>
          </p:cNvSpPr>
          <p:nvPr>
            <p:ph type="sldNum" sz="quarter" idx="12"/>
          </p:nvPr>
        </p:nvSpPr>
        <p:spPr/>
        <p:txBody>
          <a:bodyPr/>
          <a:lstStyle/>
          <a:p>
            <a:fld id="{6D49FC33-1B8E-4C1B-8D07-84B8EBAC733E}" type="slidenum">
              <a:rPr lang="en-GB" smtClean="0"/>
              <a:t>14</a:t>
            </a:fld>
            <a:endParaRPr lang="en-GB"/>
          </a:p>
        </p:txBody>
      </p:sp>
      <p:sp>
        <p:nvSpPr>
          <p:cNvPr id="3" name="CaixaDeTexto 2">
            <a:extLst>
              <a:ext uri="{FF2B5EF4-FFF2-40B4-BE49-F238E27FC236}">
                <a16:creationId xmlns:a16="http://schemas.microsoft.com/office/drawing/2014/main" id="{DEB3C973-9D03-5D74-2B1B-FCE9DB414D96}"/>
              </a:ext>
            </a:extLst>
          </p:cNvPr>
          <p:cNvSpPr txBox="1"/>
          <p:nvPr/>
        </p:nvSpPr>
        <p:spPr>
          <a:xfrm>
            <a:off x="82500" y="909927"/>
            <a:ext cx="10912998" cy="369332"/>
          </a:xfrm>
          <a:prstGeom prst="rect">
            <a:avLst/>
          </a:prstGeom>
          <a:noFill/>
        </p:spPr>
        <p:txBody>
          <a:bodyPr wrap="square" rtlCol="0">
            <a:spAutoFit/>
          </a:bodyPr>
          <a:lstStyle/>
          <a:p>
            <a:r>
              <a:rPr lang="en-GB" dirty="0"/>
              <a:t>- </a:t>
            </a:r>
            <a:r>
              <a:rPr lang="en-GB" dirty="0" err="1"/>
              <a:t>Associado</a:t>
            </a:r>
            <a:r>
              <a:rPr lang="en-GB" dirty="0"/>
              <a:t> a:</a:t>
            </a:r>
          </a:p>
        </p:txBody>
      </p:sp>
      <p:sp>
        <p:nvSpPr>
          <p:cNvPr id="7" name="CaixaDeTexto 6">
            <a:extLst>
              <a:ext uri="{FF2B5EF4-FFF2-40B4-BE49-F238E27FC236}">
                <a16:creationId xmlns:a16="http://schemas.microsoft.com/office/drawing/2014/main" id="{686D7399-2639-B80E-6AC4-11B302E977DA}"/>
              </a:ext>
            </a:extLst>
          </p:cNvPr>
          <p:cNvSpPr txBox="1"/>
          <p:nvPr/>
        </p:nvSpPr>
        <p:spPr>
          <a:xfrm>
            <a:off x="8264809" y="421860"/>
            <a:ext cx="6094378" cy="707886"/>
          </a:xfrm>
          <a:prstGeom prst="rect">
            <a:avLst/>
          </a:prstGeom>
          <a:noFill/>
        </p:spPr>
        <p:txBody>
          <a:bodyPr wrap="square">
            <a:spAutoFit/>
          </a:bodyPr>
          <a:lstStyle/>
          <a:p>
            <a:pPr marL="342900" indent="-342900">
              <a:buAutoNum type="arabicParenR"/>
            </a:pPr>
            <a:r>
              <a:rPr lang="en-GB" sz="2000" dirty="0">
                <a:solidFill>
                  <a:srgbClr val="0070C0"/>
                </a:solidFill>
              </a:rPr>
              <a:t>NM_007294.4:c.68_69delAG</a:t>
            </a:r>
          </a:p>
          <a:p>
            <a:r>
              <a:rPr lang="en-GB" sz="2000" dirty="0">
                <a:solidFill>
                  <a:srgbClr val="0070C0"/>
                </a:solidFill>
              </a:rPr>
              <a:t>       p.Glu23ValfsTer17</a:t>
            </a:r>
          </a:p>
        </p:txBody>
      </p:sp>
      <p:pic>
        <p:nvPicPr>
          <p:cNvPr id="9" name="Imagem 8">
            <a:extLst>
              <a:ext uri="{FF2B5EF4-FFF2-40B4-BE49-F238E27FC236}">
                <a16:creationId xmlns:a16="http://schemas.microsoft.com/office/drawing/2014/main" id="{FAA0DAE6-8C70-8B27-1ACF-AF70671CACD9}"/>
              </a:ext>
            </a:extLst>
          </p:cNvPr>
          <p:cNvPicPr>
            <a:picLocks noChangeAspect="1"/>
          </p:cNvPicPr>
          <p:nvPr/>
        </p:nvPicPr>
        <p:blipFill>
          <a:blip r:embed="rId2"/>
          <a:srcRect t="6798"/>
          <a:stretch/>
        </p:blipFill>
        <p:spPr>
          <a:xfrm>
            <a:off x="91647" y="1546698"/>
            <a:ext cx="8059275" cy="1269656"/>
          </a:xfrm>
          <a:prstGeom prst="rect">
            <a:avLst/>
          </a:prstGeom>
        </p:spPr>
      </p:pic>
      <p:sp>
        <p:nvSpPr>
          <p:cNvPr id="12" name="CaixaDeTexto 11">
            <a:extLst>
              <a:ext uri="{FF2B5EF4-FFF2-40B4-BE49-F238E27FC236}">
                <a16:creationId xmlns:a16="http://schemas.microsoft.com/office/drawing/2014/main" id="{09009628-B646-ED22-6123-F58A7BCC4E6B}"/>
              </a:ext>
            </a:extLst>
          </p:cNvPr>
          <p:cNvSpPr txBox="1"/>
          <p:nvPr/>
        </p:nvSpPr>
        <p:spPr>
          <a:xfrm>
            <a:off x="136186" y="1254869"/>
            <a:ext cx="1624519" cy="369332"/>
          </a:xfrm>
          <a:prstGeom prst="rect">
            <a:avLst/>
          </a:prstGeom>
          <a:noFill/>
        </p:spPr>
        <p:txBody>
          <a:bodyPr wrap="square" rtlCol="0">
            <a:spAutoFit/>
          </a:bodyPr>
          <a:lstStyle/>
          <a:p>
            <a:r>
              <a:rPr lang="en-GB" b="1" dirty="0"/>
              <a:t>OMIM</a:t>
            </a:r>
          </a:p>
        </p:txBody>
      </p:sp>
      <p:pic>
        <p:nvPicPr>
          <p:cNvPr id="14" name="Imagem 13">
            <a:extLst>
              <a:ext uri="{FF2B5EF4-FFF2-40B4-BE49-F238E27FC236}">
                <a16:creationId xmlns:a16="http://schemas.microsoft.com/office/drawing/2014/main" id="{740F7B54-BB42-1B16-4ABD-A4817FF7D2E1}"/>
              </a:ext>
            </a:extLst>
          </p:cNvPr>
          <p:cNvPicPr>
            <a:picLocks noChangeAspect="1"/>
          </p:cNvPicPr>
          <p:nvPr/>
        </p:nvPicPr>
        <p:blipFill>
          <a:blip r:embed="rId3"/>
          <a:stretch>
            <a:fillRect/>
          </a:stretch>
        </p:blipFill>
        <p:spPr>
          <a:xfrm>
            <a:off x="136186" y="3112345"/>
            <a:ext cx="7147151" cy="1244868"/>
          </a:xfrm>
          <a:prstGeom prst="rect">
            <a:avLst/>
          </a:prstGeom>
        </p:spPr>
      </p:pic>
      <p:sp>
        <p:nvSpPr>
          <p:cNvPr id="15" name="CaixaDeTexto 14">
            <a:extLst>
              <a:ext uri="{FF2B5EF4-FFF2-40B4-BE49-F238E27FC236}">
                <a16:creationId xmlns:a16="http://schemas.microsoft.com/office/drawing/2014/main" id="{A78FDD4D-97D6-7916-A19C-D14F72B01973}"/>
              </a:ext>
            </a:extLst>
          </p:cNvPr>
          <p:cNvSpPr txBox="1"/>
          <p:nvPr/>
        </p:nvSpPr>
        <p:spPr>
          <a:xfrm>
            <a:off x="103760" y="2777247"/>
            <a:ext cx="1624519" cy="369332"/>
          </a:xfrm>
          <a:prstGeom prst="rect">
            <a:avLst/>
          </a:prstGeom>
          <a:noFill/>
        </p:spPr>
        <p:txBody>
          <a:bodyPr wrap="square" rtlCol="0">
            <a:spAutoFit/>
          </a:bodyPr>
          <a:lstStyle/>
          <a:p>
            <a:r>
              <a:rPr lang="en-GB" b="1" dirty="0" err="1"/>
              <a:t>ClinGen</a:t>
            </a:r>
            <a:endParaRPr lang="en-GB" b="1" dirty="0"/>
          </a:p>
        </p:txBody>
      </p:sp>
      <p:pic>
        <p:nvPicPr>
          <p:cNvPr id="17" name="Imagem 16">
            <a:extLst>
              <a:ext uri="{FF2B5EF4-FFF2-40B4-BE49-F238E27FC236}">
                <a16:creationId xmlns:a16="http://schemas.microsoft.com/office/drawing/2014/main" id="{4C18B9B9-A532-5C8C-909C-7C94990E5483}"/>
              </a:ext>
            </a:extLst>
          </p:cNvPr>
          <p:cNvPicPr>
            <a:picLocks noChangeAspect="1"/>
          </p:cNvPicPr>
          <p:nvPr/>
        </p:nvPicPr>
        <p:blipFill>
          <a:blip r:embed="rId4"/>
          <a:srcRect l="2595" t="8749" r="22202" b="4861"/>
          <a:stretch/>
        </p:blipFill>
        <p:spPr>
          <a:xfrm>
            <a:off x="7434200" y="3054484"/>
            <a:ext cx="4472456" cy="3093396"/>
          </a:xfrm>
          <a:prstGeom prst="rect">
            <a:avLst/>
          </a:prstGeom>
        </p:spPr>
      </p:pic>
      <p:sp>
        <p:nvSpPr>
          <p:cNvPr id="18" name="CaixaDeTexto 17">
            <a:extLst>
              <a:ext uri="{FF2B5EF4-FFF2-40B4-BE49-F238E27FC236}">
                <a16:creationId xmlns:a16="http://schemas.microsoft.com/office/drawing/2014/main" id="{33CCC4DC-B22B-4CE2-4FF9-0E571F8C5ABC}"/>
              </a:ext>
            </a:extLst>
          </p:cNvPr>
          <p:cNvSpPr txBox="1"/>
          <p:nvPr/>
        </p:nvSpPr>
        <p:spPr>
          <a:xfrm>
            <a:off x="8738679" y="2676727"/>
            <a:ext cx="1624519" cy="369332"/>
          </a:xfrm>
          <a:prstGeom prst="rect">
            <a:avLst/>
          </a:prstGeom>
          <a:noFill/>
        </p:spPr>
        <p:txBody>
          <a:bodyPr wrap="square" rtlCol="0">
            <a:spAutoFit/>
          </a:bodyPr>
          <a:lstStyle/>
          <a:p>
            <a:r>
              <a:rPr lang="en-GB" b="1" dirty="0" err="1"/>
              <a:t>Orphanet</a:t>
            </a:r>
            <a:endParaRPr lang="en-GB" b="1" dirty="0"/>
          </a:p>
        </p:txBody>
      </p:sp>
      <p:pic>
        <p:nvPicPr>
          <p:cNvPr id="20" name="Imagem 19">
            <a:extLst>
              <a:ext uri="{FF2B5EF4-FFF2-40B4-BE49-F238E27FC236}">
                <a16:creationId xmlns:a16="http://schemas.microsoft.com/office/drawing/2014/main" id="{6FD54C34-0739-5D36-F15F-93A50102C93B}"/>
              </a:ext>
            </a:extLst>
          </p:cNvPr>
          <p:cNvPicPr>
            <a:picLocks noChangeAspect="1"/>
          </p:cNvPicPr>
          <p:nvPr/>
        </p:nvPicPr>
        <p:blipFill>
          <a:blip r:embed="rId5"/>
          <a:stretch>
            <a:fillRect/>
          </a:stretch>
        </p:blipFill>
        <p:spPr>
          <a:xfrm>
            <a:off x="82470" y="4887552"/>
            <a:ext cx="7232730" cy="812076"/>
          </a:xfrm>
          <a:prstGeom prst="rect">
            <a:avLst/>
          </a:prstGeom>
        </p:spPr>
      </p:pic>
      <p:sp>
        <p:nvSpPr>
          <p:cNvPr id="21" name="CaixaDeTexto 20">
            <a:extLst>
              <a:ext uri="{FF2B5EF4-FFF2-40B4-BE49-F238E27FC236}">
                <a16:creationId xmlns:a16="http://schemas.microsoft.com/office/drawing/2014/main" id="{04FE4B84-E48C-65D1-2FA2-CCB7D697F60D}"/>
              </a:ext>
            </a:extLst>
          </p:cNvPr>
          <p:cNvSpPr txBox="1"/>
          <p:nvPr/>
        </p:nvSpPr>
        <p:spPr>
          <a:xfrm>
            <a:off x="139428" y="4534712"/>
            <a:ext cx="2039568" cy="369332"/>
          </a:xfrm>
          <a:prstGeom prst="rect">
            <a:avLst/>
          </a:prstGeom>
          <a:noFill/>
        </p:spPr>
        <p:txBody>
          <a:bodyPr wrap="square" rtlCol="0">
            <a:spAutoFit/>
          </a:bodyPr>
          <a:lstStyle/>
          <a:p>
            <a:r>
              <a:rPr lang="en-GB" b="1" dirty="0"/>
              <a:t>Gene2Phenotype</a:t>
            </a:r>
          </a:p>
        </p:txBody>
      </p:sp>
    </p:spTree>
    <p:extLst>
      <p:ext uri="{BB962C8B-B14F-4D97-AF65-F5344CB8AC3E}">
        <p14:creationId xmlns:p14="http://schemas.microsoft.com/office/powerpoint/2010/main" val="3577151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44273-4B3D-288A-09A0-291EBD4671C7}"/>
              </a:ext>
            </a:extLst>
          </p:cNvPr>
          <p:cNvSpPr>
            <a:spLocks noGrp="1"/>
          </p:cNvSpPr>
          <p:nvPr>
            <p:ph type="title"/>
          </p:nvPr>
        </p:nvSpPr>
        <p:spPr>
          <a:xfrm>
            <a:off x="0" y="-130985"/>
            <a:ext cx="10515600" cy="1325563"/>
          </a:xfrm>
        </p:spPr>
        <p:txBody>
          <a:bodyPr/>
          <a:lstStyle/>
          <a:p>
            <a:r>
              <a:rPr lang="en-GB" dirty="0" err="1"/>
              <a:t>Exercicio</a:t>
            </a:r>
            <a:r>
              <a:rPr lang="en-GB" dirty="0"/>
              <a:t> – </a:t>
            </a:r>
            <a:r>
              <a:rPr lang="en-GB" dirty="0" err="1"/>
              <a:t>Solução</a:t>
            </a:r>
            <a:r>
              <a:rPr lang="en-GB" dirty="0"/>
              <a:t> 1</a:t>
            </a:r>
          </a:p>
        </p:txBody>
      </p:sp>
      <p:sp>
        <p:nvSpPr>
          <p:cNvPr id="3" name="CaixaDeTexto 2">
            <a:extLst>
              <a:ext uri="{FF2B5EF4-FFF2-40B4-BE49-F238E27FC236}">
                <a16:creationId xmlns:a16="http://schemas.microsoft.com/office/drawing/2014/main" id="{DEB3C973-9D03-5D74-2B1B-FCE9DB414D96}"/>
              </a:ext>
            </a:extLst>
          </p:cNvPr>
          <p:cNvSpPr txBox="1"/>
          <p:nvPr/>
        </p:nvSpPr>
        <p:spPr>
          <a:xfrm>
            <a:off x="82500" y="909927"/>
            <a:ext cx="10912998" cy="369332"/>
          </a:xfrm>
          <a:prstGeom prst="rect">
            <a:avLst/>
          </a:prstGeom>
          <a:noFill/>
        </p:spPr>
        <p:txBody>
          <a:bodyPr wrap="square" rtlCol="0">
            <a:spAutoFit/>
          </a:bodyPr>
          <a:lstStyle/>
          <a:p>
            <a:r>
              <a:rPr lang="en-GB" dirty="0"/>
              <a:t>- </a:t>
            </a:r>
            <a:r>
              <a:rPr lang="en-GB" dirty="0" err="1"/>
              <a:t>Associado</a:t>
            </a:r>
            <a:r>
              <a:rPr lang="en-GB" dirty="0"/>
              <a:t> a:</a:t>
            </a:r>
          </a:p>
        </p:txBody>
      </p:sp>
      <p:sp>
        <p:nvSpPr>
          <p:cNvPr id="7" name="CaixaDeTexto 6">
            <a:extLst>
              <a:ext uri="{FF2B5EF4-FFF2-40B4-BE49-F238E27FC236}">
                <a16:creationId xmlns:a16="http://schemas.microsoft.com/office/drawing/2014/main" id="{686D7399-2639-B80E-6AC4-11B302E977DA}"/>
              </a:ext>
            </a:extLst>
          </p:cNvPr>
          <p:cNvSpPr txBox="1"/>
          <p:nvPr/>
        </p:nvSpPr>
        <p:spPr>
          <a:xfrm>
            <a:off x="8264809" y="421860"/>
            <a:ext cx="6094378" cy="707886"/>
          </a:xfrm>
          <a:prstGeom prst="rect">
            <a:avLst/>
          </a:prstGeom>
          <a:noFill/>
        </p:spPr>
        <p:txBody>
          <a:bodyPr wrap="square">
            <a:spAutoFit/>
          </a:bodyPr>
          <a:lstStyle/>
          <a:p>
            <a:pPr marL="342900" indent="-342900">
              <a:buAutoNum type="arabicParenR"/>
            </a:pPr>
            <a:r>
              <a:rPr lang="en-GB" sz="2000" dirty="0">
                <a:solidFill>
                  <a:srgbClr val="0070C0"/>
                </a:solidFill>
              </a:rPr>
              <a:t>NM_007294.4:c.68_69delAG</a:t>
            </a:r>
          </a:p>
          <a:p>
            <a:r>
              <a:rPr lang="en-GB" sz="2000" dirty="0">
                <a:solidFill>
                  <a:srgbClr val="0070C0"/>
                </a:solidFill>
              </a:rPr>
              <a:t>       p.Glu23ValfsTer17</a:t>
            </a:r>
          </a:p>
        </p:txBody>
      </p:sp>
      <p:sp>
        <p:nvSpPr>
          <p:cNvPr id="12" name="CaixaDeTexto 11">
            <a:extLst>
              <a:ext uri="{FF2B5EF4-FFF2-40B4-BE49-F238E27FC236}">
                <a16:creationId xmlns:a16="http://schemas.microsoft.com/office/drawing/2014/main" id="{09009628-B646-ED22-6123-F58A7BCC4E6B}"/>
              </a:ext>
            </a:extLst>
          </p:cNvPr>
          <p:cNvSpPr txBox="1"/>
          <p:nvPr/>
        </p:nvSpPr>
        <p:spPr>
          <a:xfrm>
            <a:off x="4873556" y="904673"/>
            <a:ext cx="1624519" cy="369332"/>
          </a:xfrm>
          <a:prstGeom prst="rect">
            <a:avLst/>
          </a:prstGeom>
          <a:noFill/>
        </p:spPr>
        <p:txBody>
          <a:bodyPr wrap="square" rtlCol="0">
            <a:spAutoFit/>
          </a:bodyPr>
          <a:lstStyle/>
          <a:p>
            <a:r>
              <a:rPr lang="en-GB" b="1" dirty="0" err="1"/>
              <a:t>GenCC</a:t>
            </a:r>
            <a:endParaRPr lang="en-GB" b="1" dirty="0"/>
          </a:p>
        </p:txBody>
      </p:sp>
      <p:pic>
        <p:nvPicPr>
          <p:cNvPr id="6" name="Imagem 5">
            <a:extLst>
              <a:ext uri="{FF2B5EF4-FFF2-40B4-BE49-F238E27FC236}">
                <a16:creationId xmlns:a16="http://schemas.microsoft.com/office/drawing/2014/main" id="{1E368B1C-536A-0195-DB5D-9ABED467464C}"/>
              </a:ext>
            </a:extLst>
          </p:cNvPr>
          <p:cNvPicPr>
            <a:picLocks noChangeAspect="1"/>
          </p:cNvPicPr>
          <p:nvPr/>
        </p:nvPicPr>
        <p:blipFill>
          <a:blip r:embed="rId2"/>
          <a:stretch>
            <a:fillRect/>
          </a:stretch>
        </p:blipFill>
        <p:spPr>
          <a:xfrm>
            <a:off x="1361872" y="1483214"/>
            <a:ext cx="8005864" cy="2553366"/>
          </a:xfrm>
          <a:prstGeom prst="rect">
            <a:avLst/>
          </a:prstGeom>
        </p:spPr>
      </p:pic>
      <p:pic>
        <p:nvPicPr>
          <p:cNvPr id="10" name="Imagem 9">
            <a:extLst>
              <a:ext uri="{FF2B5EF4-FFF2-40B4-BE49-F238E27FC236}">
                <a16:creationId xmlns:a16="http://schemas.microsoft.com/office/drawing/2014/main" id="{7C5FE2A9-4D73-E988-957B-F0867F43B1E4}"/>
              </a:ext>
            </a:extLst>
          </p:cNvPr>
          <p:cNvPicPr>
            <a:picLocks noChangeAspect="1"/>
          </p:cNvPicPr>
          <p:nvPr/>
        </p:nvPicPr>
        <p:blipFill>
          <a:blip r:embed="rId3"/>
          <a:stretch>
            <a:fillRect/>
          </a:stretch>
        </p:blipFill>
        <p:spPr>
          <a:xfrm>
            <a:off x="1025244" y="4208564"/>
            <a:ext cx="8624114" cy="2026866"/>
          </a:xfrm>
          <a:prstGeom prst="rect">
            <a:avLst/>
          </a:prstGeom>
        </p:spPr>
      </p:pic>
      <p:sp>
        <p:nvSpPr>
          <p:cNvPr id="11" name="Marcador de Posição do Número do Diapositivo 3">
            <a:extLst>
              <a:ext uri="{FF2B5EF4-FFF2-40B4-BE49-F238E27FC236}">
                <a16:creationId xmlns:a16="http://schemas.microsoft.com/office/drawing/2014/main" id="{D38F79AE-6D37-9AB2-7286-5533E47E6423}"/>
              </a:ext>
            </a:extLst>
          </p:cNvPr>
          <p:cNvSpPr>
            <a:spLocks noGrp="1"/>
          </p:cNvSpPr>
          <p:nvPr>
            <p:ph type="sldNum" sz="quarter" idx="12"/>
          </p:nvPr>
        </p:nvSpPr>
        <p:spPr>
          <a:xfrm>
            <a:off x="8610600" y="6356350"/>
            <a:ext cx="2743200" cy="365125"/>
          </a:xfrm>
        </p:spPr>
        <p:txBody>
          <a:bodyPr/>
          <a:lstStyle/>
          <a:p>
            <a:fld id="{6D49FC33-1B8E-4C1B-8D07-84B8EBAC733E}" type="slidenum">
              <a:rPr lang="en-GB" smtClean="0"/>
              <a:t>15</a:t>
            </a:fld>
            <a:endParaRPr lang="en-GB"/>
          </a:p>
        </p:txBody>
      </p:sp>
    </p:spTree>
    <p:extLst>
      <p:ext uri="{BB962C8B-B14F-4D97-AF65-F5344CB8AC3E}">
        <p14:creationId xmlns:p14="http://schemas.microsoft.com/office/powerpoint/2010/main" val="3446591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44273-4B3D-288A-09A0-291EBD4671C7}"/>
              </a:ext>
            </a:extLst>
          </p:cNvPr>
          <p:cNvSpPr>
            <a:spLocks noGrp="1"/>
          </p:cNvSpPr>
          <p:nvPr>
            <p:ph type="title"/>
          </p:nvPr>
        </p:nvSpPr>
        <p:spPr>
          <a:xfrm>
            <a:off x="0" y="-130985"/>
            <a:ext cx="10515600" cy="1325563"/>
          </a:xfrm>
        </p:spPr>
        <p:txBody>
          <a:bodyPr/>
          <a:lstStyle/>
          <a:p>
            <a:r>
              <a:rPr lang="en-GB" dirty="0" err="1"/>
              <a:t>Exercicio</a:t>
            </a:r>
            <a:r>
              <a:rPr lang="en-GB" dirty="0"/>
              <a:t> – </a:t>
            </a:r>
            <a:r>
              <a:rPr lang="en-GB" dirty="0" err="1"/>
              <a:t>Solução</a:t>
            </a:r>
            <a:r>
              <a:rPr lang="en-GB" dirty="0"/>
              <a:t> 1</a:t>
            </a:r>
          </a:p>
        </p:txBody>
      </p:sp>
      <p:sp>
        <p:nvSpPr>
          <p:cNvPr id="3" name="CaixaDeTexto 2">
            <a:extLst>
              <a:ext uri="{FF2B5EF4-FFF2-40B4-BE49-F238E27FC236}">
                <a16:creationId xmlns:a16="http://schemas.microsoft.com/office/drawing/2014/main" id="{DEB3C973-9D03-5D74-2B1B-FCE9DB414D96}"/>
              </a:ext>
            </a:extLst>
          </p:cNvPr>
          <p:cNvSpPr txBox="1"/>
          <p:nvPr/>
        </p:nvSpPr>
        <p:spPr>
          <a:xfrm>
            <a:off x="82500" y="909927"/>
            <a:ext cx="10912998" cy="369332"/>
          </a:xfrm>
          <a:prstGeom prst="rect">
            <a:avLst/>
          </a:prstGeom>
          <a:noFill/>
        </p:spPr>
        <p:txBody>
          <a:bodyPr wrap="square" rtlCol="0">
            <a:spAutoFit/>
          </a:bodyPr>
          <a:lstStyle/>
          <a:p>
            <a:r>
              <a:rPr lang="en-GB" dirty="0"/>
              <a:t>- </a:t>
            </a:r>
            <a:r>
              <a:rPr lang="en-GB" dirty="0" err="1"/>
              <a:t>Associado</a:t>
            </a:r>
            <a:r>
              <a:rPr lang="en-GB" dirty="0"/>
              <a:t> a:</a:t>
            </a:r>
          </a:p>
        </p:txBody>
      </p:sp>
      <p:sp>
        <p:nvSpPr>
          <p:cNvPr id="7" name="CaixaDeTexto 6">
            <a:extLst>
              <a:ext uri="{FF2B5EF4-FFF2-40B4-BE49-F238E27FC236}">
                <a16:creationId xmlns:a16="http://schemas.microsoft.com/office/drawing/2014/main" id="{686D7399-2639-B80E-6AC4-11B302E977DA}"/>
              </a:ext>
            </a:extLst>
          </p:cNvPr>
          <p:cNvSpPr txBox="1"/>
          <p:nvPr/>
        </p:nvSpPr>
        <p:spPr>
          <a:xfrm>
            <a:off x="8264809" y="421860"/>
            <a:ext cx="6094378" cy="707886"/>
          </a:xfrm>
          <a:prstGeom prst="rect">
            <a:avLst/>
          </a:prstGeom>
          <a:noFill/>
        </p:spPr>
        <p:txBody>
          <a:bodyPr wrap="square">
            <a:spAutoFit/>
          </a:bodyPr>
          <a:lstStyle/>
          <a:p>
            <a:pPr marL="342900" indent="-342900">
              <a:buAutoNum type="arabicParenR"/>
            </a:pPr>
            <a:r>
              <a:rPr lang="en-GB" sz="2000" dirty="0">
                <a:solidFill>
                  <a:srgbClr val="0070C0"/>
                </a:solidFill>
              </a:rPr>
              <a:t>NM_007294.4:c.68_69delAG</a:t>
            </a:r>
          </a:p>
          <a:p>
            <a:r>
              <a:rPr lang="en-GB" sz="2000" dirty="0">
                <a:solidFill>
                  <a:srgbClr val="0070C0"/>
                </a:solidFill>
              </a:rPr>
              <a:t>       p.Glu23ValfsTer17</a:t>
            </a:r>
          </a:p>
        </p:txBody>
      </p:sp>
      <p:sp>
        <p:nvSpPr>
          <p:cNvPr id="12" name="CaixaDeTexto 11">
            <a:extLst>
              <a:ext uri="{FF2B5EF4-FFF2-40B4-BE49-F238E27FC236}">
                <a16:creationId xmlns:a16="http://schemas.microsoft.com/office/drawing/2014/main" id="{09009628-B646-ED22-6123-F58A7BCC4E6B}"/>
              </a:ext>
            </a:extLst>
          </p:cNvPr>
          <p:cNvSpPr txBox="1"/>
          <p:nvPr/>
        </p:nvSpPr>
        <p:spPr>
          <a:xfrm>
            <a:off x="4873556" y="904673"/>
            <a:ext cx="1624519" cy="369332"/>
          </a:xfrm>
          <a:prstGeom prst="rect">
            <a:avLst/>
          </a:prstGeom>
          <a:noFill/>
        </p:spPr>
        <p:txBody>
          <a:bodyPr wrap="square" rtlCol="0">
            <a:spAutoFit/>
          </a:bodyPr>
          <a:lstStyle/>
          <a:p>
            <a:r>
              <a:rPr lang="en-GB" b="1" dirty="0" err="1"/>
              <a:t>GenCC</a:t>
            </a:r>
            <a:endParaRPr lang="en-GB" b="1" dirty="0"/>
          </a:p>
        </p:txBody>
      </p:sp>
      <p:pic>
        <p:nvPicPr>
          <p:cNvPr id="5" name="Imagem 4">
            <a:extLst>
              <a:ext uri="{FF2B5EF4-FFF2-40B4-BE49-F238E27FC236}">
                <a16:creationId xmlns:a16="http://schemas.microsoft.com/office/drawing/2014/main" id="{B4936D57-EC16-45FA-AE97-1761EC5234AA}"/>
              </a:ext>
            </a:extLst>
          </p:cNvPr>
          <p:cNvPicPr>
            <a:picLocks noChangeAspect="1"/>
          </p:cNvPicPr>
          <p:nvPr/>
        </p:nvPicPr>
        <p:blipFill>
          <a:blip r:embed="rId2"/>
          <a:stretch>
            <a:fillRect/>
          </a:stretch>
        </p:blipFill>
        <p:spPr>
          <a:xfrm>
            <a:off x="773198" y="1740831"/>
            <a:ext cx="10879068" cy="4563112"/>
          </a:xfrm>
          <a:prstGeom prst="rect">
            <a:avLst/>
          </a:prstGeom>
        </p:spPr>
      </p:pic>
      <p:sp>
        <p:nvSpPr>
          <p:cNvPr id="8" name="Marcador de Posição do Número do Diapositivo 3">
            <a:extLst>
              <a:ext uri="{FF2B5EF4-FFF2-40B4-BE49-F238E27FC236}">
                <a16:creationId xmlns:a16="http://schemas.microsoft.com/office/drawing/2014/main" id="{0FF7D154-0478-1339-5FC2-9AAEF9044FC7}"/>
              </a:ext>
            </a:extLst>
          </p:cNvPr>
          <p:cNvSpPr>
            <a:spLocks noGrp="1"/>
          </p:cNvSpPr>
          <p:nvPr>
            <p:ph type="sldNum" sz="quarter" idx="12"/>
          </p:nvPr>
        </p:nvSpPr>
        <p:spPr>
          <a:xfrm>
            <a:off x="8610600" y="6356350"/>
            <a:ext cx="2743200" cy="365125"/>
          </a:xfrm>
        </p:spPr>
        <p:txBody>
          <a:bodyPr/>
          <a:lstStyle/>
          <a:p>
            <a:fld id="{6D49FC33-1B8E-4C1B-8D07-84B8EBAC733E}" type="slidenum">
              <a:rPr lang="en-GB" smtClean="0"/>
              <a:t>16</a:t>
            </a:fld>
            <a:endParaRPr lang="en-GB"/>
          </a:p>
        </p:txBody>
      </p:sp>
    </p:spTree>
    <p:extLst>
      <p:ext uri="{BB962C8B-B14F-4D97-AF65-F5344CB8AC3E}">
        <p14:creationId xmlns:p14="http://schemas.microsoft.com/office/powerpoint/2010/main" val="4116573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44273-4B3D-288A-09A0-291EBD4671C7}"/>
              </a:ext>
            </a:extLst>
          </p:cNvPr>
          <p:cNvSpPr>
            <a:spLocks noGrp="1"/>
          </p:cNvSpPr>
          <p:nvPr>
            <p:ph type="title"/>
          </p:nvPr>
        </p:nvSpPr>
        <p:spPr>
          <a:xfrm>
            <a:off x="0" y="-130985"/>
            <a:ext cx="10515600" cy="1325563"/>
          </a:xfrm>
        </p:spPr>
        <p:txBody>
          <a:bodyPr/>
          <a:lstStyle/>
          <a:p>
            <a:r>
              <a:rPr lang="en-GB" dirty="0" err="1"/>
              <a:t>Exercicio</a:t>
            </a:r>
            <a:r>
              <a:rPr lang="en-GB" dirty="0"/>
              <a:t> – </a:t>
            </a:r>
            <a:r>
              <a:rPr lang="en-GB" dirty="0" err="1"/>
              <a:t>Solução</a:t>
            </a:r>
            <a:r>
              <a:rPr lang="en-GB" dirty="0"/>
              <a:t> 2</a:t>
            </a:r>
          </a:p>
        </p:txBody>
      </p:sp>
      <p:sp>
        <p:nvSpPr>
          <p:cNvPr id="4" name="Marcador de Posição do Número do Diapositivo 3">
            <a:extLst>
              <a:ext uri="{FF2B5EF4-FFF2-40B4-BE49-F238E27FC236}">
                <a16:creationId xmlns:a16="http://schemas.microsoft.com/office/drawing/2014/main" id="{6CAEA832-B673-89C4-CDA8-5630B8ACAB0F}"/>
              </a:ext>
            </a:extLst>
          </p:cNvPr>
          <p:cNvSpPr>
            <a:spLocks noGrp="1"/>
          </p:cNvSpPr>
          <p:nvPr>
            <p:ph type="sldNum" sz="quarter" idx="12"/>
          </p:nvPr>
        </p:nvSpPr>
        <p:spPr/>
        <p:txBody>
          <a:bodyPr/>
          <a:lstStyle/>
          <a:p>
            <a:fld id="{6D49FC33-1B8E-4C1B-8D07-84B8EBAC733E}" type="slidenum">
              <a:rPr lang="en-GB" smtClean="0"/>
              <a:t>17</a:t>
            </a:fld>
            <a:endParaRPr lang="en-GB"/>
          </a:p>
        </p:txBody>
      </p:sp>
      <p:sp>
        <p:nvSpPr>
          <p:cNvPr id="3" name="CaixaDeTexto 2">
            <a:extLst>
              <a:ext uri="{FF2B5EF4-FFF2-40B4-BE49-F238E27FC236}">
                <a16:creationId xmlns:a16="http://schemas.microsoft.com/office/drawing/2014/main" id="{DEB3C973-9D03-5D74-2B1B-FCE9DB414D96}"/>
              </a:ext>
            </a:extLst>
          </p:cNvPr>
          <p:cNvSpPr txBox="1"/>
          <p:nvPr/>
        </p:nvSpPr>
        <p:spPr>
          <a:xfrm>
            <a:off x="150593" y="900199"/>
            <a:ext cx="8249336" cy="1477328"/>
          </a:xfrm>
          <a:prstGeom prst="rect">
            <a:avLst/>
          </a:prstGeom>
          <a:noFill/>
        </p:spPr>
        <p:txBody>
          <a:bodyPr wrap="square" rtlCol="0">
            <a:spAutoFit/>
          </a:bodyPr>
          <a:lstStyle/>
          <a:p>
            <a:r>
              <a:rPr lang="en-GB" dirty="0"/>
              <a:t>- </a:t>
            </a:r>
            <a:r>
              <a:rPr lang="en-GB" dirty="0" err="1"/>
              <a:t>Nomenclatura</a:t>
            </a:r>
            <a:r>
              <a:rPr lang="en-GB" dirty="0"/>
              <a:t>:  NM_000277.3:c.1222C&gt;T</a:t>
            </a:r>
            <a:br>
              <a:rPr lang="en-GB" dirty="0"/>
            </a:br>
            <a:r>
              <a:rPr lang="en-GB" dirty="0"/>
              <a:t>	                 </a:t>
            </a:r>
            <a:r>
              <a:rPr lang="pt-PT" b="0" i="0" dirty="0">
                <a:solidFill>
                  <a:srgbClr val="212529"/>
                </a:solidFill>
                <a:effectLst/>
                <a:latin typeface="-apple-system"/>
              </a:rPr>
              <a:t>NC_000012.12:g.102840493G&gt;A ou [Hg38]chr12:102840493G&gt;A</a:t>
            </a:r>
            <a:endParaRPr lang="en-GB" dirty="0"/>
          </a:p>
          <a:p>
            <a:endParaRPr lang="en-GB" dirty="0"/>
          </a:p>
          <a:p>
            <a:r>
              <a:rPr lang="en-GB" dirty="0"/>
              <a:t>- </a:t>
            </a:r>
            <a:r>
              <a:rPr lang="en-GB" dirty="0" err="1"/>
              <a:t>Mutação</a:t>
            </a:r>
            <a:r>
              <a:rPr lang="en-GB" dirty="0"/>
              <a:t> missense, no </a:t>
            </a:r>
            <a:r>
              <a:rPr lang="en-GB" dirty="0" err="1"/>
              <a:t>exão</a:t>
            </a:r>
            <a:r>
              <a:rPr lang="en-GB" dirty="0"/>
              <a:t> 12 do gene PAH</a:t>
            </a:r>
          </a:p>
          <a:p>
            <a:endParaRPr lang="en-GB" dirty="0"/>
          </a:p>
        </p:txBody>
      </p:sp>
      <p:sp>
        <p:nvSpPr>
          <p:cNvPr id="7" name="CaixaDeTexto 6">
            <a:extLst>
              <a:ext uri="{FF2B5EF4-FFF2-40B4-BE49-F238E27FC236}">
                <a16:creationId xmlns:a16="http://schemas.microsoft.com/office/drawing/2014/main" id="{686D7399-2639-B80E-6AC4-11B302E977DA}"/>
              </a:ext>
            </a:extLst>
          </p:cNvPr>
          <p:cNvSpPr txBox="1"/>
          <p:nvPr/>
        </p:nvSpPr>
        <p:spPr>
          <a:xfrm>
            <a:off x="6192818" y="81392"/>
            <a:ext cx="6094378" cy="707886"/>
          </a:xfrm>
          <a:prstGeom prst="rect">
            <a:avLst/>
          </a:prstGeom>
          <a:noFill/>
        </p:spPr>
        <p:txBody>
          <a:bodyPr wrap="square">
            <a:spAutoFit/>
          </a:bodyPr>
          <a:lstStyle/>
          <a:p>
            <a:r>
              <a:rPr lang="en-GB" sz="2000" dirty="0">
                <a:solidFill>
                  <a:srgbClr val="0070C0"/>
                </a:solidFill>
              </a:rPr>
              <a:t>2) </a:t>
            </a:r>
            <a:r>
              <a:rPr lang="de-DE" sz="2000" dirty="0">
                <a:solidFill>
                  <a:srgbClr val="0070C0"/>
                </a:solidFill>
              </a:rPr>
              <a:t>NM_000277.3:c.1222C&gt;T</a:t>
            </a:r>
            <a:br>
              <a:rPr lang="de-DE" sz="2000" dirty="0">
                <a:solidFill>
                  <a:srgbClr val="0070C0"/>
                </a:solidFill>
              </a:rPr>
            </a:br>
            <a:r>
              <a:rPr lang="de-DE" sz="2000" dirty="0">
                <a:solidFill>
                  <a:srgbClr val="0070C0"/>
                </a:solidFill>
              </a:rPr>
              <a:t>     p.Arg408Trp</a:t>
            </a:r>
            <a:endParaRPr lang="en-GB" sz="2000" dirty="0">
              <a:solidFill>
                <a:srgbClr val="0070C0"/>
              </a:solidFill>
            </a:endParaRPr>
          </a:p>
        </p:txBody>
      </p:sp>
      <p:sp>
        <p:nvSpPr>
          <p:cNvPr id="13" name="CaixaDeTexto 12">
            <a:extLst>
              <a:ext uri="{FF2B5EF4-FFF2-40B4-BE49-F238E27FC236}">
                <a16:creationId xmlns:a16="http://schemas.microsoft.com/office/drawing/2014/main" id="{E49CD926-55C5-A80D-DC58-A8AD37C6DD05}"/>
              </a:ext>
            </a:extLst>
          </p:cNvPr>
          <p:cNvSpPr txBox="1"/>
          <p:nvPr/>
        </p:nvSpPr>
        <p:spPr>
          <a:xfrm>
            <a:off x="544749" y="2371396"/>
            <a:ext cx="6332706" cy="369332"/>
          </a:xfrm>
          <a:prstGeom prst="rect">
            <a:avLst/>
          </a:prstGeom>
          <a:noFill/>
        </p:spPr>
        <p:txBody>
          <a:bodyPr wrap="square">
            <a:spAutoFit/>
          </a:bodyPr>
          <a:lstStyle/>
          <a:p>
            <a:r>
              <a:rPr lang="en-GB" dirty="0"/>
              <a:t>- Com </a:t>
            </a:r>
            <a:r>
              <a:rPr lang="en-GB" dirty="0" err="1"/>
              <a:t>sobreposição</a:t>
            </a:r>
            <a:r>
              <a:rPr lang="en-GB" dirty="0"/>
              <a:t> </a:t>
            </a:r>
            <a:r>
              <a:rPr lang="en-GB" dirty="0" err="1"/>
              <a:t>em</a:t>
            </a:r>
            <a:r>
              <a:rPr lang="en-GB" dirty="0"/>
              <a:t> bases de </a:t>
            </a:r>
            <a:r>
              <a:rPr lang="en-GB" dirty="0" err="1"/>
              <a:t>dades</a:t>
            </a:r>
            <a:r>
              <a:rPr lang="en-GB" dirty="0"/>
              <a:t> </a:t>
            </a:r>
            <a:r>
              <a:rPr lang="en-GB" dirty="0" err="1"/>
              <a:t>patogénicas</a:t>
            </a:r>
            <a:endParaRPr lang="en-GB" dirty="0"/>
          </a:p>
        </p:txBody>
      </p:sp>
      <p:pic>
        <p:nvPicPr>
          <p:cNvPr id="12" name="Imagem 11">
            <a:extLst>
              <a:ext uri="{FF2B5EF4-FFF2-40B4-BE49-F238E27FC236}">
                <a16:creationId xmlns:a16="http://schemas.microsoft.com/office/drawing/2014/main" id="{DF20C0EC-90E2-1C61-DE22-B322B7DE4719}"/>
              </a:ext>
            </a:extLst>
          </p:cNvPr>
          <p:cNvPicPr>
            <a:picLocks noChangeAspect="1"/>
          </p:cNvPicPr>
          <p:nvPr/>
        </p:nvPicPr>
        <p:blipFill>
          <a:blip r:embed="rId2"/>
          <a:stretch>
            <a:fillRect/>
          </a:stretch>
        </p:blipFill>
        <p:spPr>
          <a:xfrm>
            <a:off x="8069459" y="1163587"/>
            <a:ext cx="3915321" cy="1695687"/>
          </a:xfrm>
          <a:prstGeom prst="rect">
            <a:avLst/>
          </a:prstGeom>
        </p:spPr>
      </p:pic>
      <p:pic>
        <p:nvPicPr>
          <p:cNvPr id="15" name="Imagem 14">
            <a:extLst>
              <a:ext uri="{FF2B5EF4-FFF2-40B4-BE49-F238E27FC236}">
                <a16:creationId xmlns:a16="http://schemas.microsoft.com/office/drawing/2014/main" id="{D993C005-9DD2-50CC-7CB0-18385C40C77D}"/>
              </a:ext>
            </a:extLst>
          </p:cNvPr>
          <p:cNvPicPr>
            <a:picLocks noChangeAspect="1"/>
          </p:cNvPicPr>
          <p:nvPr/>
        </p:nvPicPr>
        <p:blipFill>
          <a:blip r:embed="rId3"/>
          <a:stretch>
            <a:fillRect/>
          </a:stretch>
        </p:blipFill>
        <p:spPr>
          <a:xfrm>
            <a:off x="721932" y="3021618"/>
            <a:ext cx="8685478" cy="3362368"/>
          </a:xfrm>
          <a:prstGeom prst="rect">
            <a:avLst/>
          </a:prstGeom>
        </p:spPr>
      </p:pic>
    </p:spTree>
    <p:extLst>
      <p:ext uri="{BB962C8B-B14F-4D97-AF65-F5344CB8AC3E}">
        <p14:creationId xmlns:p14="http://schemas.microsoft.com/office/powerpoint/2010/main" val="366541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44273-4B3D-288A-09A0-291EBD4671C7}"/>
              </a:ext>
            </a:extLst>
          </p:cNvPr>
          <p:cNvSpPr>
            <a:spLocks noGrp="1"/>
          </p:cNvSpPr>
          <p:nvPr>
            <p:ph type="title"/>
          </p:nvPr>
        </p:nvSpPr>
        <p:spPr>
          <a:xfrm>
            <a:off x="0" y="-130985"/>
            <a:ext cx="10515600" cy="1325563"/>
          </a:xfrm>
        </p:spPr>
        <p:txBody>
          <a:bodyPr/>
          <a:lstStyle/>
          <a:p>
            <a:r>
              <a:rPr lang="en-GB" dirty="0" err="1"/>
              <a:t>Exercicio</a:t>
            </a:r>
            <a:r>
              <a:rPr lang="en-GB" dirty="0"/>
              <a:t> – </a:t>
            </a:r>
            <a:r>
              <a:rPr lang="en-GB" dirty="0" err="1"/>
              <a:t>Solução</a:t>
            </a:r>
            <a:r>
              <a:rPr lang="en-GB" dirty="0"/>
              <a:t> 2</a:t>
            </a:r>
          </a:p>
        </p:txBody>
      </p:sp>
      <p:sp>
        <p:nvSpPr>
          <p:cNvPr id="4" name="Marcador de Posição do Número do Diapositivo 3">
            <a:extLst>
              <a:ext uri="{FF2B5EF4-FFF2-40B4-BE49-F238E27FC236}">
                <a16:creationId xmlns:a16="http://schemas.microsoft.com/office/drawing/2014/main" id="{6CAEA832-B673-89C4-CDA8-5630B8ACAB0F}"/>
              </a:ext>
            </a:extLst>
          </p:cNvPr>
          <p:cNvSpPr>
            <a:spLocks noGrp="1"/>
          </p:cNvSpPr>
          <p:nvPr>
            <p:ph type="sldNum" sz="quarter" idx="12"/>
          </p:nvPr>
        </p:nvSpPr>
        <p:spPr/>
        <p:txBody>
          <a:bodyPr/>
          <a:lstStyle/>
          <a:p>
            <a:fld id="{6D49FC33-1B8E-4C1B-8D07-84B8EBAC733E}" type="slidenum">
              <a:rPr lang="en-GB" smtClean="0"/>
              <a:t>18</a:t>
            </a:fld>
            <a:endParaRPr lang="en-GB"/>
          </a:p>
        </p:txBody>
      </p:sp>
      <p:sp>
        <p:nvSpPr>
          <p:cNvPr id="3" name="CaixaDeTexto 2">
            <a:extLst>
              <a:ext uri="{FF2B5EF4-FFF2-40B4-BE49-F238E27FC236}">
                <a16:creationId xmlns:a16="http://schemas.microsoft.com/office/drawing/2014/main" id="{DEB3C973-9D03-5D74-2B1B-FCE9DB414D96}"/>
              </a:ext>
            </a:extLst>
          </p:cNvPr>
          <p:cNvSpPr txBox="1"/>
          <p:nvPr/>
        </p:nvSpPr>
        <p:spPr>
          <a:xfrm>
            <a:off x="82500" y="909927"/>
            <a:ext cx="10912998" cy="369332"/>
          </a:xfrm>
          <a:prstGeom prst="rect">
            <a:avLst/>
          </a:prstGeom>
          <a:noFill/>
        </p:spPr>
        <p:txBody>
          <a:bodyPr wrap="square" rtlCol="0">
            <a:spAutoFit/>
          </a:bodyPr>
          <a:lstStyle/>
          <a:p>
            <a:r>
              <a:rPr lang="en-GB" dirty="0"/>
              <a:t>- </a:t>
            </a:r>
            <a:r>
              <a:rPr lang="en-GB" dirty="0" err="1"/>
              <a:t>Associado</a:t>
            </a:r>
            <a:r>
              <a:rPr lang="en-GB" dirty="0"/>
              <a:t> a:</a:t>
            </a:r>
          </a:p>
        </p:txBody>
      </p:sp>
      <p:sp>
        <p:nvSpPr>
          <p:cNvPr id="7" name="CaixaDeTexto 6">
            <a:extLst>
              <a:ext uri="{FF2B5EF4-FFF2-40B4-BE49-F238E27FC236}">
                <a16:creationId xmlns:a16="http://schemas.microsoft.com/office/drawing/2014/main" id="{686D7399-2639-B80E-6AC4-11B302E977DA}"/>
              </a:ext>
            </a:extLst>
          </p:cNvPr>
          <p:cNvSpPr txBox="1"/>
          <p:nvPr/>
        </p:nvSpPr>
        <p:spPr>
          <a:xfrm>
            <a:off x="8589523" y="91120"/>
            <a:ext cx="3376659" cy="707886"/>
          </a:xfrm>
          <a:prstGeom prst="rect">
            <a:avLst/>
          </a:prstGeom>
          <a:noFill/>
        </p:spPr>
        <p:txBody>
          <a:bodyPr wrap="square">
            <a:spAutoFit/>
          </a:bodyPr>
          <a:lstStyle/>
          <a:p>
            <a:r>
              <a:rPr lang="en-GB" sz="2000" dirty="0">
                <a:solidFill>
                  <a:srgbClr val="0070C0"/>
                </a:solidFill>
              </a:rPr>
              <a:t>2) </a:t>
            </a:r>
            <a:r>
              <a:rPr lang="de-DE" sz="2000" dirty="0">
                <a:solidFill>
                  <a:srgbClr val="0070C0"/>
                </a:solidFill>
              </a:rPr>
              <a:t>NM_000277.3:c.1222C&gt;T</a:t>
            </a:r>
            <a:br>
              <a:rPr lang="de-DE" sz="2000" dirty="0">
                <a:solidFill>
                  <a:srgbClr val="0070C0"/>
                </a:solidFill>
              </a:rPr>
            </a:br>
            <a:r>
              <a:rPr lang="de-DE" sz="2000" dirty="0">
                <a:solidFill>
                  <a:srgbClr val="0070C0"/>
                </a:solidFill>
              </a:rPr>
              <a:t>     p.Arg408Trp</a:t>
            </a:r>
            <a:endParaRPr lang="en-GB" sz="2000" dirty="0">
              <a:solidFill>
                <a:srgbClr val="0070C0"/>
              </a:solidFill>
            </a:endParaRPr>
          </a:p>
        </p:txBody>
      </p:sp>
      <p:sp>
        <p:nvSpPr>
          <p:cNvPr id="12" name="CaixaDeTexto 11">
            <a:extLst>
              <a:ext uri="{FF2B5EF4-FFF2-40B4-BE49-F238E27FC236}">
                <a16:creationId xmlns:a16="http://schemas.microsoft.com/office/drawing/2014/main" id="{09009628-B646-ED22-6123-F58A7BCC4E6B}"/>
              </a:ext>
            </a:extLst>
          </p:cNvPr>
          <p:cNvSpPr txBox="1"/>
          <p:nvPr/>
        </p:nvSpPr>
        <p:spPr>
          <a:xfrm>
            <a:off x="136186" y="1254869"/>
            <a:ext cx="1624519" cy="369332"/>
          </a:xfrm>
          <a:prstGeom prst="rect">
            <a:avLst/>
          </a:prstGeom>
          <a:noFill/>
        </p:spPr>
        <p:txBody>
          <a:bodyPr wrap="square" rtlCol="0">
            <a:spAutoFit/>
          </a:bodyPr>
          <a:lstStyle/>
          <a:p>
            <a:r>
              <a:rPr lang="en-GB" b="1" dirty="0"/>
              <a:t>OMIM</a:t>
            </a:r>
          </a:p>
        </p:txBody>
      </p:sp>
      <p:sp>
        <p:nvSpPr>
          <p:cNvPr id="15" name="CaixaDeTexto 14">
            <a:extLst>
              <a:ext uri="{FF2B5EF4-FFF2-40B4-BE49-F238E27FC236}">
                <a16:creationId xmlns:a16="http://schemas.microsoft.com/office/drawing/2014/main" id="{A78FDD4D-97D6-7916-A19C-D14F72B01973}"/>
              </a:ext>
            </a:extLst>
          </p:cNvPr>
          <p:cNvSpPr txBox="1"/>
          <p:nvPr/>
        </p:nvSpPr>
        <p:spPr>
          <a:xfrm>
            <a:off x="103760" y="2777247"/>
            <a:ext cx="1624519" cy="369332"/>
          </a:xfrm>
          <a:prstGeom prst="rect">
            <a:avLst/>
          </a:prstGeom>
          <a:noFill/>
        </p:spPr>
        <p:txBody>
          <a:bodyPr wrap="square" rtlCol="0">
            <a:spAutoFit/>
          </a:bodyPr>
          <a:lstStyle/>
          <a:p>
            <a:r>
              <a:rPr lang="en-GB" b="1" dirty="0" err="1"/>
              <a:t>ClinGen</a:t>
            </a:r>
            <a:endParaRPr lang="en-GB" b="1" dirty="0"/>
          </a:p>
        </p:txBody>
      </p:sp>
      <p:sp>
        <p:nvSpPr>
          <p:cNvPr id="18" name="CaixaDeTexto 17">
            <a:extLst>
              <a:ext uri="{FF2B5EF4-FFF2-40B4-BE49-F238E27FC236}">
                <a16:creationId xmlns:a16="http://schemas.microsoft.com/office/drawing/2014/main" id="{33CCC4DC-B22B-4CE2-4FF9-0E571F8C5ABC}"/>
              </a:ext>
            </a:extLst>
          </p:cNvPr>
          <p:cNvSpPr txBox="1"/>
          <p:nvPr/>
        </p:nvSpPr>
        <p:spPr>
          <a:xfrm>
            <a:off x="8738679" y="2676727"/>
            <a:ext cx="1624519" cy="369332"/>
          </a:xfrm>
          <a:prstGeom prst="rect">
            <a:avLst/>
          </a:prstGeom>
          <a:noFill/>
        </p:spPr>
        <p:txBody>
          <a:bodyPr wrap="square" rtlCol="0">
            <a:spAutoFit/>
          </a:bodyPr>
          <a:lstStyle/>
          <a:p>
            <a:r>
              <a:rPr lang="en-GB" b="1" dirty="0" err="1"/>
              <a:t>Orphanet</a:t>
            </a:r>
            <a:endParaRPr lang="en-GB" b="1" dirty="0"/>
          </a:p>
        </p:txBody>
      </p:sp>
      <p:sp>
        <p:nvSpPr>
          <p:cNvPr id="21" name="CaixaDeTexto 20">
            <a:extLst>
              <a:ext uri="{FF2B5EF4-FFF2-40B4-BE49-F238E27FC236}">
                <a16:creationId xmlns:a16="http://schemas.microsoft.com/office/drawing/2014/main" id="{04FE4B84-E48C-65D1-2FA2-CCB7D697F60D}"/>
              </a:ext>
            </a:extLst>
          </p:cNvPr>
          <p:cNvSpPr txBox="1"/>
          <p:nvPr/>
        </p:nvSpPr>
        <p:spPr>
          <a:xfrm>
            <a:off x="168611" y="5565844"/>
            <a:ext cx="2039568" cy="369332"/>
          </a:xfrm>
          <a:prstGeom prst="rect">
            <a:avLst/>
          </a:prstGeom>
          <a:noFill/>
        </p:spPr>
        <p:txBody>
          <a:bodyPr wrap="square" rtlCol="0">
            <a:spAutoFit/>
          </a:bodyPr>
          <a:lstStyle/>
          <a:p>
            <a:r>
              <a:rPr lang="en-GB" b="1" dirty="0"/>
              <a:t>Gene2Phenotype</a:t>
            </a:r>
          </a:p>
        </p:txBody>
      </p:sp>
      <p:pic>
        <p:nvPicPr>
          <p:cNvPr id="6" name="Imagem 5">
            <a:extLst>
              <a:ext uri="{FF2B5EF4-FFF2-40B4-BE49-F238E27FC236}">
                <a16:creationId xmlns:a16="http://schemas.microsoft.com/office/drawing/2014/main" id="{9C154D37-7C2B-A4C0-058C-9E5ADF535175}"/>
              </a:ext>
            </a:extLst>
          </p:cNvPr>
          <p:cNvPicPr>
            <a:picLocks noChangeAspect="1"/>
          </p:cNvPicPr>
          <p:nvPr/>
        </p:nvPicPr>
        <p:blipFill>
          <a:blip r:embed="rId2"/>
          <a:stretch>
            <a:fillRect/>
          </a:stretch>
        </p:blipFill>
        <p:spPr>
          <a:xfrm>
            <a:off x="164303" y="1528084"/>
            <a:ext cx="8030696" cy="1000265"/>
          </a:xfrm>
          <a:prstGeom prst="rect">
            <a:avLst/>
          </a:prstGeom>
        </p:spPr>
      </p:pic>
      <p:pic>
        <p:nvPicPr>
          <p:cNvPr id="10" name="Imagem 9">
            <a:extLst>
              <a:ext uri="{FF2B5EF4-FFF2-40B4-BE49-F238E27FC236}">
                <a16:creationId xmlns:a16="http://schemas.microsoft.com/office/drawing/2014/main" id="{63BA3FEA-6F88-5E9C-7FC7-18EEBF5FC8CD}"/>
              </a:ext>
            </a:extLst>
          </p:cNvPr>
          <p:cNvPicPr>
            <a:picLocks noChangeAspect="1"/>
          </p:cNvPicPr>
          <p:nvPr/>
        </p:nvPicPr>
        <p:blipFill>
          <a:blip r:embed="rId3"/>
          <a:stretch>
            <a:fillRect/>
          </a:stretch>
        </p:blipFill>
        <p:spPr>
          <a:xfrm>
            <a:off x="261680" y="3143087"/>
            <a:ext cx="6759754" cy="2333585"/>
          </a:xfrm>
          <a:prstGeom prst="rect">
            <a:avLst/>
          </a:prstGeom>
        </p:spPr>
      </p:pic>
      <p:pic>
        <p:nvPicPr>
          <p:cNvPr id="13" name="Imagem 12">
            <a:extLst>
              <a:ext uri="{FF2B5EF4-FFF2-40B4-BE49-F238E27FC236}">
                <a16:creationId xmlns:a16="http://schemas.microsoft.com/office/drawing/2014/main" id="{544F481B-5667-5503-9D8E-CDA301CF2519}"/>
              </a:ext>
            </a:extLst>
          </p:cNvPr>
          <p:cNvPicPr>
            <a:picLocks noChangeAspect="1"/>
          </p:cNvPicPr>
          <p:nvPr/>
        </p:nvPicPr>
        <p:blipFill>
          <a:blip r:embed="rId4"/>
          <a:stretch>
            <a:fillRect/>
          </a:stretch>
        </p:blipFill>
        <p:spPr>
          <a:xfrm>
            <a:off x="223018" y="5996572"/>
            <a:ext cx="11745964" cy="895475"/>
          </a:xfrm>
          <a:prstGeom prst="rect">
            <a:avLst/>
          </a:prstGeom>
        </p:spPr>
      </p:pic>
      <p:pic>
        <p:nvPicPr>
          <p:cNvPr id="19" name="Imagem 18">
            <a:extLst>
              <a:ext uri="{FF2B5EF4-FFF2-40B4-BE49-F238E27FC236}">
                <a16:creationId xmlns:a16="http://schemas.microsoft.com/office/drawing/2014/main" id="{8ED7BDC8-E768-F8A3-92EF-54AAACF56F99}"/>
              </a:ext>
            </a:extLst>
          </p:cNvPr>
          <p:cNvPicPr>
            <a:picLocks noChangeAspect="1"/>
          </p:cNvPicPr>
          <p:nvPr/>
        </p:nvPicPr>
        <p:blipFill>
          <a:blip r:embed="rId5"/>
          <a:stretch>
            <a:fillRect/>
          </a:stretch>
        </p:blipFill>
        <p:spPr>
          <a:xfrm>
            <a:off x="7376055" y="3169584"/>
            <a:ext cx="4417304" cy="1713701"/>
          </a:xfrm>
          <a:prstGeom prst="rect">
            <a:avLst/>
          </a:prstGeom>
        </p:spPr>
      </p:pic>
    </p:spTree>
    <p:extLst>
      <p:ext uri="{BB962C8B-B14F-4D97-AF65-F5344CB8AC3E}">
        <p14:creationId xmlns:p14="http://schemas.microsoft.com/office/powerpoint/2010/main" val="2806857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44273-4B3D-288A-09A0-291EBD4671C7}"/>
              </a:ext>
            </a:extLst>
          </p:cNvPr>
          <p:cNvSpPr>
            <a:spLocks noGrp="1"/>
          </p:cNvSpPr>
          <p:nvPr>
            <p:ph type="title"/>
          </p:nvPr>
        </p:nvSpPr>
        <p:spPr>
          <a:xfrm>
            <a:off x="0" y="-130985"/>
            <a:ext cx="10515600" cy="1325563"/>
          </a:xfrm>
        </p:spPr>
        <p:txBody>
          <a:bodyPr/>
          <a:lstStyle/>
          <a:p>
            <a:r>
              <a:rPr lang="en-GB" dirty="0" err="1"/>
              <a:t>Exercicio</a:t>
            </a:r>
            <a:r>
              <a:rPr lang="en-GB" dirty="0"/>
              <a:t> – </a:t>
            </a:r>
            <a:r>
              <a:rPr lang="en-GB" dirty="0" err="1"/>
              <a:t>Solução</a:t>
            </a:r>
            <a:r>
              <a:rPr lang="en-GB" dirty="0"/>
              <a:t> 2</a:t>
            </a:r>
          </a:p>
        </p:txBody>
      </p:sp>
      <p:sp>
        <p:nvSpPr>
          <p:cNvPr id="3" name="CaixaDeTexto 2">
            <a:extLst>
              <a:ext uri="{FF2B5EF4-FFF2-40B4-BE49-F238E27FC236}">
                <a16:creationId xmlns:a16="http://schemas.microsoft.com/office/drawing/2014/main" id="{DEB3C973-9D03-5D74-2B1B-FCE9DB414D96}"/>
              </a:ext>
            </a:extLst>
          </p:cNvPr>
          <p:cNvSpPr txBox="1"/>
          <p:nvPr/>
        </p:nvSpPr>
        <p:spPr>
          <a:xfrm>
            <a:off x="82500" y="909927"/>
            <a:ext cx="10912998" cy="369332"/>
          </a:xfrm>
          <a:prstGeom prst="rect">
            <a:avLst/>
          </a:prstGeom>
          <a:noFill/>
        </p:spPr>
        <p:txBody>
          <a:bodyPr wrap="square" rtlCol="0">
            <a:spAutoFit/>
          </a:bodyPr>
          <a:lstStyle/>
          <a:p>
            <a:r>
              <a:rPr lang="en-GB" dirty="0"/>
              <a:t>- </a:t>
            </a:r>
            <a:r>
              <a:rPr lang="en-GB" dirty="0" err="1"/>
              <a:t>Associado</a:t>
            </a:r>
            <a:r>
              <a:rPr lang="en-GB" dirty="0"/>
              <a:t> a:</a:t>
            </a:r>
          </a:p>
        </p:txBody>
      </p:sp>
      <p:sp>
        <p:nvSpPr>
          <p:cNvPr id="7" name="CaixaDeTexto 6">
            <a:extLst>
              <a:ext uri="{FF2B5EF4-FFF2-40B4-BE49-F238E27FC236}">
                <a16:creationId xmlns:a16="http://schemas.microsoft.com/office/drawing/2014/main" id="{686D7399-2639-B80E-6AC4-11B302E977DA}"/>
              </a:ext>
            </a:extLst>
          </p:cNvPr>
          <p:cNvSpPr txBox="1"/>
          <p:nvPr/>
        </p:nvSpPr>
        <p:spPr>
          <a:xfrm>
            <a:off x="8264809" y="421860"/>
            <a:ext cx="6094378" cy="707886"/>
          </a:xfrm>
          <a:prstGeom prst="rect">
            <a:avLst/>
          </a:prstGeom>
          <a:noFill/>
        </p:spPr>
        <p:txBody>
          <a:bodyPr wrap="square">
            <a:spAutoFit/>
          </a:bodyPr>
          <a:lstStyle/>
          <a:p>
            <a:r>
              <a:rPr lang="en-GB" sz="2000" dirty="0">
                <a:solidFill>
                  <a:srgbClr val="0070C0"/>
                </a:solidFill>
              </a:rPr>
              <a:t>2) </a:t>
            </a:r>
            <a:r>
              <a:rPr lang="de-DE" sz="2000" dirty="0">
                <a:solidFill>
                  <a:srgbClr val="0070C0"/>
                </a:solidFill>
              </a:rPr>
              <a:t>NM_000277.3:c.1222C&gt;T</a:t>
            </a:r>
            <a:br>
              <a:rPr lang="de-DE" sz="2000" dirty="0">
                <a:solidFill>
                  <a:srgbClr val="0070C0"/>
                </a:solidFill>
              </a:rPr>
            </a:br>
            <a:r>
              <a:rPr lang="de-DE" sz="2000" dirty="0">
                <a:solidFill>
                  <a:srgbClr val="0070C0"/>
                </a:solidFill>
              </a:rPr>
              <a:t>     p.Arg408Trp</a:t>
            </a:r>
            <a:endParaRPr lang="en-GB" sz="2000" dirty="0">
              <a:solidFill>
                <a:srgbClr val="0070C0"/>
              </a:solidFill>
            </a:endParaRPr>
          </a:p>
        </p:txBody>
      </p:sp>
      <p:sp>
        <p:nvSpPr>
          <p:cNvPr id="12" name="CaixaDeTexto 11">
            <a:extLst>
              <a:ext uri="{FF2B5EF4-FFF2-40B4-BE49-F238E27FC236}">
                <a16:creationId xmlns:a16="http://schemas.microsoft.com/office/drawing/2014/main" id="{09009628-B646-ED22-6123-F58A7BCC4E6B}"/>
              </a:ext>
            </a:extLst>
          </p:cNvPr>
          <p:cNvSpPr txBox="1"/>
          <p:nvPr/>
        </p:nvSpPr>
        <p:spPr>
          <a:xfrm>
            <a:off x="4873556" y="904673"/>
            <a:ext cx="1624519" cy="369332"/>
          </a:xfrm>
          <a:prstGeom prst="rect">
            <a:avLst/>
          </a:prstGeom>
          <a:noFill/>
        </p:spPr>
        <p:txBody>
          <a:bodyPr wrap="square" rtlCol="0">
            <a:spAutoFit/>
          </a:bodyPr>
          <a:lstStyle/>
          <a:p>
            <a:r>
              <a:rPr lang="en-GB" b="1" dirty="0" err="1"/>
              <a:t>GenCC</a:t>
            </a:r>
            <a:endParaRPr lang="en-GB" b="1" dirty="0"/>
          </a:p>
        </p:txBody>
      </p:sp>
      <p:sp>
        <p:nvSpPr>
          <p:cNvPr id="8" name="Marcador de Posição do Número do Diapositivo 3">
            <a:extLst>
              <a:ext uri="{FF2B5EF4-FFF2-40B4-BE49-F238E27FC236}">
                <a16:creationId xmlns:a16="http://schemas.microsoft.com/office/drawing/2014/main" id="{0FF7D154-0478-1339-5FC2-9AAEF9044FC7}"/>
              </a:ext>
            </a:extLst>
          </p:cNvPr>
          <p:cNvSpPr>
            <a:spLocks noGrp="1"/>
          </p:cNvSpPr>
          <p:nvPr>
            <p:ph type="sldNum" sz="quarter" idx="12"/>
          </p:nvPr>
        </p:nvSpPr>
        <p:spPr>
          <a:xfrm>
            <a:off x="8610600" y="6356350"/>
            <a:ext cx="2743200" cy="365125"/>
          </a:xfrm>
        </p:spPr>
        <p:txBody>
          <a:bodyPr/>
          <a:lstStyle/>
          <a:p>
            <a:fld id="{6D49FC33-1B8E-4C1B-8D07-84B8EBAC733E}" type="slidenum">
              <a:rPr lang="en-GB" smtClean="0"/>
              <a:t>19</a:t>
            </a:fld>
            <a:endParaRPr lang="en-GB"/>
          </a:p>
        </p:txBody>
      </p:sp>
      <p:pic>
        <p:nvPicPr>
          <p:cNvPr id="6" name="Imagem 5">
            <a:extLst>
              <a:ext uri="{FF2B5EF4-FFF2-40B4-BE49-F238E27FC236}">
                <a16:creationId xmlns:a16="http://schemas.microsoft.com/office/drawing/2014/main" id="{D6B08DB3-3EF3-2CEC-14BB-5A4573FEC64B}"/>
              </a:ext>
            </a:extLst>
          </p:cNvPr>
          <p:cNvPicPr>
            <a:picLocks noChangeAspect="1"/>
          </p:cNvPicPr>
          <p:nvPr/>
        </p:nvPicPr>
        <p:blipFill>
          <a:blip r:embed="rId2"/>
          <a:stretch>
            <a:fillRect/>
          </a:stretch>
        </p:blipFill>
        <p:spPr>
          <a:xfrm>
            <a:off x="0" y="1248590"/>
            <a:ext cx="11303540" cy="3506476"/>
          </a:xfrm>
          <a:prstGeom prst="rect">
            <a:avLst/>
          </a:prstGeom>
        </p:spPr>
      </p:pic>
      <p:pic>
        <p:nvPicPr>
          <p:cNvPr id="10" name="Imagem 9">
            <a:extLst>
              <a:ext uri="{FF2B5EF4-FFF2-40B4-BE49-F238E27FC236}">
                <a16:creationId xmlns:a16="http://schemas.microsoft.com/office/drawing/2014/main" id="{22771F67-F0C7-8FE4-D0E6-50F731B8E3B1}"/>
              </a:ext>
            </a:extLst>
          </p:cNvPr>
          <p:cNvPicPr>
            <a:picLocks noChangeAspect="1"/>
          </p:cNvPicPr>
          <p:nvPr/>
        </p:nvPicPr>
        <p:blipFill>
          <a:blip r:embed="rId3"/>
          <a:stretch>
            <a:fillRect/>
          </a:stretch>
        </p:blipFill>
        <p:spPr>
          <a:xfrm>
            <a:off x="219919" y="4583615"/>
            <a:ext cx="10116273" cy="2274385"/>
          </a:xfrm>
          <a:prstGeom prst="rect">
            <a:avLst/>
          </a:prstGeom>
        </p:spPr>
      </p:pic>
    </p:spTree>
    <p:extLst>
      <p:ext uri="{BB962C8B-B14F-4D97-AF65-F5344CB8AC3E}">
        <p14:creationId xmlns:p14="http://schemas.microsoft.com/office/powerpoint/2010/main" val="684805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844273-4B3D-288A-09A0-291EBD4671C7}"/>
              </a:ext>
            </a:extLst>
          </p:cNvPr>
          <p:cNvSpPr>
            <a:spLocks noGrp="1"/>
          </p:cNvSpPr>
          <p:nvPr>
            <p:ph type="title"/>
          </p:nvPr>
        </p:nvSpPr>
        <p:spPr>
          <a:xfrm>
            <a:off x="0" y="-130985"/>
            <a:ext cx="10515600" cy="1325563"/>
          </a:xfrm>
        </p:spPr>
        <p:txBody>
          <a:bodyPr/>
          <a:lstStyle/>
          <a:p>
            <a:r>
              <a:rPr lang="en-GB" dirty="0" err="1"/>
              <a:t>Exercicio</a:t>
            </a:r>
            <a:r>
              <a:rPr lang="en-GB" dirty="0"/>
              <a:t> – </a:t>
            </a:r>
            <a:r>
              <a:rPr lang="en-GB" dirty="0" err="1"/>
              <a:t>Solução</a:t>
            </a:r>
            <a:r>
              <a:rPr lang="en-GB" dirty="0"/>
              <a:t> 2</a:t>
            </a:r>
          </a:p>
        </p:txBody>
      </p:sp>
      <p:sp>
        <p:nvSpPr>
          <p:cNvPr id="3" name="CaixaDeTexto 2">
            <a:extLst>
              <a:ext uri="{FF2B5EF4-FFF2-40B4-BE49-F238E27FC236}">
                <a16:creationId xmlns:a16="http://schemas.microsoft.com/office/drawing/2014/main" id="{DEB3C973-9D03-5D74-2B1B-FCE9DB414D96}"/>
              </a:ext>
            </a:extLst>
          </p:cNvPr>
          <p:cNvSpPr txBox="1"/>
          <p:nvPr/>
        </p:nvSpPr>
        <p:spPr>
          <a:xfrm>
            <a:off x="82500" y="909927"/>
            <a:ext cx="10912998" cy="369332"/>
          </a:xfrm>
          <a:prstGeom prst="rect">
            <a:avLst/>
          </a:prstGeom>
          <a:noFill/>
        </p:spPr>
        <p:txBody>
          <a:bodyPr wrap="square" rtlCol="0">
            <a:spAutoFit/>
          </a:bodyPr>
          <a:lstStyle/>
          <a:p>
            <a:r>
              <a:rPr lang="en-GB" dirty="0"/>
              <a:t>- </a:t>
            </a:r>
            <a:r>
              <a:rPr lang="en-GB" dirty="0" err="1"/>
              <a:t>Associado</a:t>
            </a:r>
            <a:r>
              <a:rPr lang="en-GB" dirty="0"/>
              <a:t> a:</a:t>
            </a:r>
          </a:p>
        </p:txBody>
      </p:sp>
      <p:sp>
        <p:nvSpPr>
          <p:cNvPr id="7" name="CaixaDeTexto 6">
            <a:extLst>
              <a:ext uri="{FF2B5EF4-FFF2-40B4-BE49-F238E27FC236}">
                <a16:creationId xmlns:a16="http://schemas.microsoft.com/office/drawing/2014/main" id="{686D7399-2639-B80E-6AC4-11B302E977DA}"/>
              </a:ext>
            </a:extLst>
          </p:cNvPr>
          <p:cNvSpPr txBox="1"/>
          <p:nvPr/>
        </p:nvSpPr>
        <p:spPr>
          <a:xfrm>
            <a:off x="8264809" y="421860"/>
            <a:ext cx="6094378" cy="707886"/>
          </a:xfrm>
          <a:prstGeom prst="rect">
            <a:avLst/>
          </a:prstGeom>
          <a:noFill/>
        </p:spPr>
        <p:txBody>
          <a:bodyPr wrap="square">
            <a:spAutoFit/>
          </a:bodyPr>
          <a:lstStyle/>
          <a:p>
            <a:r>
              <a:rPr lang="en-GB" sz="2000" dirty="0">
                <a:solidFill>
                  <a:srgbClr val="0070C0"/>
                </a:solidFill>
              </a:rPr>
              <a:t>2) </a:t>
            </a:r>
            <a:r>
              <a:rPr lang="de-DE" sz="2000" dirty="0">
                <a:solidFill>
                  <a:srgbClr val="0070C0"/>
                </a:solidFill>
              </a:rPr>
              <a:t>NM_000277.3:c.1222C&gt;T</a:t>
            </a:r>
            <a:br>
              <a:rPr lang="de-DE" sz="2000" dirty="0">
                <a:solidFill>
                  <a:srgbClr val="0070C0"/>
                </a:solidFill>
              </a:rPr>
            </a:br>
            <a:r>
              <a:rPr lang="de-DE" sz="2000" dirty="0">
                <a:solidFill>
                  <a:srgbClr val="0070C0"/>
                </a:solidFill>
              </a:rPr>
              <a:t>     p.Arg408Trp</a:t>
            </a:r>
            <a:endParaRPr lang="en-GB" sz="2000" dirty="0">
              <a:solidFill>
                <a:srgbClr val="0070C0"/>
              </a:solidFill>
            </a:endParaRPr>
          </a:p>
        </p:txBody>
      </p:sp>
      <p:sp>
        <p:nvSpPr>
          <p:cNvPr id="12" name="CaixaDeTexto 11">
            <a:extLst>
              <a:ext uri="{FF2B5EF4-FFF2-40B4-BE49-F238E27FC236}">
                <a16:creationId xmlns:a16="http://schemas.microsoft.com/office/drawing/2014/main" id="{09009628-B646-ED22-6123-F58A7BCC4E6B}"/>
              </a:ext>
            </a:extLst>
          </p:cNvPr>
          <p:cNvSpPr txBox="1"/>
          <p:nvPr/>
        </p:nvSpPr>
        <p:spPr>
          <a:xfrm>
            <a:off x="4873556" y="904673"/>
            <a:ext cx="1624519" cy="369332"/>
          </a:xfrm>
          <a:prstGeom prst="rect">
            <a:avLst/>
          </a:prstGeom>
          <a:noFill/>
        </p:spPr>
        <p:txBody>
          <a:bodyPr wrap="square" rtlCol="0">
            <a:spAutoFit/>
          </a:bodyPr>
          <a:lstStyle/>
          <a:p>
            <a:r>
              <a:rPr lang="en-GB" b="1" dirty="0" err="1"/>
              <a:t>GenCC</a:t>
            </a:r>
            <a:endParaRPr lang="en-GB" b="1" dirty="0"/>
          </a:p>
        </p:txBody>
      </p:sp>
      <p:sp>
        <p:nvSpPr>
          <p:cNvPr id="8" name="Marcador de Posição do Número do Diapositivo 3">
            <a:extLst>
              <a:ext uri="{FF2B5EF4-FFF2-40B4-BE49-F238E27FC236}">
                <a16:creationId xmlns:a16="http://schemas.microsoft.com/office/drawing/2014/main" id="{0FF7D154-0478-1339-5FC2-9AAEF9044FC7}"/>
              </a:ext>
            </a:extLst>
          </p:cNvPr>
          <p:cNvSpPr>
            <a:spLocks noGrp="1"/>
          </p:cNvSpPr>
          <p:nvPr>
            <p:ph type="sldNum" sz="quarter" idx="12"/>
          </p:nvPr>
        </p:nvSpPr>
        <p:spPr>
          <a:xfrm>
            <a:off x="8610600" y="6356350"/>
            <a:ext cx="2743200" cy="365125"/>
          </a:xfrm>
        </p:spPr>
        <p:txBody>
          <a:bodyPr/>
          <a:lstStyle/>
          <a:p>
            <a:fld id="{6D49FC33-1B8E-4C1B-8D07-84B8EBAC733E}" type="slidenum">
              <a:rPr lang="en-GB" smtClean="0"/>
              <a:t>20</a:t>
            </a:fld>
            <a:endParaRPr lang="en-GB"/>
          </a:p>
        </p:txBody>
      </p:sp>
      <p:pic>
        <p:nvPicPr>
          <p:cNvPr id="5" name="Imagem 4">
            <a:extLst>
              <a:ext uri="{FF2B5EF4-FFF2-40B4-BE49-F238E27FC236}">
                <a16:creationId xmlns:a16="http://schemas.microsoft.com/office/drawing/2014/main" id="{A5D912FE-51ED-0BB1-327B-E41421F25769}"/>
              </a:ext>
            </a:extLst>
          </p:cNvPr>
          <p:cNvPicPr>
            <a:picLocks noChangeAspect="1"/>
          </p:cNvPicPr>
          <p:nvPr/>
        </p:nvPicPr>
        <p:blipFill>
          <a:blip r:embed="rId2"/>
          <a:stretch>
            <a:fillRect/>
          </a:stretch>
        </p:blipFill>
        <p:spPr>
          <a:xfrm>
            <a:off x="849805" y="1495743"/>
            <a:ext cx="9486387" cy="5107411"/>
          </a:xfrm>
          <a:prstGeom prst="rect">
            <a:avLst/>
          </a:prstGeom>
        </p:spPr>
      </p:pic>
    </p:spTree>
    <p:extLst>
      <p:ext uri="{BB962C8B-B14F-4D97-AF65-F5344CB8AC3E}">
        <p14:creationId xmlns:p14="http://schemas.microsoft.com/office/powerpoint/2010/main" val="4039299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56924A-E618-AA2A-3CB8-E9966663D36E}"/>
              </a:ext>
            </a:extLst>
          </p:cNvPr>
          <p:cNvSpPr>
            <a:spLocks noGrp="1"/>
          </p:cNvSpPr>
          <p:nvPr>
            <p:ph type="title"/>
          </p:nvPr>
        </p:nvSpPr>
        <p:spPr>
          <a:xfrm>
            <a:off x="0" y="-91440"/>
            <a:ext cx="5831840" cy="1325563"/>
          </a:xfrm>
        </p:spPr>
        <p:txBody>
          <a:bodyPr/>
          <a:lstStyle/>
          <a:p>
            <a:r>
              <a:rPr lang="en-GB" dirty="0" err="1"/>
              <a:t>Algoritmos</a:t>
            </a:r>
            <a:r>
              <a:rPr lang="en-GB" dirty="0"/>
              <a:t> de </a:t>
            </a:r>
            <a:r>
              <a:rPr lang="en-GB" dirty="0" err="1"/>
              <a:t>predição</a:t>
            </a:r>
            <a:endParaRPr lang="en-GB" dirty="0"/>
          </a:p>
        </p:txBody>
      </p:sp>
      <p:sp>
        <p:nvSpPr>
          <p:cNvPr id="3" name="CaixaDeTexto 2">
            <a:extLst>
              <a:ext uri="{FF2B5EF4-FFF2-40B4-BE49-F238E27FC236}">
                <a16:creationId xmlns:a16="http://schemas.microsoft.com/office/drawing/2014/main" id="{767049DF-2325-51A9-E79C-1785F2C46A2F}"/>
              </a:ext>
            </a:extLst>
          </p:cNvPr>
          <p:cNvSpPr txBox="1"/>
          <p:nvPr/>
        </p:nvSpPr>
        <p:spPr>
          <a:xfrm>
            <a:off x="83276" y="2551837"/>
            <a:ext cx="5220183" cy="1754326"/>
          </a:xfrm>
          <a:prstGeom prst="rect">
            <a:avLst/>
          </a:prstGeom>
          <a:noFill/>
        </p:spPr>
        <p:txBody>
          <a:bodyPr wrap="square">
            <a:spAutoFit/>
          </a:bodyPr>
          <a:lstStyle/>
          <a:p>
            <a:r>
              <a:rPr lang="pt-PT" dirty="0"/>
              <a:t>Existem muitos </a:t>
            </a:r>
            <a:r>
              <a:rPr lang="pt-PT" i="1" dirty="0"/>
              <a:t>in </a:t>
            </a:r>
            <a:r>
              <a:rPr lang="pt-PT" i="1" dirty="0" err="1"/>
              <a:t>silico</a:t>
            </a:r>
            <a:r>
              <a:rPr lang="pt-PT" i="1" dirty="0"/>
              <a:t> </a:t>
            </a:r>
            <a:r>
              <a:rPr lang="pt-PT" i="1" dirty="0" err="1"/>
              <a:t>predictors</a:t>
            </a:r>
            <a:r>
              <a:rPr lang="pt-PT" dirty="0"/>
              <a:t> para avaliação do potencial impacto de variantes genómicas:</a:t>
            </a:r>
          </a:p>
          <a:p>
            <a:pPr marL="285750" indent="-285750">
              <a:buFontTx/>
              <a:buChar char="-"/>
            </a:pPr>
            <a:r>
              <a:rPr lang="pt-PT" dirty="0"/>
              <a:t>variantes </a:t>
            </a:r>
            <a:r>
              <a:rPr lang="pt-PT" dirty="0" err="1"/>
              <a:t>missense</a:t>
            </a:r>
            <a:endParaRPr lang="pt-PT" dirty="0"/>
          </a:p>
          <a:p>
            <a:pPr marL="285750" indent="-285750">
              <a:buFontTx/>
              <a:buChar char="-"/>
            </a:pPr>
            <a:r>
              <a:rPr lang="pt-PT" dirty="0"/>
              <a:t>perda de função</a:t>
            </a:r>
          </a:p>
          <a:p>
            <a:pPr marL="285750" indent="-285750">
              <a:buFontTx/>
              <a:buChar char="-"/>
            </a:pPr>
            <a:r>
              <a:rPr lang="pt-PT" dirty="0" err="1"/>
              <a:t>Splicing</a:t>
            </a:r>
            <a:endParaRPr lang="pt-PT" dirty="0"/>
          </a:p>
          <a:p>
            <a:pPr marL="285750" indent="-285750">
              <a:buFontTx/>
              <a:buChar char="-"/>
            </a:pPr>
            <a:r>
              <a:rPr lang="pt-PT" dirty="0"/>
              <a:t>Variantes não codificantes</a:t>
            </a:r>
          </a:p>
        </p:txBody>
      </p:sp>
      <p:graphicFrame>
        <p:nvGraphicFramePr>
          <p:cNvPr id="8" name="Tabela 7">
            <a:extLst>
              <a:ext uri="{FF2B5EF4-FFF2-40B4-BE49-F238E27FC236}">
                <a16:creationId xmlns:a16="http://schemas.microsoft.com/office/drawing/2014/main" id="{493739FD-CCEB-0337-3857-3A834508A92A}"/>
              </a:ext>
            </a:extLst>
          </p:cNvPr>
          <p:cNvGraphicFramePr>
            <a:graphicFrameLocks noGrp="1"/>
          </p:cNvGraphicFramePr>
          <p:nvPr>
            <p:extLst>
              <p:ext uri="{D42A27DB-BD31-4B8C-83A1-F6EECF244321}">
                <p14:modId xmlns:p14="http://schemas.microsoft.com/office/powerpoint/2010/main" val="1416235039"/>
              </p:ext>
            </p:extLst>
          </p:nvPr>
        </p:nvGraphicFramePr>
        <p:xfrm>
          <a:off x="5496561" y="24030"/>
          <a:ext cx="6411220" cy="6833970"/>
        </p:xfrm>
        <a:graphic>
          <a:graphicData uri="http://schemas.openxmlformats.org/drawingml/2006/table">
            <a:tbl>
              <a:tblPr>
                <a:tableStyleId>{5C22544A-7EE6-4342-B048-85BDC9FD1C3A}</a:tableStyleId>
              </a:tblPr>
              <a:tblGrid>
                <a:gridCol w="1223674">
                  <a:extLst>
                    <a:ext uri="{9D8B030D-6E8A-4147-A177-3AD203B41FA5}">
                      <a16:colId xmlns:a16="http://schemas.microsoft.com/office/drawing/2014/main" val="2857847090"/>
                    </a:ext>
                  </a:extLst>
                </a:gridCol>
                <a:gridCol w="2593773">
                  <a:extLst>
                    <a:ext uri="{9D8B030D-6E8A-4147-A177-3AD203B41FA5}">
                      <a16:colId xmlns:a16="http://schemas.microsoft.com/office/drawing/2014/main" val="1490796449"/>
                    </a:ext>
                  </a:extLst>
                </a:gridCol>
                <a:gridCol w="2593773">
                  <a:extLst>
                    <a:ext uri="{9D8B030D-6E8A-4147-A177-3AD203B41FA5}">
                      <a16:colId xmlns:a16="http://schemas.microsoft.com/office/drawing/2014/main" val="1525409806"/>
                    </a:ext>
                  </a:extLst>
                </a:gridCol>
              </a:tblGrid>
              <a:tr h="311566">
                <a:tc>
                  <a:txBody>
                    <a:bodyPr/>
                    <a:lstStyle/>
                    <a:p>
                      <a:pPr algn="ctr" fontAlgn="ctr"/>
                      <a:r>
                        <a:rPr lang="pt-PT" sz="1100" b="1" u="none" strike="noStrike" dirty="0">
                          <a:effectLst/>
                        </a:rPr>
                        <a:t>Categoria</a:t>
                      </a:r>
                      <a:endParaRPr lang="pt-PT" sz="1100" b="1"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ctr" fontAlgn="ctr"/>
                      <a:r>
                        <a:rPr lang="pt-PT" sz="1100" b="1" u="none" strike="noStrike" dirty="0" err="1">
                          <a:effectLst/>
                        </a:rPr>
                        <a:t>Predictor</a:t>
                      </a:r>
                      <a:endParaRPr lang="pt-PT" sz="1000" b="1"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ctr" fontAlgn="ctr"/>
                      <a:r>
                        <a:rPr lang="pt-PT" sz="1100" b="1" u="none" strike="noStrike" dirty="0">
                          <a:effectLst/>
                        </a:rPr>
                        <a:t>O que avalia / principal objetivo</a:t>
                      </a:r>
                      <a:endParaRPr lang="pt-PT" sz="1100" b="1"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2218148596"/>
                  </a:ext>
                </a:extLst>
              </a:tr>
              <a:tr h="272852">
                <a:tc rowSpan="12">
                  <a:txBody>
                    <a:bodyPr/>
                    <a:lstStyle/>
                    <a:p>
                      <a:pPr algn="ctr" fontAlgn="ctr"/>
                      <a:r>
                        <a:rPr lang="pt-PT" sz="1100" b="1" u="none" strike="noStrike" dirty="0" err="1">
                          <a:effectLst/>
                        </a:rPr>
                        <a:t>Missense</a:t>
                      </a:r>
                      <a:endParaRPr lang="pt-PT" sz="1100" b="1"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highlight>
                            <a:srgbClr val="FFFF00"/>
                          </a:highlight>
                        </a:rPr>
                        <a:t>SIFT</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tc>
                  <a:txBody>
                    <a:bodyPr/>
                    <a:lstStyle/>
                    <a:p>
                      <a:pPr algn="l" fontAlgn="ctr"/>
                      <a:r>
                        <a:rPr lang="pt-PT" sz="1050" u="none" strike="noStrike" dirty="0">
                          <a:effectLst/>
                          <a:highlight>
                            <a:srgbClr val="FFFF00"/>
                          </a:highlight>
                        </a:rPr>
                        <a:t>Conservação evolutiva dos aminoácidos</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extLst>
                  <a:ext uri="{0D108BD9-81ED-4DB2-BD59-A6C34878D82A}">
                    <a16:rowId xmlns:a16="http://schemas.microsoft.com/office/drawing/2014/main" val="1103273870"/>
                  </a:ext>
                </a:extLst>
              </a:tr>
              <a:tr h="97326">
                <a:tc vMerge="1">
                  <a:txBody>
                    <a:bodyPr/>
                    <a:lstStyle/>
                    <a:p>
                      <a:endParaRPr lang="pt-PT"/>
                    </a:p>
                  </a:txBody>
                  <a:tcPr/>
                </a:tc>
                <a:tc>
                  <a:txBody>
                    <a:bodyPr/>
                    <a:lstStyle/>
                    <a:p>
                      <a:pPr algn="l" fontAlgn="ctr"/>
                      <a:r>
                        <a:rPr lang="pt-PT" sz="1050" u="none" strike="noStrike" dirty="0">
                          <a:effectLst/>
                          <a:highlight>
                            <a:srgbClr val="FFFF00"/>
                          </a:highlight>
                        </a:rPr>
                        <a:t>PolyPhen-2</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tc>
                  <a:txBody>
                    <a:bodyPr/>
                    <a:lstStyle/>
                    <a:p>
                      <a:pPr algn="l" fontAlgn="ctr"/>
                      <a:r>
                        <a:rPr lang="pt-PT" sz="1050" u="none" strike="noStrike" dirty="0">
                          <a:effectLst/>
                          <a:highlight>
                            <a:srgbClr val="FFFF00"/>
                          </a:highlight>
                        </a:rPr>
                        <a:t>Impacto estrutural e funcional da alteração</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extLst>
                  <a:ext uri="{0D108BD9-81ED-4DB2-BD59-A6C34878D82A}">
                    <a16:rowId xmlns:a16="http://schemas.microsoft.com/office/drawing/2014/main" val="2624978041"/>
                  </a:ext>
                </a:extLst>
              </a:tr>
              <a:tr h="152338">
                <a:tc vMerge="1">
                  <a:txBody>
                    <a:bodyPr/>
                    <a:lstStyle/>
                    <a:p>
                      <a:endParaRPr lang="pt-PT"/>
                    </a:p>
                  </a:txBody>
                  <a:tcPr/>
                </a:tc>
                <a:tc>
                  <a:txBody>
                    <a:bodyPr/>
                    <a:lstStyle/>
                    <a:p>
                      <a:pPr algn="l" fontAlgn="ctr"/>
                      <a:r>
                        <a:rPr lang="pt-PT" sz="1050" u="none" strike="noStrike">
                          <a:effectLst/>
                        </a:rPr>
                        <a:t>MutationTaster</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Potencial patogénico global</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2018378662"/>
                  </a:ext>
                </a:extLst>
              </a:tr>
              <a:tr h="152338">
                <a:tc vMerge="1">
                  <a:txBody>
                    <a:bodyPr/>
                    <a:lstStyle/>
                    <a:p>
                      <a:endParaRPr lang="pt-PT"/>
                    </a:p>
                  </a:txBody>
                  <a:tcPr/>
                </a:tc>
                <a:tc>
                  <a:txBody>
                    <a:bodyPr/>
                    <a:lstStyle/>
                    <a:p>
                      <a:pPr algn="l" fontAlgn="ctr"/>
                      <a:r>
                        <a:rPr lang="pt-PT" sz="1050" u="none" strike="noStrike" dirty="0">
                          <a:effectLst/>
                        </a:rPr>
                        <a:t>PROVEAN</a:t>
                      </a:r>
                      <a:endParaRPr lang="pt-PT" sz="1050" b="0"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Impacto funcional proteico</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1205136235"/>
                  </a:ext>
                </a:extLst>
              </a:tr>
              <a:tr h="152338">
                <a:tc vMerge="1">
                  <a:txBody>
                    <a:bodyPr/>
                    <a:lstStyle/>
                    <a:p>
                      <a:endParaRPr lang="pt-PT"/>
                    </a:p>
                  </a:txBody>
                  <a:tcPr/>
                </a:tc>
                <a:tc>
                  <a:txBody>
                    <a:bodyPr/>
                    <a:lstStyle/>
                    <a:p>
                      <a:pPr algn="l" fontAlgn="ctr"/>
                      <a:r>
                        <a:rPr lang="pt-PT" sz="1050" u="none" strike="noStrike" dirty="0" err="1">
                          <a:effectLst/>
                        </a:rPr>
                        <a:t>MutPred</a:t>
                      </a:r>
                      <a:endParaRPr lang="pt-PT" sz="1050" b="0"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Alterações moleculares/proteicas</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638654503"/>
                  </a:ext>
                </a:extLst>
              </a:tr>
              <a:tr h="152338">
                <a:tc vMerge="1">
                  <a:txBody>
                    <a:bodyPr/>
                    <a:lstStyle/>
                    <a:p>
                      <a:endParaRPr lang="pt-PT"/>
                    </a:p>
                  </a:txBody>
                  <a:tcPr/>
                </a:tc>
                <a:tc>
                  <a:txBody>
                    <a:bodyPr/>
                    <a:lstStyle/>
                    <a:p>
                      <a:pPr algn="l" fontAlgn="ctr"/>
                      <a:r>
                        <a:rPr lang="pt-PT" sz="1050" u="none" strike="noStrike">
                          <a:effectLst/>
                        </a:rPr>
                        <a:t>M-CAP</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Classificação clínica de variantes raras</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3854558124"/>
                  </a:ext>
                </a:extLst>
              </a:tr>
              <a:tr h="152338">
                <a:tc vMerge="1">
                  <a:txBody>
                    <a:bodyPr/>
                    <a:lstStyle/>
                    <a:p>
                      <a:endParaRPr lang="pt-PT"/>
                    </a:p>
                  </a:txBody>
                  <a:tcPr/>
                </a:tc>
                <a:tc>
                  <a:txBody>
                    <a:bodyPr/>
                    <a:lstStyle/>
                    <a:p>
                      <a:pPr algn="l" fontAlgn="ctr"/>
                      <a:r>
                        <a:rPr lang="pt-PT" sz="1050" u="none" strike="noStrike" dirty="0">
                          <a:effectLst/>
                          <a:highlight>
                            <a:srgbClr val="FFFF00"/>
                          </a:highlight>
                        </a:rPr>
                        <a:t>REVEL</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tc>
                  <a:txBody>
                    <a:bodyPr/>
                    <a:lstStyle/>
                    <a:p>
                      <a:pPr algn="l" fontAlgn="ctr"/>
                      <a:r>
                        <a:rPr lang="pt-PT" sz="1050" u="none" strike="noStrike" dirty="0">
                          <a:effectLst/>
                          <a:highlight>
                            <a:srgbClr val="FFFF00"/>
                          </a:highlight>
                        </a:rPr>
                        <a:t>Ensemble </a:t>
                      </a:r>
                      <a:r>
                        <a:rPr lang="pt-PT" sz="1050" u="none" strike="noStrike" dirty="0" err="1">
                          <a:effectLst/>
                          <a:highlight>
                            <a:srgbClr val="FFFF00"/>
                          </a:highlight>
                        </a:rPr>
                        <a:t>predictor</a:t>
                      </a:r>
                      <a:r>
                        <a:rPr lang="pt-PT" sz="1050" u="none" strike="noStrike" dirty="0">
                          <a:effectLst/>
                          <a:highlight>
                            <a:srgbClr val="FFFF00"/>
                          </a:highlight>
                        </a:rPr>
                        <a:t> amplamente usado</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extLst>
                  <a:ext uri="{0D108BD9-81ED-4DB2-BD59-A6C34878D82A}">
                    <a16:rowId xmlns:a16="http://schemas.microsoft.com/office/drawing/2014/main" val="2967651152"/>
                  </a:ext>
                </a:extLst>
              </a:tr>
              <a:tr h="104874">
                <a:tc vMerge="1">
                  <a:txBody>
                    <a:bodyPr/>
                    <a:lstStyle/>
                    <a:p>
                      <a:endParaRPr lang="pt-PT"/>
                    </a:p>
                  </a:txBody>
                  <a:tcPr/>
                </a:tc>
                <a:tc>
                  <a:txBody>
                    <a:bodyPr/>
                    <a:lstStyle/>
                    <a:p>
                      <a:pPr algn="l" fontAlgn="ctr"/>
                      <a:r>
                        <a:rPr lang="pt-PT" sz="1050" u="none" strike="noStrike" dirty="0" err="1">
                          <a:effectLst/>
                        </a:rPr>
                        <a:t>MetaSVM</a:t>
                      </a:r>
                      <a:endParaRPr lang="pt-PT" sz="1050" b="0"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en-US" sz="1050" u="none" strike="noStrike">
                          <a:effectLst/>
                        </a:rPr>
                        <a:t>Machine learning baseado em múltiplos scores</a:t>
                      </a:r>
                      <a:endParaRPr lang="en-US"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3934594159"/>
                  </a:ext>
                </a:extLst>
              </a:tr>
              <a:tr h="141158">
                <a:tc vMerge="1">
                  <a:txBody>
                    <a:bodyPr/>
                    <a:lstStyle/>
                    <a:p>
                      <a:endParaRPr lang="pt-PT"/>
                    </a:p>
                  </a:txBody>
                  <a:tcPr/>
                </a:tc>
                <a:tc>
                  <a:txBody>
                    <a:bodyPr/>
                    <a:lstStyle/>
                    <a:p>
                      <a:pPr algn="l" fontAlgn="ctr"/>
                      <a:r>
                        <a:rPr lang="pt-PT" sz="1050" u="none" strike="noStrike" dirty="0" err="1">
                          <a:effectLst/>
                        </a:rPr>
                        <a:t>MetaLR</a:t>
                      </a:r>
                      <a:endParaRPr lang="pt-PT" sz="1050" b="0"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Ensemble baseado em regressão logística</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2743053624"/>
                  </a:ext>
                </a:extLst>
              </a:tr>
              <a:tr h="152338">
                <a:tc vMerge="1">
                  <a:txBody>
                    <a:bodyPr/>
                    <a:lstStyle/>
                    <a:p>
                      <a:endParaRPr lang="pt-PT"/>
                    </a:p>
                  </a:txBody>
                  <a:tcPr/>
                </a:tc>
                <a:tc>
                  <a:txBody>
                    <a:bodyPr/>
                    <a:lstStyle/>
                    <a:p>
                      <a:pPr algn="l" fontAlgn="ctr"/>
                      <a:r>
                        <a:rPr lang="pt-PT" sz="1050" u="none" strike="noStrike">
                          <a:effectLst/>
                        </a:rPr>
                        <a:t>PrimateAI</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Deep learning + conservação evolutiva</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1076856597"/>
                  </a:ext>
                </a:extLst>
              </a:tr>
              <a:tr h="152338">
                <a:tc vMerge="1">
                  <a:txBody>
                    <a:bodyPr/>
                    <a:lstStyle/>
                    <a:p>
                      <a:endParaRPr lang="pt-PT"/>
                    </a:p>
                  </a:txBody>
                  <a:tcPr/>
                </a:tc>
                <a:tc>
                  <a:txBody>
                    <a:bodyPr/>
                    <a:lstStyle/>
                    <a:p>
                      <a:pPr algn="l" fontAlgn="ctr"/>
                      <a:r>
                        <a:rPr lang="pt-PT" sz="1050" u="none" strike="noStrike" dirty="0" err="1">
                          <a:effectLst/>
                          <a:highlight>
                            <a:srgbClr val="FFFF00"/>
                          </a:highlight>
                        </a:rPr>
                        <a:t>AlphaMissense</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tc>
                  <a:txBody>
                    <a:bodyPr/>
                    <a:lstStyle/>
                    <a:p>
                      <a:pPr algn="l" fontAlgn="ctr"/>
                      <a:r>
                        <a:rPr lang="pt-PT" sz="1050" u="none" strike="noStrike" dirty="0">
                          <a:effectLst/>
                          <a:highlight>
                            <a:srgbClr val="FFFF00"/>
                          </a:highlight>
                        </a:rPr>
                        <a:t>IA baseada em </a:t>
                      </a:r>
                      <a:r>
                        <a:rPr lang="pt-PT" sz="1050" u="none" strike="noStrike" dirty="0" err="1">
                          <a:effectLst/>
                          <a:highlight>
                            <a:srgbClr val="FFFF00"/>
                          </a:highlight>
                        </a:rPr>
                        <a:t>AlphaFold</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extLst>
                  <a:ext uri="{0D108BD9-81ED-4DB2-BD59-A6C34878D82A}">
                    <a16:rowId xmlns:a16="http://schemas.microsoft.com/office/drawing/2014/main" val="3565302261"/>
                  </a:ext>
                </a:extLst>
              </a:tr>
              <a:tr h="152338">
                <a:tc vMerge="1">
                  <a:txBody>
                    <a:bodyPr/>
                    <a:lstStyle/>
                    <a:p>
                      <a:endParaRPr lang="pt-PT"/>
                    </a:p>
                  </a:txBody>
                  <a:tcPr/>
                </a:tc>
                <a:tc>
                  <a:txBody>
                    <a:bodyPr/>
                    <a:lstStyle/>
                    <a:p>
                      <a:pPr algn="l" fontAlgn="ctr"/>
                      <a:r>
                        <a:rPr lang="pt-PT" sz="1050" u="none" strike="noStrike">
                          <a:effectLst/>
                        </a:rPr>
                        <a:t>MVP</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Deep learning para patogenicidade</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1160332420"/>
                  </a:ext>
                </a:extLst>
              </a:tr>
              <a:tr h="152338">
                <a:tc rowSpan="5">
                  <a:txBody>
                    <a:bodyPr/>
                    <a:lstStyle/>
                    <a:p>
                      <a:pPr algn="ctr" fontAlgn="ctr"/>
                      <a:r>
                        <a:rPr lang="pt-PT" sz="1100" b="1" u="none" strike="noStrike" dirty="0" err="1">
                          <a:effectLst/>
                        </a:rPr>
                        <a:t>InDel</a:t>
                      </a:r>
                      <a:endParaRPr lang="pt-PT" sz="1100" b="1"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highlight>
                            <a:srgbClr val="FFFF00"/>
                          </a:highlight>
                        </a:rPr>
                        <a:t>CADD</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tc>
                  <a:txBody>
                    <a:bodyPr/>
                    <a:lstStyle/>
                    <a:p>
                      <a:pPr algn="l" fontAlgn="ctr"/>
                      <a:r>
                        <a:rPr lang="pt-PT" sz="1050" u="none" strike="noStrike" dirty="0">
                          <a:effectLst/>
                          <a:highlight>
                            <a:srgbClr val="FFFF00"/>
                          </a:highlight>
                        </a:rPr>
                        <a:t>Score global de </a:t>
                      </a:r>
                      <a:r>
                        <a:rPr lang="pt-PT" sz="1050" u="none" strike="noStrike" dirty="0" err="1">
                          <a:effectLst/>
                          <a:highlight>
                            <a:srgbClr val="FFFF00"/>
                          </a:highlight>
                        </a:rPr>
                        <a:t>deleteriedade</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extLst>
                  <a:ext uri="{0D108BD9-81ED-4DB2-BD59-A6C34878D82A}">
                    <a16:rowId xmlns:a16="http://schemas.microsoft.com/office/drawing/2014/main" val="2508366406"/>
                  </a:ext>
                </a:extLst>
              </a:tr>
              <a:tr h="152338">
                <a:tc vMerge="1">
                  <a:txBody>
                    <a:bodyPr/>
                    <a:lstStyle/>
                    <a:p>
                      <a:endParaRPr lang="pt-PT"/>
                    </a:p>
                  </a:txBody>
                  <a:tcPr/>
                </a:tc>
                <a:tc>
                  <a:txBody>
                    <a:bodyPr/>
                    <a:lstStyle/>
                    <a:p>
                      <a:pPr algn="l" fontAlgn="ctr"/>
                      <a:r>
                        <a:rPr lang="pt-PT" sz="1050" u="none" strike="noStrike">
                          <a:effectLst/>
                        </a:rPr>
                        <a:t>DANN</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Deep learning para variantes deletérias</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1971649181"/>
                  </a:ext>
                </a:extLst>
              </a:tr>
              <a:tr h="152338">
                <a:tc vMerge="1">
                  <a:txBody>
                    <a:bodyPr/>
                    <a:lstStyle/>
                    <a:p>
                      <a:endParaRPr lang="pt-PT"/>
                    </a:p>
                  </a:txBody>
                  <a:tcPr/>
                </a:tc>
                <a:tc>
                  <a:txBody>
                    <a:bodyPr/>
                    <a:lstStyle/>
                    <a:p>
                      <a:pPr algn="l" fontAlgn="ctr"/>
                      <a:r>
                        <a:rPr lang="pt-PT" sz="1050" u="none" strike="noStrike" dirty="0" err="1">
                          <a:effectLst/>
                        </a:rPr>
                        <a:t>Eigen</a:t>
                      </a:r>
                      <a:endParaRPr lang="pt-PT" sz="1050" b="0"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Integra múltiplas anotações funcionais</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870283940"/>
                  </a:ext>
                </a:extLst>
              </a:tr>
              <a:tr h="152338">
                <a:tc vMerge="1">
                  <a:txBody>
                    <a:bodyPr/>
                    <a:lstStyle/>
                    <a:p>
                      <a:endParaRPr lang="pt-PT"/>
                    </a:p>
                  </a:txBody>
                  <a:tcPr/>
                </a:tc>
                <a:tc>
                  <a:txBody>
                    <a:bodyPr/>
                    <a:lstStyle/>
                    <a:p>
                      <a:pPr algn="l" fontAlgn="ctr"/>
                      <a:r>
                        <a:rPr lang="pt-PT" sz="1050" u="none" strike="noStrike">
                          <a:effectLst/>
                        </a:rPr>
                        <a:t>FATHMM</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Conservação + hidden Markov models</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346935481"/>
                  </a:ext>
                </a:extLst>
              </a:tr>
              <a:tr h="152338">
                <a:tc vMerge="1">
                  <a:txBody>
                    <a:bodyPr/>
                    <a:lstStyle/>
                    <a:p>
                      <a:endParaRPr lang="pt-PT"/>
                    </a:p>
                  </a:txBody>
                  <a:tcPr/>
                </a:tc>
                <a:tc>
                  <a:txBody>
                    <a:bodyPr/>
                    <a:lstStyle/>
                    <a:p>
                      <a:pPr algn="l" fontAlgn="ctr"/>
                      <a:r>
                        <a:rPr lang="pt-PT" sz="1050" u="none" strike="noStrike">
                          <a:effectLst/>
                        </a:rPr>
                        <a:t>FATHMM-MKL</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Inclui variantes não codificantes</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1381511924"/>
                  </a:ext>
                </a:extLst>
              </a:tr>
              <a:tr h="56492">
                <a:tc>
                  <a:txBody>
                    <a:bodyPr/>
                    <a:lstStyle/>
                    <a:p>
                      <a:pPr algn="ctr" fontAlgn="ctr"/>
                      <a:r>
                        <a:rPr lang="pt-PT" sz="1100" b="1" u="none" strike="noStrike">
                          <a:effectLst/>
                        </a:rPr>
                        <a:t>Não codificante</a:t>
                      </a:r>
                      <a:endParaRPr lang="pt-PT" sz="1100" b="1"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LINSIGHT</a:t>
                      </a:r>
                      <a:endParaRPr lang="pt-PT" sz="1050" b="0"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Constraint funcional não codificante</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4166031981"/>
                  </a:ext>
                </a:extLst>
              </a:tr>
              <a:tr h="152338">
                <a:tc rowSpan="4">
                  <a:txBody>
                    <a:bodyPr/>
                    <a:lstStyle/>
                    <a:p>
                      <a:pPr algn="ctr" fontAlgn="ctr"/>
                      <a:r>
                        <a:rPr lang="pt-PT" sz="1100" b="1" u="none" strike="noStrike" dirty="0">
                          <a:effectLst/>
                        </a:rPr>
                        <a:t>Conservação</a:t>
                      </a:r>
                      <a:endParaRPr lang="pt-PT" sz="1100" b="1"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GERP++</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Conservação evolutiva</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3702626692"/>
                  </a:ext>
                </a:extLst>
              </a:tr>
              <a:tr h="152338">
                <a:tc vMerge="1">
                  <a:txBody>
                    <a:bodyPr/>
                    <a:lstStyle/>
                    <a:p>
                      <a:endParaRPr lang="pt-PT"/>
                    </a:p>
                  </a:txBody>
                  <a:tcPr/>
                </a:tc>
                <a:tc>
                  <a:txBody>
                    <a:bodyPr/>
                    <a:lstStyle/>
                    <a:p>
                      <a:pPr algn="l" fontAlgn="ctr"/>
                      <a:r>
                        <a:rPr lang="pt-PT" sz="1050" u="none" strike="noStrike" dirty="0" err="1">
                          <a:effectLst/>
                        </a:rPr>
                        <a:t>PhyloP</a:t>
                      </a:r>
                      <a:endParaRPr lang="pt-PT" sz="1050" b="0"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Conservação nucleotídica</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514158381"/>
                  </a:ext>
                </a:extLst>
              </a:tr>
              <a:tr h="152338">
                <a:tc vMerge="1">
                  <a:txBody>
                    <a:bodyPr/>
                    <a:lstStyle/>
                    <a:p>
                      <a:endParaRPr lang="pt-PT"/>
                    </a:p>
                  </a:txBody>
                  <a:tcPr/>
                </a:tc>
                <a:tc>
                  <a:txBody>
                    <a:bodyPr/>
                    <a:lstStyle/>
                    <a:p>
                      <a:pPr algn="l" fontAlgn="ctr"/>
                      <a:r>
                        <a:rPr lang="pt-PT" sz="1050" u="none" strike="noStrike">
                          <a:effectLst/>
                        </a:rPr>
                        <a:t>PhastCons</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Conservação </a:t>
                      </a:r>
                      <a:r>
                        <a:rPr lang="pt-PT" sz="1050" u="none" strike="noStrike" dirty="0" err="1">
                          <a:effectLst/>
                        </a:rPr>
                        <a:t>multi-espécie</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2531629798"/>
                  </a:ext>
                </a:extLst>
              </a:tr>
              <a:tr h="152338">
                <a:tc vMerge="1">
                  <a:txBody>
                    <a:bodyPr/>
                    <a:lstStyle/>
                    <a:p>
                      <a:endParaRPr lang="pt-PT"/>
                    </a:p>
                  </a:txBody>
                  <a:tcPr/>
                </a:tc>
                <a:tc>
                  <a:txBody>
                    <a:bodyPr/>
                    <a:lstStyle/>
                    <a:p>
                      <a:pPr algn="l" fontAlgn="ctr"/>
                      <a:r>
                        <a:rPr lang="pt-PT" sz="1050" u="none" strike="noStrike">
                          <a:effectLst/>
                        </a:rPr>
                        <a:t>SiPhy</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Restrição evolutiva</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1710752860"/>
                  </a:ext>
                </a:extLst>
              </a:tr>
              <a:tr h="152338">
                <a:tc rowSpan="7">
                  <a:txBody>
                    <a:bodyPr/>
                    <a:lstStyle/>
                    <a:p>
                      <a:pPr algn="ctr" fontAlgn="ctr"/>
                      <a:r>
                        <a:rPr lang="pt-PT" sz="1100" b="1" u="none" strike="noStrike" dirty="0" err="1">
                          <a:effectLst/>
                        </a:rPr>
                        <a:t>Splicing</a:t>
                      </a:r>
                      <a:endParaRPr lang="pt-PT" sz="1100" b="1"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err="1">
                          <a:effectLst/>
                          <a:highlight>
                            <a:srgbClr val="FFFF00"/>
                          </a:highlight>
                        </a:rPr>
                        <a:t>SpliceAI</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tc>
                  <a:txBody>
                    <a:bodyPr/>
                    <a:lstStyle/>
                    <a:p>
                      <a:pPr algn="l" fontAlgn="ctr"/>
                      <a:r>
                        <a:rPr lang="pt-PT" sz="1050" u="none" strike="noStrike" dirty="0">
                          <a:effectLst/>
                          <a:highlight>
                            <a:srgbClr val="FFFF00"/>
                          </a:highlight>
                        </a:rPr>
                        <a:t>Predição </a:t>
                      </a:r>
                      <a:r>
                        <a:rPr lang="pt-PT" sz="1050" u="none" strike="noStrike" dirty="0" err="1">
                          <a:effectLst/>
                          <a:highlight>
                            <a:srgbClr val="FFFF00"/>
                          </a:highlight>
                        </a:rPr>
                        <a:t>deep</a:t>
                      </a:r>
                      <a:r>
                        <a:rPr lang="pt-PT" sz="1050" u="none" strike="noStrike" dirty="0">
                          <a:effectLst/>
                          <a:highlight>
                            <a:srgbClr val="FFFF00"/>
                          </a:highlight>
                        </a:rPr>
                        <a:t> </a:t>
                      </a:r>
                      <a:r>
                        <a:rPr lang="pt-PT" sz="1050" u="none" strike="noStrike" dirty="0" err="1">
                          <a:effectLst/>
                          <a:highlight>
                            <a:srgbClr val="FFFF00"/>
                          </a:highlight>
                        </a:rPr>
                        <a:t>learning</a:t>
                      </a:r>
                      <a:r>
                        <a:rPr lang="pt-PT" sz="1050" u="none" strike="noStrike" dirty="0">
                          <a:effectLst/>
                          <a:highlight>
                            <a:srgbClr val="FFFF00"/>
                          </a:highlight>
                        </a:rPr>
                        <a:t> de </a:t>
                      </a:r>
                      <a:r>
                        <a:rPr lang="pt-PT" sz="1050" u="none" strike="noStrike" dirty="0" err="1">
                          <a:effectLst/>
                          <a:highlight>
                            <a:srgbClr val="FFFF00"/>
                          </a:highlight>
                        </a:rPr>
                        <a:t>splicing</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extLst>
                  <a:ext uri="{0D108BD9-81ED-4DB2-BD59-A6C34878D82A}">
                    <a16:rowId xmlns:a16="http://schemas.microsoft.com/office/drawing/2014/main" val="878681097"/>
                  </a:ext>
                </a:extLst>
              </a:tr>
              <a:tr h="105643">
                <a:tc vMerge="1">
                  <a:txBody>
                    <a:bodyPr/>
                    <a:lstStyle/>
                    <a:p>
                      <a:endParaRPr lang="pt-PT"/>
                    </a:p>
                  </a:txBody>
                  <a:tcPr/>
                </a:tc>
                <a:tc>
                  <a:txBody>
                    <a:bodyPr/>
                    <a:lstStyle/>
                    <a:p>
                      <a:pPr algn="l" fontAlgn="ctr"/>
                      <a:r>
                        <a:rPr lang="pt-PT" sz="1050" u="none" strike="noStrike">
                          <a:effectLst/>
                        </a:rPr>
                        <a:t>MaxEntScan</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Força de </a:t>
                      </a:r>
                      <a:r>
                        <a:rPr lang="pt-PT" sz="1050" u="none" strike="noStrike" dirty="0" err="1">
                          <a:effectLst/>
                        </a:rPr>
                        <a:t>splice</a:t>
                      </a:r>
                      <a:r>
                        <a:rPr lang="pt-PT" sz="1050" u="none" strike="noStrike" dirty="0">
                          <a:effectLst/>
                        </a:rPr>
                        <a:t> </a:t>
                      </a:r>
                      <a:r>
                        <a:rPr lang="pt-PT" sz="1050" u="none" strike="noStrike" dirty="0" err="1">
                          <a:effectLst/>
                        </a:rPr>
                        <a:t>donor</a:t>
                      </a:r>
                      <a:r>
                        <a:rPr lang="pt-PT" sz="1050" u="none" strike="noStrike" dirty="0">
                          <a:effectLst/>
                        </a:rPr>
                        <a:t>/</a:t>
                      </a:r>
                      <a:r>
                        <a:rPr lang="pt-PT" sz="1050" u="none" strike="noStrike" dirty="0" err="1">
                          <a:effectLst/>
                        </a:rPr>
                        <a:t>acceptor</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662188490"/>
                  </a:ext>
                </a:extLst>
              </a:tr>
              <a:tr h="152338">
                <a:tc vMerge="1">
                  <a:txBody>
                    <a:bodyPr/>
                    <a:lstStyle/>
                    <a:p>
                      <a:endParaRPr lang="pt-PT"/>
                    </a:p>
                  </a:txBody>
                  <a:tcPr/>
                </a:tc>
                <a:tc>
                  <a:txBody>
                    <a:bodyPr/>
                    <a:lstStyle/>
                    <a:p>
                      <a:pPr algn="l" fontAlgn="ctr"/>
                      <a:r>
                        <a:rPr lang="pt-PT" sz="1050" u="none" strike="noStrike" dirty="0" err="1">
                          <a:effectLst/>
                        </a:rPr>
                        <a:t>NNSplice</a:t>
                      </a:r>
                      <a:endParaRPr lang="pt-PT" sz="1050" b="0"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Predição por redes neuronais</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1220179693"/>
                  </a:ext>
                </a:extLst>
              </a:tr>
              <a:tr h="152338">
                <a:tc vMerge="1">
                  <a:txBody>
                    <a:bodyPr/>
                    <a:lstStyle/>
                    <a:p>
                      <a:endParaRPr lang="pt-PT"/>
                    </a:p>
                  </a:txBody>
                  <a:tcPr/>
                </a:tc>
                <a:tc>
                  <a:txBody>
                    <a:bodyPr/>
                    <a:lstStyle/>
                    <a:p>
                      <a:pPr algn="l" fontAlgn="ctr"/>
                      <a:r>
                        <a:rPr lang="pt-PT" sz="1050" u="none" strike="noStrike">
                          <a:effectLst/>
                        </a:rPr>
                        <a:t>Human Splicing Finder</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Alterações em </a:t>
                      </a:r>
                      <a:r>
                        <a:rPr lang="pt-PT" sz="1050" u="none" strike="noStrike" dirty="0" err="1">
                          <a:effectLst/>
                        </a:rPr>
                        <a:t>motifs</a:t>
                      </a:r>
                      <a:r>
                        <a:rPr lang="pt-PT" sz="1050" u="none" strike="noStrike" dirty="0">
                          <a:effectLst/>
                        </a:rPr>
                        <a:t> de </a:t>
                      </a:r>
                      <a:r>
                        <a:rPr lang="pt-PT" sz="1050" u="none" strike="noStrike" dirty="0" err="1">
                          <a:effectLst/>
                        </a:rPr>
                        <a:t>splicing</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632795352"/>
                  </a:ext>
                </a:extLst>
              </a:tr>
              <a:tr h="152338">
                <a:tc vMerge="1">
                  <a:txBody>
                    <a:bodyPr/>
                    <a:lstStyle/>
                    <a:p>
                      <a:endParaRPr lang="pt-PT"/>
                    </a:p>
                  </a:txBody>
                  <a:tcPr/>
                </a:tc>
                <a:tc>
                  <a:txBody>
                    <a:bodyPr/>
                    <a:lstStyle/>
                    <a:p>
                      <a:pPr algn="l" fontAlgn="ctr"/>
                      <a:r>
                        <a:rPr lang="pt-PT" sz="1050" u="none" strike="noStrike" dirty="0" err="1">
                          <a:effectLst/>
                          <a:highlight>
                            <a:srgbClr val="FFFF00"/>
                          </a:highlight>
                        </a:rPr>
                        <a:t>dbscSNV</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tc>
                  <a:txBody>
                    <a:bodyPr/>
                    <a:lstStyle/>
                    <a:p>
                      <a:pPr algn="l" fontAlgn="ctr"/>
                      <a:r>
                        <a:rPr lang="pt-PT" sz="1050" u="none" strike="noStrike" dirty="0" err="1">
                          <a:effectLst/>
                          <a:highlight>
                            <a:srgbClr val="FFFF00"/>
                          </a:highlight>
                        </a:rPr>
                        <a:t>AdaBoost</a:t>
                      </a:r>
                      <a:r>
                        <a:rPr lang="pt-PT" sz="1050" u="none" strike="noStrike" dirty="0">
                          <a:effectLst/>
                          <a:highlight>
                            <a:srgbClr val="FFFF00"/>
                          </a:highlight>
                        </a:rPr>
                        <a:t>/</a:t>
                      </a:r>
                      <a:r>
                        <a:rPr lang="pt-PT" sz="1050" u="none" strike="noStrike" dirty="0" err="1">
                          <a:effectLst/>
                          <a:highlight>
                            <a:srgbClr val="FFFF00"/>
                          </a:highlight>
                        </a:rPr>
                        <a:t>Random</a:t>
                      </a:r>
                      <a:r>
                        <a:rPr lang="pt-PT" sz="1050" u="none" strike="noStrike" dirty="0">
                          <a:effectLst/>
                          <a:highlight>
                            <a:srgbClr val="FFFF00"/>
                          </a:highlight>
                        </a:rPr>
                        <a:t> </a:t>
                      </a:r>
                      <a:r>
                        <a:rPr lang="pt-PT" sz="1050" u="none" strike="noStrike" dirty="0" err="1">
                          <a:effectLst/>
                          <a:highlight>
                            <a:srgbClr val="FFFF00"/>
                          </a:highlight>
                        </a:rPr>
                        <a:t>Forest</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extLst>
                  <a:ext uri="{0D108BD9-81ED-4DB2-BD59-A6C34878D82A}">
                    <a16:rowId xmlns:a16="http://schemas.microsoft.com/office/drawing/2014/main" val="3503349752"/>
                  </a:ext>
                </a:extLst>
              </a:tr>
              <a:tr h="152338">
                <a:tc vMerge="1">
                  <a:txBody>
                    <a:bodyPr/>
                    <a:lstStyle/>
                    <a:p>
                      <a:endParaRPr lang="pt-PT"/>
                    </a:p>
                  </a:txBody>
                  <a:tcPr/>
                </a:tc>
                <a:tc>
                  <a:txBody>
                    <a:bodyPr/>
                    <a:lstStyle/>
                    <a:p>
                      <a:pPr algn="l" fontAlgn="ctr"/>
                      <a:r>
                        <a:rPr lang="pt-PT" sz="1050" u="none" strike="noStrike" dirty="0" err="1">
                          <a:effectLst/>
                        </a:rPr>
                        <a:t>Spidex</a:t>
                      </a:r>
                      <a:endParaRPr lang="pt-PT" sz="1050" b="0"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Impacto no PSI</a:t>
                      </a:r>
                      <a:endParaRPr lang="pt-PT" sz="1050" b="0" i="0" u="none" strike="noStrike">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3421067653"/>
                  </a:ext>
                </a:extLst>
              </a:tr>
              <a:tr h="152338">
                <a:tc vMerge="1">
                  <a:txBody>
                    <a:bodyPr/>
                    <a:lstStyle/>
                    <a:p>
                      <a:endParaRPr lang="pt-PT"/>
                    </a:p>
                  </a:txBody>
                  <a:tcPr/>
                </a:tc>
                <a:tc>
                  <a:txBody>
                    <a:bodyPr/>
                    <a:lstStyle/>
                    <a:p>
                      <a:pPr algn="l" fontAlgn="ctr"/>
                      <a:r>
                        <a:rPr lang="pt-PT" sz="1050" u="none" strike="noStrike">
                          <a:effectLst/>
                        </a:rPr>
                        <a:t>MMSplice</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err="1">
                          <a:effectLst/>
                        </a:rPr>
                        <a:t>Deep</a:t>
                      </a:r>
                      <a:r>
                        <a:rPr lang="pt-PT" sz="1050" u="none" strike="noStrike" dirty="0">
                          <a:effectLst/>
                        </a:rPr>
                        <a:t> </a:t>
                      </a:r>
                      <a:r>
                        <a:rPr lang="pt-PT" sz="1050" u="none" strike="noStrike" dirty="0" err="1">
                          <a:effectLst/>
                        </a:rPr>
                        <a:t>learning</a:t>
                      </a:r>
                      <a:r>
                        <a:rPr lang="pt-PT" sz="1050" u="none" strike="noStrike" dirty="0">
                          <a:effectLst/>
                        </a:rPr>
                        <a:t> modular</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1221223856"/>
                  </a:ext>
                </a:extLst>
              </a:tr>
              <a:tr h="152338">
                <a:tc rowSpan="2">
                  <a:txBody>
                    <a:bodyPr/>
                    <a:lstStyle/>
                    <a:p>
                      <a:pPr algn="ctr" fontAlgn="ctr"/>
                      <a:r>
                        <a:rPr lang="pt-PT" sz="1100" b="1" u="none" strike="noStrike" dirty="0" err="1">
                          <a:effectLst/>
                        </a:rPr>
                        <a:t>Loss-of-function</a:t>
                      </a:r>
                      <a:endParaRPr lang="pt-PT" sz="1100" b="1"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highlight>
                            <a:srgbClr val="FFFF00"/>
                          </a:highlight>
                        </a:rPr>
                        <a:t>LOFTEE</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tc>
                  <a:txBody>
                    <a:bodyPr/>
                    <a:lstStyle/>
                    <a:p>
                      <a:pPr algn="l" fontAlgn="ctr"/>
                      <a:r>
                        <a:rPr lang="pt-PT" sz="1050" u="none" strike="noStrike" dirty="0">
                          <a:effectLst/>
                          <a:highlight>
                            <a:srgbClr val="FFFF00"/>
                          </a:highlight>
                        </a:rPr>
                        <a:t>Filtra falsas variantes </a:t>
                      </a:r>
                      <a:r>
                        <a:rPr lang="pt-PT" sz="1050" u="none" strike="noStrike" dirty="0" err="1">
                          <a:effectLst/>
                          <a:highlight>
                            <a:srgbClr val="FFFF00"/>
                          </a:highlight>
                        </a:rPr>
                        <a:t>LoF</a:t>
                      </a:r>
                      <a:endParaRPr lang="pt-PT" sz="1050" b="0" i="0" u="none" strike="noStrike" dirty="0">
                        <a:solidFill>
                          <a:srgbClr val="000000"/>
                        </a:solidFill>
                        <a:effectLst/>
                        <a:highlight>
                          <a:srgbClr val="FFFF00"/>
                        </a:highlight>
                        <a:latin typeface="Aptos Narrow" panose="020B0004020202020204" pitchFamily="34" charset="0"/>
                      </a:endParaRPr>
                    </a:p>
                  </a:txBody>
                  <a:tcPr marL="4356" marR="4356" marT="4356" marB="0" anchor="ctr"/>
                </a:tc>
                <a:extLst>
                  <a:ext uri="{0D108BD9-81ED-4DB2-BD59-A6C34878D82A}">
                    <a16:rowId xmlns:a16="http://schemas.microsoft.com/office/drawing/2014/main" val="2833175448"/>
                  </a:ext>
                </a:extLst>
              </a:tr>
              <a:tr h="152338">
                <a:tc vMerge="1">
                  <a:txBody>
                    <a:bodyPr/>
                    <a:lstStyle/>
                    <a:p>
                      <a:endParaRPr lang="pt-PT"/>
                    </a:p>
                  </a:txBody>
                  <a:tcPr/>
                </a:tc>
                <a:tc>
                  <a:txBody>
                    <a:bodyPr/>
                    <a:lstStyle/>
                    <a:p>
                      <a:pPr algn="l" fontAlgn="ctr"/>
                      <a:r>
                        <a:rPr lang="pt-PT" sz="1050" u="none" strike="noStrike">
                          <a:effectLst/>
                        </a:rPr>
                        <a:t>ALoFT</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Predição </a:t>
                      </a:r>
                      <a:r>
                        <a:rPr lang="pt-PT" sz="1050" u="none" strike="noStrike" dirty="0" err="1">
                          <a:effectLst/>
                        </a:rPr>
                        <a:t>benign</a:t>
                      </a:r>
                      <a:r>
                        <a:rPr lang="pt-PT" sz="1050" u="none" strike="noStrike" dirty="0">
                          <a:effectLst/>
                        </a:rPr>
                        <a:t>/</a:t>
                      </a:r>
                      <a:r>
                        <a:rPr lang="pt-PT" sz="1050" u="none" strike="noStrike" dirty="0" err="1">
                          <a:effectLst/>
                        </a:rPr>
                        <a:t>pathogenic</a:t>
                      </a:r>
                      <a:r>
                        <a:rPr lang="pt-PT" sz="1050" u="none" strike="noStrike" dirty="0">
                          <a:effectLst/>
                        </a:rPr>
                        <a:t> </a:t>
                      </a:r>
                      <a:r>
                        <a:rPr lang="pt-PT" sz="1050" u="none" strike="noStrike" dirty="0" err="1">
                          <a:effectLst/>
                        </a:rPr>
                        <a:t>LoF</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2035546610"/>
                  </a:ext>
                </a:extLst>
              </a:tr>
              <a:tr h="152338">
                <a:tc rowSpan="4">
                  <a:txBody>
                    <a:bodyPr/>
                    <a:lstStyle/>
                    <a:p>
                      <a:pPr algn="ctr" fontAlgn="ctr"/>
                      <a:r>
                        <a:rPr lang="pt-PT" sz="1100" b="1" u="none" strike="noStrike" dirty="0">
                          <a:effectLst/>
                        </a:rPr>
                        <a:t>Ensemble/meta-</a:t>
                      </a:r>
                      <a:r>
                        <a:rPr lang="pt-PT" sz="1100" b="1" u="none" strike="noStrike" dirty="0" err="1">
                          <a:effectLst/>
                        </a:rPr>
                        <a:t>predictor</a:t>
                      </a:r>
                      <a:endParaRPr lang="pt-PT" sz="1100" b="1"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ClinPred</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Predição clínica integrada</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173796724"/>
                  </a:ext>
                </a:extLst>
              </a:tr>
              <a:tr h="152338">
                <a:tc vMerge="1">
                  <a:txBody>
                    <a:bodyPr/>
                    <a:lstStyle/>
                    <a:p>
                      <a:endParaRPr lang="pt-PT"/>
                    </a:p>
                  </a:txBody>
                  <a:tcPr/>
                </a:tc>
                <a:tc>
                  <a:txBody>
                    <a:bodyPr/>
                    <a:lstStyle/>
                    <a:p>
                      <a:pPr algn="l" fontAlgn="ctr"/>
                      <a:r>
                        <a:rPr lang="pt-PT" sz="1050" u="none" strike="noStrike">
                          <a:effectLst/>
                        </a:rPr>
                        <a:t>BayesDel</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Modelo </a:t>
                      </a:r>
                      <a:r>
                        <a:rPr lang="pt-PT" sz="1050" u="none" strike="noStrike" dirty="0" err="1">
                          <a:effectLst/>
                        </a:rPr>
                        <a:t>Bayesiano</a:t>
                      </a:r>
                      <a:r>
                        <a:rPr lang="pt-PT" sz="1050" u="none" strike="noStrike" dirty="0">
                          <a:effectLst/>
                        </a:rPr>
                        <a:t> integrado</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2368761195"/>
                  </a:ext>
                </a:extLst>
              </a:tr>
              <a:tr h="152338">
                <a:tc vMerge="1">
                  <a:txBody>
                    <a:bodyPr/>
                    <a:lstStyle/>
                    <a:p>
                      <a:endParaRPr lang="pt-PT"/>
                    </a:p>
                  </a:txBody>
                  <a:tcPr/>
                </a:tc>
                <a:tc>
                  <a:txBody>
                    <a:bodyPr/>
                    <a:lstStyle/>
                    <a:p>
                      <a:pPr algn="l" fontAlgn="ctr"/>
                      <a:r>
                        <a:rPr lang="pt-PT" sz="1050" u="none" strike="noStrike">
                          <a:effectLst/>
                        </a:rPr>
                        <a:t>MetaRNN</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err="1">
                          <a:effectLst/>
                        </a:rPr>
                        <a:t>Deep</a:t>
                      </a:r>
                      <a:r>
                        <a:rPr lang="pt-PT" sz="1050" u="none" strike="noStrike" dirty="0">
                          <a:effectLst/>
                        </a:rPr>
                        <a:t> </a:t>
                      </a:r>
                      <a:r>
                        <a:rPr lang="pt-PT" sz="1050" u="none" strike="noStrike" dirty="0" err="1">
                          <a:effectLst/>
                        </a:rPr>
                        <a:t>learning</a:t>
                      </a:r>
                      <a:r>
                        <a:rPr lang="pt-PT" sz="1050" u="none" strike="noStrike" dirty="0">
                          <a:effectLst/>
                        </a:rPr>
                        <a:t> recorrente</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1035641546"/>
                  </a:ext>
                </a:extLst>
              </a:tr>
              <a:tr h="152338">
                <a:tc vMerge="1">
                  <a:txBody>
                    <a:bodyPr/>
                    <a:lstStyle/>
                    <a:p>
                      <a:endParaRPr lang="pt-PT"/>
                    </a:p>
                  </a:txBody>
                  <a:tcPr/>
                </a:tc>
                <a:tc>
                  <a:txBody>
                    <a:bodyPr/>
                    <a:lstStyle/>
                    <a:p>
                      <a:pPr algn="l" fontAlgn="ctr"/>
                      <a:r>
                        <a:rPr lang="pt-PT" sz="1050" u="none" strike="noStrike">
                          <a:effectLst/>
                        </a:rPr>
                        <a:t>MISTIC</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Integra conservação e estrutura</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903023534"/>
                  </a:ext>
                </a:extLst>
              </a:tr>
              <a:tr h="152338">
                <a:tc rowSpan="3">
                  <a:txBody>
                    <a:bodyPr/>
                    <a:lstStyle/>
                    <a:p>
                      <a:pPr algn="ctr" fontAlgn="ctr"/>
                      <a:r>
                        <a:rPr lang="pt-PT" sz="1100" b="1" u="none" strike="noStrike" dirty="0" err="1">
                          <a:effectLst/>
                        </a:rPr>
                        <a:t>CNVs</a:t>
                      </a:r>
                      <a:r>
                        <a:rPr lang="pt-PT" sz="1100" b="1" u="none" strike="noStrike" dirty="0">
                          <a:effectLst/>
                        </a:rPr>
                        <a:t>/</a:t>
                      </a:r>
                      <a:r>
                        <a:rPr lang="pt-PT" sz="1100" b="1" u="none" strike="noStrike" dirty="0" err="1">
                          <a:effectLst/>
                        </a:rPr>
                        <a:t>SVs</a:t>
                      </a:r>
                      <a:endParaRPr lang="pt-PT" sz="1100" b="1" i="0" u="none" strike="noStrike" dirty="0">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a:effectLst/>
                        </a:rPr>
                        <a:t>StrVCTVRE</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Predição de patogenicidade estrutural</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1459538075"/>
                  </a:ext>
                </a:extLst>
              </a:tr>
              <a:tr h="152338">
                <a:tc vMerge="1">
                  <a:txBody>
                    <a:bodyPr/>
                    <a:lstStyle/>
                    <a:p>
                      <a:endParaRPr lang="pt-PT"/>
                    </a:p>
                  </a:txBody>
                  <a:tcPr/>
                </a:tc>
                <a:tc>
                  <a:txBody>
                    <a:bodyPr/>
                    <a:lstStyle/>
                    <a:p>
                      <a:pPr algn="l" fontAlgn="ctr"/>
                      <a:r>
                        <a:rPr lang="pt-PT" sz="1050" u="none" strike="noStrike">
                          <a:effectLst/>
                        </a:rPr>
                        <a:t>SVScore</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Impacto funcional de </a:t>
                      </a:r>
                      <a:r>
                        <a:rPr lang="pt-PT" sz="1050" u="none" strike="noStrike" dirty="0" err="1">
                          <a:effectLst/>
                        </a:rPr>
                        <a:t>SVs</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796367174"/>
                  </a:ext>
                </a:extLst>
              </a:tr>
              <a:tr h="152338">
                <a:tc vMerge="1">
                  <a:txBody>
                    <a:bodyPr/>
                    <a:lstStyle/>
                    <a:p>
                      <a:endParaRPr lang="pt-PT"/>
                    </a:p>
                  </a:txBody>
                  <a:tcPr/>
                </a:tc>
                <a:tc>
                  <a:txBody>
                    <a:bodyPr/>
                    <a:lstStyle/>
                    <a:p>
                      <a:pPr algn="l" fontAlgn="ctr"/>
                      <a:r>
                        <a:rPr lang="pt-PT" sz="1050" u="none" strike="noStrike">
                          <a:effectLst/>
                        </a:rPr>
                        <a:t>ClassifyCNV</a:t>
                      </a:r>
                      <a:endParaRPr lang="pt-PT" sz="1050" b="0" i="0" u="none" strike="noStrike">
                        <a:solidFill>
                          <a:srgbClr val="000000"/>
                        </a:solidFill>
                        <a:effectLst/>
                        <a:latin typeface="Aptos Narrow" panose="020B0004020202020204" pitchFamily="34" charset="0"/>
                      </a:endParaRPr>
                    </a:p>
                  </a:txBody>
                  <a:tcPr marL="4356" marR="4356" marT="4356" marB="0" anchor="ctr"/>
                </a:tc>
                <a:tc>
                  <a:txBody>
                    <a:bodyPr/>
                    <a:lstStyle/>
                    <a:p>
                      <a:pPr algn="l" fontAlgn="ctr"/>
                      <a:r>
                        <a:rPr lang="pt-PT" sz="1050" u="none" strike="noStrike" dirty="0">
                          <a:effectLst/>
                        </a:rPr>
                        <a:t>Classificação ACMG de </a:t>
                      </a:r>
                      <a:r>
                        <a:rPr lang="pt-PT" sz="1050" u="none" strike="noStrike" dirty="0" err="1">
                          <a:effectLst/>
                        </a:rPr>
                        <a:t>CNVs</a:t>
                      </a:r>
                      <a:endParaRPr lang="pt-PT" sz="1050" b="0" i="0" u="none" strike="noStrike" dirty="0">
                        <a:solidFill>
                          <a:srgbClr val="000000"/>
                        </a:solidFill>
                        <a:effectLst/>
                        <a:latin typeface="Aptos Narrow" panose="020B0004020202020204" pitchFamily="34" charset="0"/>
                      </a:endParaRPr>
                    </a:p>
                  </a:txBody>
                  <a:tcPr marL="4356" marR="4356" marT="4356" marB="0" anchor="ctr"/>
                </a:tc>
                <a:extLst>
                  <a:ext uri="{0D108BD9-81ED-4DB2-BD59-A6C34878D82A}">
                    <a16:rowId xmlns:a16="http://schemas.microsoft.com/office/drawing/2014/main" val="2726775520"/>
                  </a:ext>
                </a:extLst>
              </a:tr>
            </a:tbl>
          </a:graphicData>
        </a:graphic>
      </p:graphicFrame>
    </p:spTree>
    <p:extLst>
      <p:ext uri="{BB962C8B-B14F-4D97-AF65-F5344CB8AC3E}">
        <p14:creationId xmlns:p14="http://schemas.microsoft.com/office/powerpoint/2010/main" val="3685740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A394F3-513C-AB27-6F95-7FA80B93E6F0}"/>
              </a:ext>
            </a:extLst>
          </p:cNvPr>
          <p:cNvSpPr>
            <a:spLocks noGrp="1"/>
          </p:cNvSpPr>
          <p:nvPr>
            <p:ph type="title"/>
          </p:nvPr>
        </p:nvSpPr>
        <p:spPr>
          <a:xfrm>
            <a:off x="350520" y="-92075"/>
            <a:ext cx="10515600" cy="1325563"/>
          </a:xfrm>
        </p:spPr>
        <p:txBody>
          <a:bodyPr/>
          <a:lstStyle/>
          <a:p>
            <a:r>
              <a:rPr lang="pt-PT" dirty="0"/>
              <a:t>Exemplos</a:t>
            </a:r>
          </a:p>
        </p:txBody>
      </p:sp>
      <p:sp>
        <p:nvSpPr>
          <p:cNvPr id="4" name="Marcador de Posição do Número do Diapositivo 3">
            <a:extLst>
              <a:ext uri="{FF2B5EF4-FFF2-40B4-BE49-F238E27FC236}">
                <a16:creationId xmlns:a16="http://schemas.microsoft.com/office/drawing/2014/main" id="{8BCAB6A9-7AC1-9DC1-D362-CF8A36273A0A}"/>
              </a:ext>
            </a:extLst>
          </p:cNvPr>
          <p:cNvSpPr>
            <a:spLocks noGrp="1"/>
          </p:cNvSpPr>
          <p:nvPr>
            <p:ph type="sldNum" sz="quarter" idx="12"/>
          </p:nvPr>
        </p:nvSpPr>
        <p:spPr/>
        <p:txBody>
          <a:bodyPr/>
          <a:lstStyle/>
          <a:p>
            <a:fld id="{6D49FC33-1B8E-4C1B-8D07-84B8EBAC733E}" type="slidenum">
              <a:rPr lang="en-GB" smtClean="0"/>
              <a:t>22</a:t>
            </a:fld>
            <a:endParaRPr lang="en-GB"/>
          </a:p>
        </p:txBody>
      </p:sp>
      <p:sp>
        <p:nvSpPr>
          <p:cNvPr id="7" name="CaixaDeTexto 6">
            <a:extLst>
              <a:ext uri="{FF2B5EF4-FFF2-40B4-BE49-F238E27FC236}">
                <a16:creationId xmlns:a16="http://schemas.microsoft.com/office/drawing/2014/main" id="{9BF33610-5105-CF08-18A8-31D08A47EECE}"/>
              </a:ext>
            </a:extLst>
          </p:cNvPr>
          <p:cNvSpPr txBox="1"/>
          <p:nvPr/>
        </p:nvSpPr>
        <p:spPr>
          <a:xfrm>
            <a:off x="1178560" y="1859895"/>
            <a:ext cx="3802380" cy="923330"/>
          </a:xfrm>
          <a:prstGeom prst="rect">
            <a:avLst/>
          </a:prstGeom>
          <a:noFill/>
        </p:spPr>
        <p:txBody>
          <a:bodyPr wrap="square">
            <a:spAutoFit/>
          </a:bodyPr>
          <a:lstStyle/>
          <a:p>
            <a:r>
              <a:rPr lang="pt-PT" b="0" i="0" u="none" strike="noStrike" dirty="0">
                <a:solidFill>
                  <a:srgbClr val="9B287B"/>
                </a:solidFill>
                <a:effectLst/>
                <a:latin typeface="-apple-system"/>
                <a:hlinkClick r:id="rId2"/>
              </a:rPr>
              <a:t>NM_000277.3:c.1218A&gt;G</a:t>
            </a:r>
            <a:endParaRPr lang="pt-PT" b="0" i="0" u="none" strike="noStrike" dirty="0">
              <a:solidFill>
                <a:srgbClr val="9B287B"/>
              </a:solidFill>
              <a:effectLst/>
              <a:latin typeface="-apple-system"/>
            </a:endParaRPr>
          </a:p>
          <a:p>
            <a:r>
              <a:rPr lang="pt-PT" sz="1800" dirty="0" err="1">
                <a:solidFill>
                  <a:srgbClr val="9B287B"/>
                </a:solidFill>
                <a:latin typeface="-apple-system"/>
              </a:rPr>
              <a:t>Missense</a:t>
            </a:r>
            <a:endParaRPr lang="pt-PT" sz="1800" dirty="0">
              <a:solidFill>
                <a:srgbClr val="9B287B"/>
              </a:solidFill>
              <a:latin typeface="-apple-system"/>
            </a:endParaRPr>
          </a:p>
          <a:p>
            <a:r>
              <a:rPr lang="pt-PT" dirty="0" err="1">
                <a:solidFill>
                  <a:srgbClr val="9B287B"/>
                </a:solidFill>
                <a:latin typeface="-apple-system"/>
              </a:rPr>
              <a:t>Classified</a:t>
            </a:r>
            <a:r>
              <a:rPr lang="pt-PT" dirty="0">
                <a:solidFill>
                  <a:srgbClr val="9B287B"/>
                </a:solidFill>
                <a:latin typeface="-apple-system"/>
              </a:rPr>
              <a:t> as </a:t>
            </a:r>
            <a:r>
              <a:rPr lang="pt-PT" dirty="0" err="1">
                <a:solidFill>
                  <a:srgbClr val="9B287B"/>
                </a:solidFill>
                <a:latin typeface="-apple-system"/>
              </a:rPr>
              <a:t>Likelly</a:t>
            </a:r>
            <a:r>
              <a:rPr lang="pt-PT" dirty="0">
                <a:solidFill>
                  <a:srgbClr val="9B287B"/>
                </a:solidFill>
                <a:latin typeface="-apple-system"/>
              </a:rPr>
              <a:t> </a:t>
            </a:r>
            <a:r>
              <a:rPr lang="pt-PT" dirty="0" err="1">
                <a:solidFill>
                  <a:srgbClr val="9B287B"/>
                </a:solidFill>
                <a:latin typeface="-apple-system"/>
              </a:rPr>
              <a:t>pathogenic</a:t>
            </a:r>
            <a:endParaRPr lang="en-GB" sz="1800" dirty="0">
              <a:solidFill>
                <a:srgbClr val="0070C0"/>
              </a:solidFill>
            </a:endParaRPr>
          </a:p>
        </p:txBody>
      </p:sp>
      <p:sp>
        <p:nvSpPr>
          <p:cNvPr id="15" name="CaixaDeTexto 14">
            <a:extLst>
              <a:ext uri="{FF2B5EF4-FFF2-40B4-BE49-F238E27FC236}">
                <a16:creationId xmlns:a16="http://schemas.microsoft.com/office/drawing/2014/main" id="{714A28E5-0EDF-7CB7-1276-7E8ECAB4EC3E}"/>
              </a:ext>
            </a:extLst>
          </p:cNvPr>
          <p:cNvSpPr txBox="1"/>
          <p:nvPr/>
        </p:nvSpPr>
        <p:spPr>
          <a:xfrm>
            <a:off x="1198880" y="2964656"/>
            <a:ext cx="6096000" cy="1200329"/>
          </a:xfrm>
          <a:prstGeom prst="rect">
            <a:avLst/>
          </a:prstGeom>
          <a:noFill/>
        </p:spPr>
        <p:txBody>
          <a:bodyPr wrap="square">
            <a:spAutoFit/>
          </a:bodyPr>
          <a:lstStyle/>
          <a:p>
            <a:r>
              <a:rPr lang="pt-PT" dirty="0"/>
              <a:t>REVEL </a:t>
            </a:r>
            <a:r>
              <a:rPr lang="pt-PT" b="0" i="0" dirty="0">
                <a:solidFill>
                  <a:srgbClr val="FF0000"/>
                </a:solidFill>
                <a:effectLst/>
                <a:latin typeface="-apple-system"/>
              </a:rPr>
              <a:t>0.775</a:t>
            </a:r>
            <a:endParaRPr lang="pt-PT" dirty="0">
              <a:solidFill>
                <a:srgbClr val="FF0000"/>
              </a:solidFill>
            </a:endParaRPr>
          </a:p>
          <a:p>
            <a:r>
              <a:rPr lang="pt-PT" dirty="0"/>
              <a:t>CADD </a:t>
            </a:r>
            <a:r>
              <a:rPr lang="pt-PT" dirty="0">
                <a:solidFill>
                  <a:srgbClr val="00B050"/>
                </a:solidFill>
              </a:rPr>
              <a:t>23.1</a:t>
            </a:r>
          </a:p>
          <a:p>
            <a:r>
              <a:rPr lang="pt-PT" dirty="0"/>
              <a:t>PolyPhen-2  </a:t>
            </a:r>
            <a:r>
              <a:rPr lang="pt-PT" dirty="0">
                <a:solidFill>
                  <a:srgbClr val="00B050"/>
                </a:solidFill>
              </a:rPr>
              <a:t>0.932</a:t>
            </a:r>
          </a:p>
          <a:p>
            <a:r>
              <a:rPr lang="pt-PT" dirty="0"/>
              <a:t>SIFT </a:t>
            </a:r>
            <a:r>
              <a:rPr lang="pt-PT" dirty="0">
                <a:solidFill>
                  <a:srgbClr val="FF0000"/>
                </a:solidFill>
              </a:rPr>
              <a:t>0.01</a:t>
            </a:r>
          </a:p>
        </p:txBody>
      </p:sp>
      <p:sp>
        <p:nvSpPr>
          <p:cNvPr id="17" name="CaixaDeTexto 16">
            <a:extLst>
              <a:ext uri="{FF2B5EF4-FFF2-40B4-BE49-F238E27FC236}">
                <a16:creationId xmlns:a16="http://schemas.microsoft.com/office/drawing/2014/main" id="{5A9C1366-8BBC-E4B9-0364-065A77AEAAE1}"/>
              </a:ext>
            </a:extLst>
          </p:cNvPr>
          <p:cNvSpPr txBox="1"/>
          <p:nvPr/>
        </p:nvSpPr>
        <p:spPr>
          <a:xfrm>
            <a:off x="6299200" y="1720334"/>
            <a:ext cx="6096000" cy="923330"/>
          </a:xfrm>
          <a:prstGeom prst="rect">
            <a:avLst/>
          </a:prstGeom>
          <a:noFill/>
        </p:spPr>
        <p:txBody>
          <a:bodyPr wrap="square">
            <a:spAutoFit/>
          </a:bodyPr>
          <a:lstStyle/>
          <a:p>
            <a:r>
              <a:rPr lang="nn-NO" b="0" i="0" u="none" strike="noStrike" dirty="0">
                <a:solidFill>
                  <a:srgbClr val="9B287B"/>
                </a:solidFill>
                <a:effectLst/>
                <a:latin typeface="-apple-system"/>
                <a:hlinkClick r:id="rId2"/>
              </a:rPr>
              <a:t>NM_000193.4:c.1270C&gt;G</a:t>
            </a:r>
            <a:endParaRPr lang="nn-NO" b="0" i="0" u="none" strike="noStrike" dirty="0">
              <a:solidFill>
                <a:srgbClr val="9B287B"/>
              </a:solidFill>
              <a:effectLst/>
              <a:latin typeface="-apple-system"/>
            </a:endParaRPr>
          </a:p>
          <a:p>
            <a:r>
              <a:rPr lang="nn-NO" dirty="0">
                <a:solidFill>
                  <a:srgbClr val="9B287B"/>
                </a:solidFill>
                <a:latin typeface="-apple-system"/>
              </a:rPr>
              <a:t>Missense</a:t>
            </a:r>
          </a:p>
          <a:p>
            <a:r>
              <a:rPr lang="nn-NO" dirty="0">
                <a:solidFill>
                  <a:srgbClr val="9B287B"/>
                </a:solidFill>
                <a:latin typeface="-apple-system"/>
              </a:rPr>
              <a:t>Classified as pathogenic</a:t>
            </a:r>
            <a:endParaRPr lang="pt-PT" dirty="0"/>
          </a:p>
        </p:txBody>
      </p:sp>
      <p:sp>
        <p:nvSpPr>
          <p:cNvPr id="18" name="CaixaDeTexto 17">
            <a:extLst>
              <a:ext uri="{FF2B5EF4-FFF2-40B4-BE49-F238E27FC236}">
                <a16:creationId xmlns:a16="http://schemas.microsoft.com/office/drawing/2014/main" id="{E6C9065D-2C37-ED17-7324-428781DB083F}"/>
              </a:ext>
            </a:extLst>
          </p:cNvPr>
          <p:cNvSpPr txBox="1"/>
          <p:nvPr/>
        </p:nvSpPr>
        <p:spPr>
          <a:xfrm>
            <a:off x="6360160" y="3005296"/>
            <a:ext cx="6096000" cy="1200329"/>
          </a:xfrm>
          <a:prstGeom prst="rect">
            <a:avLst/>
          </a:prstGeom>
          <a:noFill/>
        </p:spPr>
        <p:txBody>
          <a:bodyPr wrap="square">
            <a:spAutoFit/>
          </a:bodyPr>
          <a:lstStyle/>
          <a:p>
            <a:r>
              <a:rPr lang="pt-PT" dirty="0"/>
              <a:t>REVEL </a:t>
            </a:r>
            <a:r>
              <a:rPr lang="pt-PT" b="0" i="0" dirty="0">
                <a:solidFill>
                  <a:srgbClr val="00B050"/>
                </a:solidFill>
                <a:effectLst/>
                <a:latin typeface="-apple-system"/>
              </a:rPr>
              <a:t>0.499</a:t>
            </a:r>
            <a:endParaRPr lang="pt-PT" dirty="0">
              <a:solidFill>
                <a:srgbClr val="00B050"/>
              </a:solidFill>
            </a:endParaRPr>
          </a:p>
          <a:p>
            <a:r>
              <a:rPr lang="pt-PT" dirty="0"/>
              <a:t>CADD </a:t>
            </a:r>
            <a:r>
              <a:rPr lang="pt-PT" dirty="0">
                <a:solidFill>
                  <a:srgbClr val="00B050"/>
                </a:solidFill>
              </a:rPr>
              <a:t>11.1</a:t>
            </a:r>
          </a:p>
          <a:p>
            <a:r>
              <a:rPr lang="pt-PT" dirty="0"/>
              <a:t>PolyPhen-2  </a:t>
            </a:r>
            <a:r>
              <a:rPr lang="pt-PT" dirty="0">
                <a:solidFill>
                  <a:srgbClr val="00B050"/>
                </a:solidFill>
              </a:rPr>
              <a:t>0.00</a:t>
            </a:r>
          </a:p>
          <a:p>
            <a:r>
              <a:rPr lang="pt-PT" dirty="0"/>
              <a:t>SIFT </a:t>
            </a:r>
            <a:r>
              <a:rPr lang="pt-PT" dirty="0">
                <a:solidFill>
                  <a:srgbClr val="00B050"/>
                </a:solidFill>
              </a:rPr>
              <a:t>0.18</a:t>
            </a:r>
          </a:p>
        </p:txBody>
      </p:sp>
      <p:sp>
        <p:nvSpPr>
          <p:cNvPr id="21" name="CaixaDeTexto 20">
            <a:extLst>
              <a:ext uri="{FF2B5EF4-FFF2-40B4-BE49-F238E27FC236}">
                <a16:creationId xmlns:a16="http://schemas.microsoft.com/office/drawing/2014/main" id="{D0816867-A33E-AF47-E11E-CD3B230B2C40}"/>
              </a:ext>
            </a:extLst>
          </p:cNvPr>
          <p:cNvSpPr txBox="1"/>
          <p:nvPr/>
        </p:nvSpPr>
        <p:spPr>
          <a:xfrm>
            <a:off x="350520" y="957282"/>
            <a:ext cx="11490960" cy="646331"/>
          </a:xfrm>
          <a:prstGeom prst="rect">
            <a:avLst/>
          </a:prstGeom>
          <a:noFill/>
        </p:spPr>
        <p:txBody>
          <a:bodyPr wrap="square">
            <a:spAutoFit/>
          </a:bodyPr>
          <a:lstStyle/>
          <a:p>
            <a:r>
              <a:rPr lang="pt-PT" b="1" dirty="0">
                <a:solidFill>
                  <a:srgbClr val="0070C0"/>
                </a:solidFill>
              </a:rPr>
              <a:t>No entanto é comum a existência de predições contraditórias entre algoritmos, ou variantes já classificadas como patogénicas com scores que não apontam para essa classificação</a:t>
            </a:r>
          </a:p>
        </p:txBody>
      </p:sp>
      <p:sp>
        <p:nvSpPr>
          <p:cNvPr id="19" name="Retângulo 18">
            <a:extLst>
              <a:ext uri="{FF2B5EF4-FFF2-40B4-BE49-F238E27FC236}">
                <a16:creationId xmlns:a16="http://schemas.microsoft.com/office/drawing/2014/main" id="{443D7AEC-F761-409D-B8A3-20F8752118EC}"/>
              </a:ext>
            </a:extLst>
          </p:cNvPr>
          <p:cNvSpPr/>
          <p:nvPr/>
        </p:nvSpPr>
        <p:spPr>
          <a:xfrm>
            <a:off x="843281" y="4528385"/>
            <a:ext cx="3686782" cy="18482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4" descr="Using gnomAD to Drive Insights in Precision Medicine">
            <a:extLst>
              <a:ext uri="{FF2B5EF4-FFF2-40B4-BE49-F238E27FC236}">
                <a16:creationId xmlns:a16="http://schemas.microsoft.com/office/drawing/2014/main" id="{7A49B42F-D9E7-A393-BCA7-192AF762E3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967" t="14011" r="7400" b="6835"/>
          <a:stretch/>
        </p:blipFill>
        <p:spPr bwMode="auto">
          <a:xfrm>
            <a:off x="1028106" y="4713214"/>
            <a:ext cx="3307404" cy="1449422"/>
          </a:xfrm>
          <a:prstGeom prst="rect">
            <a:avLst/>
          </a:prstGeom>
          <a:noFill/>
          <a:extLst>
            <a:ext uri="{909E8E84-426E-40DD-AFC4-6F175D3DCCD1}">
              <a14:hiddenFill xmlns:a14="http://schemas.microsoft.com/office/drawing/2010/main">
                <a:solidFill>
                  <a:srgbClr val="FFFFFF"/>
                </a:solidFill>
              </a14:hiddenFill>
            </a:ext>
          </a:extLst>
        </p:spPr>
      </p:pic>
      <p:sp>
        <p:nvSpPr>
          <p:cNvPr id="22" name="CaixaDeTexto 21">
            <a:extLst>
              <a:ext uri="{FF2B5EF4-FFF2-40B4-BE49-F238E27FC236}">
                <a16:creationId xmlns:a16="http://schemas.microsoft.com/office/drawing/2014/main" id="{A49C8BD3-6A9D-3866-C279-B1D91451C7F7}"/>
              </a:ext>
            </a:extLst>
          </p:cNvPr>
          <p:cNvSpPr txBox="1"/>
          <p:nvPr/>
        </p:nvSpPr>
        <p:spPr>
          <a:xfrm>
            <a:off x="728980" y="6488668"/>
            <a:ext cx="3674624" cy="369332"/>
          </a:xfrm>
          <a:prstGeom prst="rect">
            <a:avLst/>
          </a:prstGeom>
          <a:noFill/>
        </p:spPr>
        <p:txBody>
          <a:bodyPr wrap="square">
            <a:spAutoFit/>
          </a:bodyPr>
          <a:lstStyle/>
          <a:p>
            <a:r>
              <a:rPr lang="en-GB" dirty="0">
                <a:hlinkClick r:id="rId4"/>
              </a:rPr>
              <a:t>https://gnomad.broadinstitute.org/</a:t>
            </a:r>
            <a:endParaRPr lang="en-GB" dirty="0"/>
          </a:p>
        </p:txBody>
      </p:sp>
      <p:pic>
        <p:nvPicPr>
          <p:cNvPr id="3074" name="Picture 2" descr="Ensembl VEP web interface">
            <a:extLst>
              <a:ext uri="{FF2B5EF4-FFF2-40B4-BE49-F238E27FC236}">
                <a16:creationId xmlns:a16="http://schemas.microsoft.com/office/drawing/2014/main" id="{5EC20311-35EB-78D8-2C15-B7BD9D5D154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0520" y="4930140"/>
            <a:ext cx="2895600" cy="144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426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3757FC-07BD-BF2E-9227-0027ED3B0C51}"/>
              </a:ext>
            </a:extLst>
          </p:cNvPr>
          <p:cNvSpPr>
            <a:spLocks noGrp="1"/>
          </p:cNvSpPr>
          <p:nvPr>
            <p:ph type="ctrTitle"/>
          </p:nvPr>
        </p:nvSpPr>
        <p:spPr>
          <a:xfrm>
            <a:off x="1524000" y="157163"/>
            <a:ext cx="9144000" cy="990917"/>
          </a:xfrm>
        </p:spPr>
        <p:txBody>
          <a:bodyPr/>
          <a:lstStyle/>
          <a:p>
            <a:r>
              <a:rPr lang="en-GB" dirty="0" err="1"/>
              <a:t>Fim</a:t>
            </a:r>
            <a:r>
              <a:rPr lang="en-GB" dirty="0"/>
              <a:t> da </a:t>
            </a:r>
            <a:r>
              <a:rPr lang="en-GB" dirty="0" err="1"/>
              <a:t>Sessão</a:t>
            </a:r>
            <a:r>
              <a:rPr lang="en-GB" dirty="0"/>
              <a:t> 2</a:t>
            </a:r>
          </a:p>
        </p:txBody>
      </p:sp>
      <p:sp>
        <p:nvSpPr>
          <p:cNvPr id="3" name="Subtítulo 2">
            <a:extLst>
              <a:ext uri="{FF2B5EF4-FFF2-40B4-BE49-F238E27FC236}">
                <a16:creationId xmlns:a16="http://schemas.microsoft.com/office/drawing/2014/main" id="{8CC3B287-B634-1547-022A-B1246031F3CA}"/>
              </a:ext>
            </a:extLst>
          </p:cNvPr>
          <p:cNvSpPr>
            <a:spLocks noGrp="1"/>
          </p:cNvSpPr>
          <p:nvPr>
            <p:ph type="subTitle" idx="1"/>
          </p:nvPr>
        </p:nvSpPr>
        <p:spPr>
          <a:xfrm>
            <a:off x="1727200" y="1234758"/>
            <a:ext cx="9144000" cy="1655762"/>
          </a:xfrm>
        </p:spPr>
        <p:txBody>
          <a:bodyPr/>
          <a:lstStyle/>
          <a:p>
            <a:r>
              <a:rPr lang="en-GB" dirty="0" err="1"/>
              <a:t>Variantes</a:t>
            </a:r>
            <a:r>
              <a:rPr lang="en-GB" dirty="0"/>
              <a:t> </a:t>
            </a:r>
            <a:r>
              <a:rPr lang="en-GB" dirty="0" err="1"/>
              <a:t>associadas</a:t>
            </a:r>
            <a:r>
              <a:rPr lang="en-GB" dirty="0"/>
              <a:t> a </a:t>
            </a:r>
            <a:r>
              <a:rPr lang="en-GB" dirty="0" err="1"/>
              <a:t>doenças</a:t>
            </a:r>
            <a:endParaRPr lang="en-GB" dirty="0"/>
          </a:p>
        </p:txBody>
      </p:sp>
      <p:sp>
        <p:nvSpPr>
          <p:cNvPr id="4" name="Marcador de Posição do Número do Diapositivo 3">
            <a:extLst>
              <a:ext uri="{FF2B5EF4-FFF2-40B4-BE49-F238E27FC236}">
                <a16:creationId xmlns:a16="http://schemas.microsoft.com/office/drawing/2014/main" id="{EB3504C3-B2E6-C174-22C3-4141AA2AA378}"/>
              </a:ext>
            </a:extLst>
          </p:cNvPr>
          <p:cNvSpPr>
            <a:spLocks noGrp="1"/>
          </p:cNvSpPr>
          <p:nvPr>
            <p:ph type="sldNum" sz="quarter" idx="12"/>
          </p:nvPr>
        </p:nvSpPr>
        <p:spPr>
          <a:xfrm>
            <a:off x="8610600" y="6356350"/>
            <a:ext cx="2743200" cy="365125"/>
          </a:xfrm>
        </p:spPr>
        <p:txBody>
          <a:bodyPr/>
          <a:lstStyle/>
          <a:p>
            <a:fld id="{6D49FC33-1B8E-4C1B-8D07-84B8EBAC733E}" type="slidenum">
              <a:rPr lang="en-GB" smtClean="0"/>
              <a:t>23</a:t>
            </a:fld>
            <a:endParaRPr lang="en-GB"/>
          </a:p>
        </p:txBody>
      </p:sp>
    </p:spTree>
    <p:extLst>
      <p:ext uri="{BB962C8B-B14F-4D97-AF65-F5344CB8AC3E}">
        <p14:creationId xmlns:p14="http://schemas.microsoft.com/office/powerpoint/2010/main" val="2265277151"/>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939</TotalTime>
  <Words>1617</Words>
  <Application>Microsoft Office PowerPoint</Application>
  <PresentationFormat>Ecrã Panorâmico</PresentationFormat>
  <Paragraphs>277</Paragraphs>
  <Slides>23</Slides>
  <Notes>0</Notes>
  <HiddenSlides>0</HiddenSlides>
  <MMClips>0</MMClips>
  <ScaleCrop>false</ScaleCrop>
  <HeadingPairs>
    <vt:vector size="6" baseType="variant">
      <vt:variant>
        <vt:lpstr>Tipos de letra usados</vt:lpstr>
      </vt:variant>
      <vt:variant>
        <vt:i4>5</vt:i4>
      </vt:variant>
      <vt:variant>
        <vt:lpstr>Tema</vt:lpstr>
      </vt:variant>
      <vt:variant>
        <vt:i4>1</vt:i4>
      </vt:variant>
      <vt:variant>
        <vt:lpstr>Títulos dos diapositivos</vt:lpstr>
      </vt:variant>
      <vt:variant>
        <vt:i4>23</vt:i4>
      </vt:variant>
    </vt:vector>
  </HeadingPairs>
  <TitlesOfParts>
    <vt:vector size="29" baseType="lpstr">
      <vt:lpstr>-apple-system</vt:lpstr>
      <vt:lpstr>Aptos</vt:lpstr>
      <vt:lpstr>Aptos Display</vt:lpstr>
      <vt:lpstr>Aptos Narrow</vt:lpstr>
      <vt:lpstr>Arial</vt:lpstr>
      <vt:lpstr>Tema do Office</vt:lpstr>
      <vt:lpstr>Interpretação de variantes genómicas</vt:lpstr>
      <vt:lpstr>Sessão 2</vt:lpstr>
      <vt:lpstr>Processo de analise de variantes</vt:lpstr>
      <vt:lpstr>Apresentação do PowerPoint</vt:lpstr>
      <vt:lpstr>Bases de dados de variantes benignas Frequências na população comum</vt:lpstr>
      <vt:lpstr>Bases de dados de variantes benignas Frequências na população comum</vt:lpstr>
      <vt:lpstr>Bases de dados de variantes benignas Estudos caso-controlo</vt:lpstr>
      <vt:lpstr>Bases de dados de variantes benignas Estudos caso-controlo</vt:lpstr>
      <vt:lpstr>Bases de dados de variantes – Patogénicas</vt:lpstr>
      <vt:lpstr>Anotação dos genes</vt:lpstr>
      <vt:lpstr>Anotação dos genes e doenças associadas</vt:lpstr>
      <vt:lpstr>Exercicio - Exploração das bases de dados</vt:lpstr>
      <vt:lpstr>Exercicio – Solução 1</vt:lpstr>
      <vt:lpstr>Exercicio – Solução 1</vt:lpstr>
      <vt:lpstr>Exercicio – Solução 1</vt:lpstr>
      <vt:lpstr>Exercicio – Solução 1</vt:lpstr>
      <vt:lpstr>Exercicio – Solução 2</vt:lpstr>
      <vt:lpstr>Exercicio – Solução 2</vt:lpstr>
      <vt:lpstr>Exercicio – Solução 2</vt:lpstr>
      <vt:lpstr>Exercicio – Solução 2</vt:lpstr>
      <vt:lpstr>Algoritmos de predição</vt:lpstr>
      <vt:lpstr>Exemplos</vt:lpstr>
      <vt:lpstr>Fim da Sessão 2</vt:lpstr>
    </vt:vector>
  </TitlesOfParts>
  <Company>INSA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Joana Fino</dc:creator>
  <cp:lastModifiedBy>Joana Fino</cp:lastModifiedBy>
  <cp:revision>13</cp:revision>
  <dcterms:created xsi:type="dcterms:W3CDTF">2026-05-07T13:58:04Z</dcterms:created>
  <dcterms:modified xsi:type="dcterms:W3CDTF">2026-07-10T13:31:14Z</dcterms:modified>
</cp:coreProperties>
</file>