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56" r:id="rId4"/>
    <p:sldId id="276" r:id="rId5"/>
    <p:sldId id="277" r:id="rId6"/>
    <p:sldId id="279" r:id="rId7"/>
    <p:sldId id="280" r:id="rId8"/>
    <p:sldId id="278" r:id="rId9"/>
    <p:sldId id="281" r:id="rId10"/>
    <p:sldId id="282" r:id="rId11"/>
    <p:sldId id="285" r:id="rId12"/>
    <p:sldId id="283" r:id="rId13"/>
    <p:sldId id="284" r:id="rId14"/>
    <p:sldId id="286" r:id="rId15"/>
    <p:sldId id="287" r:id="rId16"/>
    <p:sldId id="288" r:id="rId17"/>
    <p:sldId id="289" r:id="rId18"/>
    <p:sldId id="291" r:id="rId19"/>
    <p:sldId id="292" r:id="rId20"/>
    <p:sldId id="290" r:id="rId21"/>
    <p:sldId id="294" r:id="rId22"/>
    <p:sldId id="293" r:id="rId23"/>
    <p:sldId id="295" r:id="rId24"/>
    <p:sldId id="296" r:id="rId25"/>
    <p:sldId id="299" r:id="rId26"/>
    <p:sldId id="297" r:id="rId27"/>
    <p:sldId id="298" r:id="rId2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89" userDrawn="1">
          <p15:clr>
            <a:srgbClr val="A4A3A4"/>
          </p15:clr>
        </p15:guide>
        <p15:guide id="3" pos="127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451" y="106"/>
      </p:cViewPr>
      <p:guideLst>
        <p:guide pos="189"/>
        <p:guide pos="127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9C527E-5D9F-4996-8519-334974718242}" type="doc">
      <dgm:prSet loTypeId="urn:microsoft.com/office/officeart/2005/8/layout/radial1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PT"/>
        </a:p>
      </dgm:t>
    </dgm:pt>
    <dgm:pt modelId="{7D5AD954-C82F-4727-AB2F-280D58EF6141}">
      <dgm:prSet phldrT="[Texto]"/>
      <dgm:spPr/>
      <dgm:t>
        <a:bodyPr/>
        <a:lstStyle/>
        <a:p>
          <a:r>
            <a:rPr lang="pt-PT" dirty="0"/>
            <a:t>Variante</a:t>
          </a:r>
        </a:p>
      </dgm:t>
    </dgm:pt>
    <dgm:pt modelId="{08E3318B-E765-4A9B-AB92-44AA90B69B3F}" type="parTrans" cxnId="{D9F945A5-85BA-4E7C-98BE-191546A56964}">
      <dgm:prSet/>
      <dgm:spPr/>
      <dgm:t>
        <a:bodyPr/>
        <a:lstStyle/>
        <a:p>
          <a:endParaRPr lang="pt-PT"/>
        </a:p>
      </dgm:t>
    </dgm:pt>
    <dgm:pt modelId="{862F49FF-949E-4661-97CB-AD526522A2E1}" type="sibTrans" cxnId="{D9F945A5-85BA-4E7C-98BE-191546A56964}">
      <dgm:prSet/>
      <dgm:spPr/>
      <dgm:t>
        <a:bodyPr/>
        <a:lstStyle/>
        <a:p>
          <a:endParaRPr lang="pt-PT"/>
        </a:p>
      </dgm:t>
    </dgm:pt>
    <dgm:pt modelId="{AD350708-0E12-44A3-BA97-F753FB4452B4}">
      <dgm:prSet phldrT="[Texto]"/>
      <dgm:spPr/>
      <dgm:t>
        <a:bodyPr/>
        <a:lstStyle/>
        <a:p>
          <a:r>
            <a:rPr lang="pt-PT" dirty="0"/>
            <a:t>Frequência populacional</a:t>
          </a:r>
        </a:p>
      </dgm:t>
    </dgm:pt>
    <dgm:pt modelId="{B4BA3F85-954D-4813-83BC-69AB5F6DDBA9}" type="parTrans" cxnId="{4F27D6DB-3F99-42C9-9CE0-A13D137E4C10}">
      <dgm:prSet/>
      <dgm:spPr/>
      <dgm:t>
        <a:bodyPr/>
        <a:lstStyle/>
        <a:p>
          <a:endParaRPr lang="pt-PT"/>
        </a:p>
      </dgm:t>
    </dgm:pt>
    <dgm:pt modelId="{2C88D034-2DA7-423D-97AE-DDB5F49465E1}" type="sibTrans" cxnId="{4F27D6DB-3F99-42C9-9CE0-A13D137E4C10}">
      <dgm:prSet/>
      <dgm:spPr/>
      <dgm:t>
        <a:bodyPr/>
        <a:lstStyle/>
        <a:p>
          <a:endParaRPr lang="pt-PT"/>
        </a:p>
      </dgm:t>
    </dgm:pt>
    <dgm:pt modelId="{2364E931-5357-4DFA-9EAB-E9CA73B2B3F3}">
      <dgm:prSet phldrT="[Texto]"/>
      <dgm:spPr/>
      <dgm:t>
        <a:bodyPr/>
        <a:lstStyle/>
        <a:p>
          <a:r>
            <a:rPr lang="pt-PT" dirty="0"/>
            <a:t>Predições</a:t>
          </a:r>
        </a:p>
      </dgm:t>
    </dgm:pt>
    <dgm:pt modelId="{0A0F5186-4864-4452-9A3C-C5736BE70ECC}" type="parTrans" cxnId="{3883CFDD-1224-49DE-AD90-862157713B4C}">
      <dgm:prSet/>
      <dgm:spPr/>
      <dgm:t>
        <a:bodyPr/>
        <a:lstStyle/>
        <a:p>
          <a:endParaRPr lang="pt-PT"/>
        </a:p>
      </dgm:t>
    </dgm:pt>
    <dgm:pt modelId="{B749BF3C-EF75-4AB3-8882-14576073EDBB}" type="sibTrans" cxnId="{3883CFDD-1224-49DE-AD90-862157713B4C}">
      <dgm:prSet/>
      <dgm:spPr/>
      <dgm:t>
        <a:bodyPr/>
        <a:lstStyle/>
        <a:p>
          <a:endParaRPr lang="pt-PT"/>
        </a:p>
      </dgm:t>
    </dgm:pt>
    <dgm:pt modelId="{23C87399-DDFA-4E6F-BAD5-E0B4AFE5109D}">
      <dgm:prSet phldrT="[Texto]"/>
      <dgm:spPr/>
      <dgm:t>
        <a:bodyPr/>
        <a:lstStyle/>
        <a:p>
          <a:r>
            <a:rPr lang="pt-PT" dirty="0"/>
            <a:t>Segregação familiar</a:t>
          </a:r>
        </a:p>
      </dgm:t>
    </dgm:pt>
    <dgm:pt modelId="{7566C388-F4E9-45BB-A423-2F62BBDAD43F}" type="parTrans" cxnId="{7E62A070-91AF-4F10-99C9-1422324FF9F3}">
      <dgm:prSet/>
      <dgm:spPr/>
      <dgm:t>
        <a:bodyPr/>
        <a:lstStyle/>
        <a:p>
          <a:endParaRPr lang="pt-PT"/>
        </a:p>
      </dgm:t>
    </dgm:pt>
    <dgm:pt modelId="{2907C42B-07E9-440E-84D1-0FBBE7886982}" type="sibTrans" cxnId="{7E62A070-91AF-4F10-99C9-1422324FF9F3}">
      <dgm:prSet/>
      <dgm:spPr/>
      <dgm:t>
        <a:bodyPr/>
        <a:lstStyle/>
        <a:p>
          <a:endParaRPr lang="pt-PT"/>
        </a:p>
      </dgm:t>
    </dgm:pt>
    <dgm:pt modelId="{7A0EDC5A-0AA6-4026-AE07-95ABC8AEE1AD}">
      <dgm:prSet phldrT="[Texto]"/>
      <dgm:spPr/>
      <dgm:t>
        <a:bodyPr/>
        <a:lstStyle/>
        <a:p>
          <a:r>
            <a:rPr lang="pt-PT" dirty="0"/>
            <a:t>Estudos funcionais</a:t>
          </a:r>
        </a:p>
      </dgm:t>
    </dgm:pt>
    <dgm:pt modelId="{43831EE4-24F8-442C-AEDD-898CBF7AF24E}" type="parTrans" cxnId="{D981A0EB-C187-487A-B92A-F3E78130F866}">
      <dgm:prSet/>
      <dgm:spPr/>
      <dgm:t>
        <a:bodyPr/>
        <a:lstStyle/>
        <a:p>
          <a:endParaRPr lang="pt-PT"/>
        </a:p>
      </dgm:t>
    </dgm:pt>
    <dgm:pt modelId="{D44BD1D3-05A1-49A1-AE3B-04AD72EA4E3F}" type="sibTrans" cxnId="{D981A0EB-C187-487A-B92A-F3E78130F866}">
      <dgm:prSet/>
      <dgm:spPr/>
      <dgm:t>
        <a:bodyPr/>
        <a:lstStyle/>
        <a:p>
          <a:endParaRPr lang="pt-PT"/>
        </a:p>
      </dgm:t>
    </dgm:pt>
    <dgm:pt modelId="{ACC290FF-0C49-4064-A6BC-76CF9A629DA0}">
      <dgm:prSet/>
      <dgm:spPr/>
      <dgm:t>
        <a:bodyPr/>
        <a:lstStyle/>
        <a:p>
          <a:r>
            <a:rPr lang="pt-PT" dirty="0"/>
            <a:t>Literatura cientifica</a:t>
          </a:r>
        </a:p>
      </dgm:t>
    </dgm:pt>
    <dgm:pt modelId="{86DD6CF5-C69B-4870-A6C2-52853F83CEAB}" type="parTrans" cxnId="{73556D36-09A0-411B-92D7-388F84D701B7}">
      <dgm:prSet/>
      <dgm:spPr/>
      <dgm:t>
        <a:bodyPr/>
        <a:lstStyle/>
        <a:p>
          <a:endParaRPr lang="pt-PT"/>
        </a:p>
      </dgm:t>
    </dgm:pt>
    <dgm:pt modelId="{B3EFDBCA-0848-4BD2-818C-E12B4FF92765}" type="sibTrans" cxnId="{73556D36-09A0-411B-92D7-388F84D701B7}">
      <dgm:prSet/>
      <dgm:spPr/>
      <dgm:t>
        <a:bodyPr/>
        <a:lstStyle/>
        <a:p>
          <a:endParaRPr lang="pt-PT"/>
        </a:p>
      </dgm:t>
    </dgm:pt>
    <dgm:pt modelId="{1FDA81AC-96F4-4A07-A004-3F128030CF37}">
      <dgm:prSet/>
      <dgm:spPr/>
      <dgm:t>
        <a:bodyPr/>
        <a:lstStyle/>
        <a:p>
          <a:r>
            <a:rPr lang="pt-PT" dirty="0"/>
            <a:t>Base de dados clínicas</a:t>
          </a:r>
        </a:p>
      </dgm:t>
    </dgm:pt>
    <dgm:pt modelId="{7D4640A8-5C40-411C-977B-3B9AFFB0977A}" type="parTrans" cxnId="{A15CAA01-B7E3-42F8-BCFE-224F0D66E480}">
      <dgm:prSet/>
      <dgm:spPr/>
      <dgm:t>
        <a:bodyPr/>
        <a:lstStyle/>
        <a:p>
          <a:endParaRPr lang="pt-PT"/>
        </a:p>
      </dgm:t>
    </dgm:pt>
    <dgm:pt modelId="{8221C0A2-60CE-48E1-9138-ECF7B69C1D74}" type="sibTrans" cxnId="{A15CAA01-B7E3-42F8-BCFE-224F0D66E480}">
      <dgm:prSet/>
      <dgm:spPr/>
      <dgm:t>
        <a:bodyPr/>
        <a:lstStyle/>
        <a:p>
          <a:endParaRPr lang="pt-PT"/>
        </a:p>
      </dgm:t>
    </dgm:pt>
    <dgm:pt modelId="{2635F909-3FAF-4A6E-B009-4411A7EB8C5B}" type="pres">
      <dgm:prSet presAssocID="{119C527E-5D9F-4996-8519-334974718242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90A40B6-FF4F-45ED-80C9-59AD46EE543D}" type="pres">
      <dgm:prSet presAssocID="{7D5AD954-C82F-4727-AB2F-280D58EF6141}" presName="centerShape" presStyleLbl="node0" presStyleIdx="0" presStyleCnt="1"/>
      <dgm:spPr/>
    </dgm:pt>
    <dgm:pt modelId="{21FA50A2-B21F-4D3C-A74A-237515C2F37C}" type="pres">
      <dgm:prSet presAssocID="{B4BA3F85-954D-4813-83BC-69AB5F6DDBA9}" presName="Name9" presStyleLbl="parChTrans1D2" presStyleIdx="0" presStyleCnt="6"/>
      <dgm:spPr/>
    </dgm:pt>
    <dgm:pt modelId="{7FB13D7D-EC29-4F4A-8E6C-8360FCE095B2}" type="pres">
      <dgm:prSet presAssocID="{B4BA3F85-954D-4813-83BC-69AB5F6DDBA9}" presName="connTx" presStyleLbl="parChTrans1D2" presStyleIdx="0" presStyleCnt="6"/>
      <dgm:spPr/>
    </dgm:pt>
    <dgm:pt modelId="{0E3C971B-0458-4F68-8D70-9F698675B5A3}" type="pres">
      <dgm:prSet presAssocID="{AD350708-0E12-44A3-BA97-F753FB4452B4}" presName="node" presStyleLbl="node1" presStyleIdx="0" presStyleCnt="6">
        <dgm:presLayoutVars>
          <dgm:bulletEnabled val="1"/>
        </dgm:presLayoutVars>
      </dgm:prSet>
      <dgm:spPr/>
    </dgm:pt>
    <dgm:pt modelId="{D435B629-456A-4366-8A21-767BB68CE1CC}" type="pres">
      <dgm:prSet presAssocID="{0A0F5186-4864-4452-9A3C-C5736BE70ECC}" presName="Name9" presStyleLbl="parChTrans1D2" presStyleIdx="1" presStyleCnt="6"/>
      <dgm:spPr/>
    </dgm:pt>
    <dgm:pt modelId="{200087E2-593F-4A78-AD5E-EBC6422A6FFB}" type="pres">
      <dgm:prSet presAssocID="{0A0F5186-4864-4452-9A3C-C5736BE70ECC}" presName="connTx" presStyleLbl="parChTrans1D2" presStyleIdx="1" presStyleCnt="6"/>
      <dgm:spPr/>
    </dgm:pt>
    <dgm:pt modelId="{D868A3F2-A226-47AA-BC06-7E77E3B065AD}" type="pres">
      <dgm:prSet presAssocID="{2364E931-5357-4DFA-9EAB-E9CA73B2B3F3}" presName="node" presStyleLbl="node1" presStyleIdx="1" presStyleCnt="6">
        <dgm:presLayoutVars>
          <dgm:bulletEnabled val="1"/>
        </dgm:presLayoutVars>
      </dgm:prSet>
      <dgm:spPr/>
    </dgm:pt>
    <dgm:pt modelId="{8405A9BA-07B8-49D5-9D92-B54440B1635C}" type="pres">
      <dgm:prSet presAssocID="{7566C388-F4E9-45BB-A423-2F62BBDAD43F}" presName="Name9" presStyleLbl="parChTrans1D2" presStyleIdx="2" presStyleCnt="6"/>
      <dgm:spPr/>
    </dgm:pt>
    <dgm:pt modelId="{CBC58D6F-98F9-48E7-A9C5-24F1138E8152}" type="pres">
      <dgm:prSet presAssocID="{7566C388-F4E9-45BB-A423-2F62BBDAD43F}" presName="connTx" presStyleLbl="parChTrans1D2" presStyleIdx="2" presStyleCnt="6"/>
      <dgm:spPr/>
    </dgm:pt>
    <dgm:pt modelId="{543EC9B6-2F29-4556-9409-A071DD52ED2C}" type="pres">
      <dgm:prSet presAssocID="{23C87399-DDFA-4E6F-BAD5-E0B4AFE5109D}" presName="node" presStyleLbl="node1" presStyleIdx="2" presStyleCnt="6">
        <dgm:presLayoutVars>
          <dgm:bulletEnabled val="1"/>
        </dgm:presLayoutVars>
      </dgm:prSet>
      <dgm:spPr/>
    </dgm:pt>
    <dgm:pt modelId="{1F366C72-8775-46C6-8DED-9A8C38249557}" type="pres">
      <dgm:prSet presAssocID="{86DD6CF5-C69B-4870-A6C2-52853F83CEAB}" presName="Name9" presStyleLbl="parChTrans1D2" presStyleIdx="3" presStyleCnt="6"/>
      <dgm:spPr/>
    </dgm:pt>
    <dgm:pt modelId="{06AC5617-AD58-4E65-8C54-D47D05628250}" type="pres">
      <dgm:prSet presAssocID="{86DD6CF5-C69B-4870-A6C2-52853F83CEAB}" presName="connTx" presStyleLbl="parChTrans1D2" presStyleIdx="3" presStyleCnt="6"/>
      <dgm:spPr/>
    </dgm:pt>
    <dgm:pt modelId="{E9B47EEB-393A-489E-B914-ED73984CFBBE}" type="pres">
      <dgm:prSet presAssocID="{ACC290FF-0C49-4064-A6BC-76CF9A629DA0}" presName="node" presStyleLbl="node1" presStyleIdx="3" presStyleCnt="6">
        <dgm:presLayoutVars>
          <dgm:bulletEnabled val="1"/>
        </dgm:presLayoutVars>
      </dgm:prSet>
      <dgm:spPr/>
    </dgm:pt>
    <dgm:pt modelId="{DDF12CE0-69F1-4B74-8C23-A16CD3B0CE24}" type="pres">
      <dgm:prSet presAssocID="{7D4640A8-5C40-411C-977B-3B9AFFB0977A}" presName="Name9" presStyleLbl="parChTrans1D2" presStyleIdx="4" presStyleCnt="6"/>
      <dgm:spPr/>
    </dgm:pt>
    <dgm:pt modelId="{218CE45A-D8B9-4D16-90CC-C72FE0E92B45}" type="pres">
      <dgm:prSet presAssocID="{7D4640A8-5C40-411C-977B-3B9AFFB0977A}" presName="connTx" presStyleLbl="parChTrans1D2" presStyleIdx="4" presStyleCnt="6"/>
      <dgm:spPr/>
    </dgm:pt>
    <dgm:pt modelId="{6AD04C15-23F5-4AE0-BB0F-973412CF2896}" type="pres">
      <dgm:prSet presAssocID="{1FDA81AC-96F4-4A07-A004-3F128030CF37}" presName="node" presStyleLbl="node1" presStyleIdx="4" presStyleCnt="6">
        <dgm:presLayoutVars>
          <dgm:bulletEnabled val="1"/>
        </dgm:presLayoutVars>
      </dgm:prSet>
      <dgm:spPr/>
    </dgm:pt>
    <dgm:pt modelId="{4AD04239-85E6-41C9-94C2-983250216C1F}" type="pres">
      <dgm:prSet presAssocID="{43831EE4-24F8-442C-AEDD-898CBF7AF24E}" presName="Name9" presStyleLbl="parChTrans1D2" presStyleIdx="5" presStyleCnt="6"/>
      <dgm:spPr/>
    </dgm:pt>
    <dgm:pt modelId="{C145AA28-9138-4863-81C4-E74D2736818E}" type="pres">
      <dgm:prSet presAssocID="{43831EE4-24F8-442C-AEDD-898CBF7AF24E}" presName="connTx" presStyleLbl="parChTrans1D2" presStyleIdx="5" presStyleCnt="6"/>
      <dgm:spPr/>
    </dgm:pt>
    <dgm:pt modelId="{5B3DC3D7-36F2-4889-8761-FA9CF3768680}" type="pres">
      <dgm:prSet presAssocID="{7A0EDC5A-0AA6-4026-AE07-95ABC8AEE1AD}" presName="node" presStyleLbl="node1" presStyleIdx="5" presStyleCnt="6">
        <dgm:presLayoutVars>
          <dgm:bulletEnabled val="1"/>
        </dgm:presLayoutVars>
      </dgm:prSet>
      <dgm:spPr/>
    </dgm:pt>
  </dgm:ptLst>
  <dgm:cxnLst>
    <dgm:cxn modelId="{A15CAA01-B7E3-42F8-BCFE-224F0D66E480}" srcId="{7D5AD954-C82F-4727-AB2F-280D58EF6141}" destId="{1FDA81AC-96F4-4A07-A004-3F128030CF37}" srcOrd="4" destOrd="0" parTransId="{7D4640A8-5C40-411C-977B-3B9AFFB0977A}" sibTransId="{8221C0A2-60CE-48E1-9138-ECF7B69C1D74}"/>
    <dgm:cxn modelId="{AE4A0C04-8B92-4700-9163-C7F938726CF8}" type="presOf" srcId="{ACC290FF-0C49-4064-A6BC-76CF9A629DA0}" destId="{E9B47EEB-393A-489E-B914-ED73984CFBBE}" srcOrd="0" destOrd="0" presId="urn:microsoft.com/office/officeart/2005/8/layout/radial1"/>
    <dgm:cxn modelId="{BB221A0D-FEFC-462F-A8B1-A8C250196070}" type="presOf" srcId="{7566C388-F4E9-45BB-A423-2F62BBDAD43F}" destId="{CBC58D6F-98F9-48E7-A9C5-24F1138E8152}" srcOrd="1" destOrd="0" presId="urn:microsoft.com/office/officeart/2005/8/layout/radial1"/>
    <dgm:cxn modelId="{F0470D12-E0D0-4AD9-9C01-DD2817E75934}" type="presOf" srcId="{43831EE4-24F8-442C-AEDD-898CBF7AF24E}" destId="{4AD04239-85E6-41C9-94C2-983250216C1F}" srcOrd="0" destOrd="0" presId="urn:microsoft.com/office/officeart/2005/8/layout/radial1"/>
    <dgm:cxn modelId="{CCAE2D14-D03D-423E-8497-C670B227A6A0}" type="presOf" srcId="{7D5AD954-C82F-4727-AB2F-280D58EF6141}" destId="{090A40B6-FF4F-45ED-80C9-59AD46EE543D}" srcOrd="0" destOrd="0" presId="urn:microsoft.com/office/officeart/2005/8/layout/radial1"/>
    <dgm:cxn modelId="{0B194E33-D6FC-4CC3-8840-BEA054063D7D}" type="presOf" srcId="{AD350708-0E12-44A3-BA97-F753FB4452B4}" destId="{0E3C971B-0458-4F68-8D70-9F698675B5A3}" srcOrd="0" destOrd="0" presId="urn:microsoft.com/office/officeart/2005/8/layout/radial1"/>
    <dgm:cxn modelId="{73556D36-09A0-411B-92D7-388F84D701B7}" srcId="{7D5AD954-C82F-4727-AB2F-280D58EF6141}" destId="{ACC290FF-0C49-4064-A6BC-76CF9A629DA0}" srcOrd="3" destOrd="0" parTransId="{86DD6CF5-C69B-4870-A6C2-52853F83CEAB}" sibTransId="{B3EFDBCA-0848-4BD2-818C-E12B4FF92765}"/>
    <dgm:cxn modelId="{9EF56039-D089-4F5C-AD64-A790CB7E3BC3}" type="presOf" srcId="{43831EE4-24F8-442C-AEDD-898CBF7AF24E}" destId="{C145AA28-9138-4863-81C4-E74D2736818E}" srcOrd="1" destOrd="0" presId="urn:microsoft.com/office/officeart/2005/8/layout/radial1"/>
    <dgm:cxn modelId="{9B47043D-8961-4F79-9B82-70D0B10BB130}" type="presOf" srcId="{0A0F5186-4864-4452-9A3C-C5736BE70ECC}" destId="{200087E2-593F-4A78-AD5E-EBC6422A6FFB}" srcOrd="1" destOrd="0" presId="urn:microsoft.com/office/officeart/2005/8/layout/radial1"/>
    <dgm:cxn modelId="{41486C46-1BCC-4B33-90EB-41DFCEA0282F}" type="presOf" srcId="{7566C388-F4E9-45BB-A423-2F62BBDAD43F}" destId="{8405A9BA-07B8-49D5-9D92-B54440B1635C}" srcOrd="0" destOrd="0" presId="urn:microsoft.com/office/officeart/2005/8/layout/radial1"/>
    <dgm:cxn modelId="{1CEE5E6D-036D-4859-9EF4-E03D7F4193FE}" type="presOf" srcId="{0A0F5186-4864-4452-9A3C-C5736BE70ECC}" destId="{D435B629-456A-4366-8A21-767BB68CE1CC}" srcOrd="0" destOrd="0" presId="urn:microsoft.com/office/officeart/2005/8/layout/radial1"/>
    <dgm:cxn modelId="{CFED074E-DCE4-44F6-8209-72F1F231C79B}" type="presOf" srcId="{7D4640A8-5C40-411C-977B-3B9AFFB0977A}" destId="{218CE45A-D8B9-4D16-90CC-C72FE0E92B45}" srcOrd="1" destOrd="0" presId="urn:microsoft.com/office/officeart/2005/8/layout/radial1"/>
    <dgm:cxn modelId="{7E62A070-91AF-4F10-99C9-1422324FF9F3}" srcId="{7D5AD954-C82F-4727-AB2F-280D58EF6141}" destId="{23C87399-DDFA-4E6F-BAD5-E0B4AFE5109D}" srcOrd="2" destOrd="0" parTransId="{7566C388-F4E9-45BB-A423-2F62BBDAD43F}" sibTransId="{2907C42B-07E9-440E-84D1-0FBBE7886982}"/>
    <dgm:cxn modelId="{087CAD76-590A-4266-A6A8-1DA2507E37E2}" type="presOf" srcId="{1FDA81AC-96F4-4A07-A004-3F128030CF37}" destId="{6AD04C15-23F5-4AE0-BB0F-973412CF2896}" srcOrd="0" destOrd="0" presId="urn:microsoft.com/office/officeart/2005/8/layout/radial1"/>
    <dgm:cxn modelId="{A8319577-7FD2-461B-8E40-639C1FCB08AF}" type="presOf" srcId="{86DD6CF5-C69B-4870-A6C2-52853F83CEAB}" destId="{06AC5617-AD58-4E65-8C54-D47D05628250}" srcOrd="1" destOrd="0" presId="urn:microsoft.com/office/officeart/2005/8/layout/radial1"/>
    <dgm:cxn modelId="{F0C29680-492F-4E50-AC26-19ADC4BAF103}" type="presOf" srcId="{119C527E-5D9F-4996-8519-334974718242}" destId="{2635F909-3FAF-4A6E-B009-4411A7EB8C5B}" srcOrd="0" destOrd="0" presId="urn:microsoft.com/office/officeart/2005/8/layout/radial1"/>
    <dgm:cxn modelId="{C4EF5787-1960-4CFD-9693-8C02565F18CE}" type="presOf" srcId="{B4BA3F85-954D-4813-83BC-69AB5F6DDBA9}" destId="{21FA50A2-B21F-4D3C-A74A-237515C2F37C}" srcOrd="0" destOrd="0" presId="urn:microsoft.com/office/officeart/2005/8/layout/radial1"/>
    <dgm:cxn modelId="{464ABA92-677E-44B3-8E5C-E4D0D8B9D8F5}" type="presOf" srcId="{86DD6CF5-C69B-4870-A6C2-52853F83CEAB}" destId="{1F366C72-8775-46C6-8DED-9A8C38249557}" srcOrd="0" destOrd="0" presId="urn:microsoft.com/office/officeart/2005/8/layout/radial1"/>
    <dgm:cxn modelId="{0D2A2C9C-39B1-4B02-8DA0-F61784FFED94}" type="presOf" srcId="{23C87399-DDFA-4E6F-BAD5-E0B4AFE5109D}" destId="{543EC9B6-2F29-4556-9409-A071DD52ED2C}" srcOrd="0" destOrd="0" presId="urn:microsoft.com/office/officeart/2005/8/layout/radial1"/>
    <dgm:cxn modelId="{87E96AA1-2268-4F57-BE41-6536FBDFE5F9}" type="presOf" srcId="{2364E931-5357-4DFA-9EAB-E9CA73B2B3F3}" destId="{D868A3F2-A226-47AA-BC06-7E77E3B065AD}" srcOrd="0" destOrd="0" presId="urn:microsoft.com/office/officeart/2005/8/layout/radial1"/>
    <dgm:cxn modelId="{D9F945A5-85BA-4E7C-98BE-191546A56964}" srcId="{119C527E-5D9F-4996-8519-334974718242}" destId="{7D5AD954-C82F-4727-AB2F-280D58EF6141}" srcOrd="0" destOrd="0" parTransId="{08E3318B-E765-4A9B-AB92-44AA90B69B3F}" sibTransId="{862F49FF-949E-4661-97CB-AD526522A2E1}"/>
    <dgm:cxn modelId="{3EC7A7C2-3712-4FDC-BF19-D487594C8A07}" type="presOf" srcId="{7D4640A8-5C40-411C-977B-3B9AFFB0977A}" destId="{DDF12CE0-69F1-4B74-8C23-A16CD3B0CE24}" srcOrd="0" destOrd="0" presId="urn:microsoft.com/office/officeart/2005/8/layout/radial1"/>
    <dgm:cxn modelId="{4F27D6DB-3F99-42C9-9CE0-A13D137E4C10}" srcId="{7D5AD954-C82F-4727-AB2F-280D58EF6141}" destId="{AD350708-0E12-44A3-BA97-F753FB4452B4}" srcOrd="0" destOrd="0" parTransId="{B4BA3F85-954D-4813-83BC-69AB5F6DDBA9}" sibTransId="{2C88D034-2DA7-423D-97AE-DDB5F49465E1}"/>
    <dgm:cxn modelId="{3883CFDD-1224-49DE-AD90-862157713B4C}" srcId="{7D5AD954-C82F-4727-AB2F-280D58EF6141}" destId="{2364E931-5357-4DFA-9EAB-E9CA73B2B3F3}" srcOrd="1" destOrd="0" parTransId="{0A0F5186-4864-4452-9A3C-C5736BE70ECC}" sibTransId="{B749BF3C-EF75-4AB3-8882-14576073EDBB}"/>
    <dgm:cxn modelId="{AA7769EB-724A-41E4-9B5B-96A03B6C8A2B}" type="presOf" srcId="{B4BA3F85-954D-4813-83BC-69AB5F6DDBA9}" destId="{7FB13D7D-EC29-4F4A-8E6C-8360FCE095B2}" srcOrd="1" destOrd="0" presId="urn:microsoft.com/office/officeart/2005/8/layout/radial1"/>
    <dgm:cxn modelId="{D981A0EB-C187-487A-B92A-F3E78130F866}" srcId="{7D5AD954-C82F-4727-AB2F-280D58EF6141}" destId="{7A0EDC5A-0AA6-4026-AE07-95ABC8AEE1AD}" srcOrd="5" destOrd="0" parTransId="{43831EE4-24F8-442C-AEDD-898CBF7AF24E}" sibTransId="{D44BD1D3-05A1-49A1-AE3B-04AD72EA4E3F}"/>
    <dgm:cxn modelId="{BFE34EF5-5304-49F9-8F83-313EC49036FB}" type="presOf" srcId="{7A0EDC5A-0AA6-4026-AE07-95ABC8AEE1AD}" destId="{5B3DC3D7-36F2-4889-8761-FA9CF3768680}" srcOrd="0" destOrd="0" presId="urn:microsoft.com/office/officeart/2005/8/layout/radial1"/>
    <dgm:cxn modelId="{4F1ABE66-5985-4CE5-ABF7-0590FD77C2E6}" type="presParOf" srcId="{2635F909-3FAF-4A6E-B009-4411A7EB8C5B}" destId="{090A40B6-FF4F-45ED-80C9-59AD46EE543D}" srcOrd="0" destOrd="0" presId="urn:microsoft.com/office/officeart/2005/8/layout/radial1"/>
    <dgm:cxn modelId="{EFDDE299-96A3-4313-A539-3A8BB3C35E2B}" type="presParOf" srcId="{2635F909-3FAF-4A6E-B009-4411A7EB8C5B}" destId="{21FA50A2-B21F-4D3C-A74A-237515C2F37C}" srcOrd="1" destOrd="0" presId="urn:microsoft.com/office/officeart/2005/8/layout/radial1"/>
    <dgm:cxn modelId="{4B0F06AD-5197-43BF-B66B-20723C7593BE}" type="presParOf" srcId="{21FA50A2-B21F-4D3C-A74A-237515C2F37C}" destId="{7FB13D7D-EC29-4F4A-8E6C-8360FCE095B2}" srcOrd="0" destOrd="0" presId="urn:microsoft.com/office/officeart/2005/8/layout/radial1"/>
    <dgm:cxn modelId="{1F690FB0-EE51-4DB8-8043-62D459640059}" type="presParOf" srcId="{2635F909-3FAF-4A6E-B009-4411A7EB8C5B}" destId="{0E3C971B-0458-4F68-8D70-9F698675B5A3}" srcOrd="2" destOrd="0" presId="urn:microsoft.com/office/officeart/2005/8/layout/radial1"/>
    <dgm:cxn modelId="{B7170185-3EEB-4D5B-86E6-552A25B2777A}" type="presParOf" srcId="{2635F909-3FAF-4A6E-B009-4411A7EB8C5B}" destId="{D435B629-456A-4366-8A21-767BB68CE1CC}" srcOrd="3" destOrd="0" presId="urn:microsoft.com/office/officeart/2005/8/layout/radial1"/>
    <dgm:cxn modelId="{8886BBD3-5726-4020-955D-650996F516CA}" type="presParOf" srcId="{D435B629-456A-4366-8A21-767BB68CE1CC}" destId="{200087E2-593F-4A78-AD5E-EBC6422A6FFB}" srcOrd="0" destOrd="0" presId="urn:microsoft.com/office/officeart/2005/8/layout/radial1"/>
    <dgm:cxn modelId="{B58B66E6-0FDD-461E-897C-C0E2E1EE7158}" type="presParOf" srcId="{2635F909-3FAF-4A6E-B009-4411A7EB8C5B}" destId="{D868A3F2-A226-47AA-BC06-7E77E3B065AD}" srcOrd="4" destOrd="0" presId="urn:microsoft.com/office/officeart/2005/8/layout/radial1"/>
    <dgm:cxn modelId="{E01E41EE-F29D-4849-ADBB-774A1B2C21F2}" type="presParOf" srcId="{2635F909-3FAF-4A6E-B009-4411A7EB8C5B}" destId="{8405A9BA-07B8-49D5-9D92-B54440B1635C}" srcOrd="5" destOrd="0" presId="urn:microsoft.com/office/officeart/2005/8/layout/radial1"/>
    <dgm:cxn modelId="{41BF97F5-3E5F-43EA-A0CF-38C5D8D7A613}" type="presParOf" srcId="{8405A9BA-07B8-49D5-9D92-B54440B1635C}" destId="{CBC58D6F-98F9-48E7-A9C5-24F1138E8152}" srcOrd="0" destOrd="0" presId="urn:microsoft.com/office/officeart/2005/8/layout/radial1"/>
    <dgm:cxn modelId="{B6D2DC4E-262D-425A-8697-8AB74C03A9F3}" type="presParOf" srcId="{2635F909-3FAF-4A6E-B009-4411A7EB8C5B}" destId="{543EC9B6-2F29-4556-9409-A071DD52ED2C}" srcOrd="6" destOrd="0" presId="urn:microsoft.com/office/officeart/2005/8/layout/radial1"/>
    <dgm:cxn modelId="{1A921EF3-B094-4999-8A72-C68F75A70C96}" type="presParOf" srcId="{2635F909-3FAF-4A6E-B009-4411A7EB8C5B}" destId="{1F366C72-8775-46C6-8DED-9A8C38249557}" srcOrd="7" destOrd="0" presId="urn:microsoft.com/office/officeart/2005/8/layout/radial1"/>
    <dgm:cxn modelId="{C67D6FEB-2693-4454-93C9-2FB8A22975B4}" type="presParOf" srcId="{1F366C72-8775-46C6-8DED-9A8C38249557}" destId="{06AC5617-AD58-4E65-8C54-D47D05628250}" srcOrd="0" destOrd="0" presId="urn:microsoft.com/office/officeart/2005/8/layout/radial1"/>
    <dgm:cxn modelId="{430B02CC-D2ED-476F-B2ED-778D7B3E4A76}" type="presParOf" srcId="{2635F909-3FAF-4A6E-B009-4411A7EB8C5B}" destId="{E9B47EEB-393A-489E-B914-ED73984CFBBE}" srcOrd="8" destOrd="0" presId="urn:microsoft.com/office/officeart/2005/8/layout/radial1"/>
    <dgm:cxn modelId="{4A53E2E3-BD20-4901-A7B5-77292D888AC9}" type="presParOf" srcId="{2635F909-3FAF-4A6E-B009-4411A7EB8C5B}" destId="{DDF12CE0-69F1-4B74-8C23-A16CD3B0CE24}" srcOrd="9" destOrd="0" presId="urn:microsoft.com/office/officeart/2005/8/layout/radial1"/>
    <dgm:cxn modelId="{9BD4BAB0-114F-4ED2-9804-0FAF1B1DCC87}" type="presParOf" srcId="{DDF12CE0-69F1-4B74-8C23-A16CD3B0CE24}" destId="{218CE45A-D8B9-4D16-90CC-C72FE0E92B45}" srcOrd="0" destOrd="0" presId="urn:microsoft.com/office/officeart/2005/8/layout/radial1"/>
    <dgm:cxn modelId="{4577E385-45AD-4388-8EB4-619611EFB55C}" type="presParOf" srcId="{2635F909-3FAF-4A6E-B009-4411A7EB8C5B}" destId="{6AD04C15-23F5-4AE0-BB0F-973412CF2896}" srcOrd="10" destOrd="0" presId="urn:microsoft.com/office/officeart/2005/8/layout/radial1"/>
    <dgm:cxn modelId="{520ED89E-B576-4F48-ACB3-0B6681F9A9B5}" type="presParOf" srcId="{2635F909-3FAF-4A6E-B009-4411A7EB8C5B}" destId="{4AD04239-85E6-41C9-94C2-983250216C1F}" srcOrd="11" destOrd="0" presId="urn:microsoft.com/office/officeart/2005/8/layout/radial1"/>
    <dgm:cxn modelId="{96BF1C32-9709-4A83-A755-85FE3A7E8452}" type="presParOf" srcId="{4AD04239-85E6-41C9-94C2-983250216C1F}" destId="{C145AA28-9138-4863-81C4-E74D2736818E}" srcOrd="0" destOrd="0" presId="urn:microsoft.com/office/officeart/2005/8/layout/radial1"/>
    <dgm:cxn modelId="{A28877E4-42B4-4B7B-9363-D507D28972B9}" type="presParOf" srcId="{2635F909-3FAF-4A6E-B009-4411A7EB8C5B}" destId="{5B3DC3D7-36F2-4889-8761-FA9CF3768680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20F4AB-A8E2-4C84-9BBD-2D33C11A4EA7}" type="doc">
      <dgm:prSet loTypeId="urn:microsoft.com/office/officeart/2005/8/layout/hList9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t-PT"/>
        </a:p>
      </dgm:t>
    </dgm:pt>
    <dgm:pt modelId="{8561975F-EEEC-47FD-83E8-3B1EE0EB4686}">
      <dgm:prSet phldrT="[Texto]"/>
      <dgm:spPr/>
      <dgm:t>
        <a:bodyPr/>
        <a:lstStyle/>
        <a:p>
          <a:r>
            <a:rPr lang="pt-PT" dirty="0"/>
            <a:t>Patogénico</a:t>
          </a:r>
        </a:p>
      </dgm:t>
    </dgm:pt>
    <dgm:pt modelId="{57D6A71E-343A-48D3-AAC2-98A7D4047416}" type="parTrans" cxnId="{4BA2DB72-AD20-43F9-802E-C1E12751F363}">
      <dgm:prSet/>
      <dgm:spPr/>
      <dgm:t>
        <a:bodyPr/>
        <a:lstStyle/>
        <a:p>
          <a:endParaRPr lang="pt-PT"/>
        </a:p>
      </dgm:t>
    </dgm:pt>
    <dgm:pt modelId="{57A30365-C643-497A-A074-AB978FDA7594}" type="sibTrans" cxnId="{4BA2DB72-AD20-43F9-802E-C1E12751F363}">
      <dgm:prSet/>
      <dgm:spPr/>
      <dgm:t>
        <a:bodyPr/>
        <a:lstStyle/>
        <a:p>
          <a:endParaRPr lang="pt-PT"/>
        </a:p>
      </dgm:t>
    </dgm:pt>
    <dgm:pt modelId="{5617DCEA-4EAD-4B69-AB2A-731C3F0B93B8}">
      <dgm:prSet phldrT="[Texto]" custT="1"/>
      <dgm:spPr/>
      <dgm:t>
        <a:bodyPr/>
        <a:lstStyle/>
        <a:p>
          <a:r>
            <a:rPr lang="pt-PT" sz="2400" b="1" dirty="0"/>
            <a:t>PVS1</a:t>
          </a:r>
          <a:r>
            <a:rPr lang="pt-PT" sz="2400" dirty="0"/>
            <a:t>. Patogénico muito forte</a:t>
          </a:r>
        </a:p>
      </dgm:t>
    </dgm:pt>
    <dgm:pt modelId="{A6B277DC-3633-411F-9935-1D7F9B288308}" type="parTrans" cxnId="{21DAEDF7-AD63-45F6-B9DC-D0514F19102E}">
      <dgm:prSet/>
      <dgm:spPr/>
      <dgm:t>
        <a:bodyPr/>
        <a:lstStyle/>
        <a:p>
          <a:endParaRPr lang="pt-PT"/>
        </a:p>
      </dgm:t>
    </dgm:pt>
    <dgm:pt modelId="{DFB6D572-F22C-44B4-A263-9C09239FC5F4}" type="sibTrans" cxnId="{21DAEDF7-AD63-45F6-B9DC-D0514F19102E}">
      <dgm:prSet/>
      <dgm:spPr/>
      <dgm:t>
        <a:bodyPr/>
        <a:lstStyle/>
        <a:p>
          <a:endParaRPr lang="pt-PT"/>
        </a:p>
      </dgm:t>
    </dgm:pt>
    <dgm:pt modelId="{BE627861-33EB-4EEA-A662-3BE6ECC176F3}">
      <dgm:prSet phldrT="[Texto]" custT="1"/>
      <dgm:spPr/>
      <dgm:t>
        <a:bodyPr/>
        <a:lstStyle/>
        <a:p>
          <a:r>
            <a:rPr lang="pt-PT" sz="2400" b="1" dirty="0"/>
            <a:t>PM1-PM6</a:t>
          </a:r>
          <a:r>
            <a:rPr lang="pt-PT" sz="2400" dirty="0"/>
            <a:t>. Patogénico moderado</a:t>
          </a:r>
        </a:p>
      </dgm:t>
    </dgm:pt>
    <dgm:pt modelId="{FBFEB87C-E071-4385-A130-96B91C7ACC2C}" type="parTrans" cxnId="{8655FD3B-E240-497E-B3D5-930D7C1A8E8A}">
      <dgm:prSet/>
      <dgm:spPr/>
      <dgm:t>
        <a:bodyPr/>
        <a:lstStyle/>
        <a:p>
          <a:endParaRPr lang="pt-PT"/>
        </a:p>
      </dgm:t>
    </dgm:pt>
    <dgm:pt modelId="{A2C32275-960A-4C0A-8740-CAA451183E38}" type="sibTrans" cxnId="{8655FD3B-E240-497E-B3D5-930D7C1A8E8A}">
      <dgm:prSet/>
      <dgm:spPr/>
      <dgm:t>
        <a:bodyPr/>
        <a:lstStyle/>
        <a:p>
          <a:endParaRPr lang="pt-PT"/>
        </a:p>
      </dgm:t>
    </dgm:pt>
    <dgm:pt modelId="{AFA096CD-5D90-49CD-AFB7-0FA7ADA26223}">
      <dgm:prSet phldrT="[Texto]"/>
      <dgm:spPr/>
      <dgm:t>
        <a:bodyPr/>
        <a:lstStyle/>
        <a:p>
          <a:r>
            <a:rPr lang="pt-PT" dirty="0"/>
            <a:t>Benigno</a:t>
          </a:r>
        </a:p>
      </dgm:t>
    </dgm:pt>
    <dgm:pt modelId="{3A8C6490-22ED-412D-B281-50219B487245}" type="parTrans" cxnId="{6CE6A8CC-8C7C-4BC5-BE0C-E0BA2E72B3D4}">
      <dgm:prSet/>
      <dgm:spPr/>
      <dgm:t>
        <a:bodyPr/>
        <a:lstStyle/>
        <a:p>
          <a:endParaRPr lang="pt-PT"/>
        </a:p>
      </dgm:t>
    </dgm:pt>
    <dgm:pt modelId="{C67A8BC8-AE0D-4165-8931-FB10FA2A5832}" type="sibTrans" cxnId="{6CE6A8CC-8C7C-4BC5-BE0C-E0BA2E72B3D4}">
      <dgm:prSet/>
      <dgm:spPr/>
      <dgm:t>
        <a:bodyPr/>
        <a:lstStyle/>
        <a:p>
          <a:endParaRPr lang="pt-PT"/>
        </a:p>
      </dgm:t>
    </dgm:pt>
    <dgm:pt modelId="{9025CA05-8717-45D9-B554-11B91B947A0B}">
      <dgm:prSet phldrT="[Texto]" custT="1"/>
      <dgm:spPr/>
      <dgm:t>
        <a:bodyPr/>
        <a:lstStyle/>
        <a:p>
          <a:r>
            <a:rPr lang="pt-PT" sz="2400" b="1" dirty="0"/>
            <a:t>BA1.</a:t>
          </a:r>
          <a:r>
            <a:rPr lang="pt-PT" sz="2400" dirty="0"/>
            <a:t> Benigno único</a:t>
          </a:r>
        </a:p>
      </dgm:t>
    </dgm:pt>
    <dgm:pt modelId="{03452A80-6D36-4B8A-8F01-7E2AF107EC9B}" type="parTrans" cxnId="{A8A36E3E-A870-476B-9897-EF193A905DA0}">
      <dgm:prSet/>
      <dgm:spPr/>
      <dgm:t>
        <a:bodyPr/>
        <a:lstStyle/>
        <a:p>
          <a:endParaRPr lang="pt-PT"/>
        </a:p>
      </dgm:t>
    </dgm:pt>
    <dgm:pt modelId="{9FFBE0A2-D8C7-4336-A81F-659A7310A3E3}" type="sibTrans" cxnId="{A8A36E3E-A870-476B-9897-EF193A905DA0}">
      <dgm:prSet/>
      <dgm:spPr/>
      <dgm:t>
        <a:bodyPr/>
        <a:lstStyle/>
        <a:p>
          <a:endParaRPr lang="pt-PT"/>
        </a:p>
      </dgm:t>
    </dgm:pt>
    <dgm:pt modelId="{3ADFB9D3-876B-46E7-845F-8741F911953F}">
      <dgm:prSet phldrT="[Texto]" custT="1"/>
      <dgm:spPr/>
      <dgm:t>
        <a:bodyPr/>
        <a:lstStyle/>
        <a:p>
          <a:r>
            <a:rPr lang="pt-PT" sz="2400" b="1" dirty="0"/>
            <a:t>BS1-BS4. </a:t>
          </a:r>
          <a:r>
            <a:rPr lang="pt-PT" sz="2400" dirty="0"/>
            <a:t>Benigno forte</a:t>
          </a:r>
        </a:p>
      </dgm:t>
    </dgm:pt>
    <dgm:pt modelId="{EDCE1922-82E2-470B-8603-0DCA0A7DB534}" type="parTrans" cxnId="{715EC30B-2A4C-4285-8310-9F6E2E0D6ADD}">
      <dgm:prSet/>
      <dgm:spPr/>
      <dgm:t>
        <a:bodyPr/>
        <a:lstStyle/>
        <a:p>
          <a:endParaRPr lang="pt-PT"/>
        </a:p>
      </dgm:t>
    </dgm:pt>
    <dgm:pt modelId="{F924DCE1-79B2-414A-BD9A-C379A6CA776E}" type="sibTrans" cxnId="{715EC30B-2A4C-4285-8310-9F6E2E0D6ADD}">
      <dgm:prSet/>
      <dgm:spPr/>
      <dgm:t>
        <a:bodyPr/>
        <a:lstStyle/>
        <a:p>
          <a:endParaRPr lang="pt-PT"/>
        </a:p>
      </dgm:t>
    </dgm:pt>
    <dgm:pt modelId="{024CF302-42B2-4980-BE52-2CF934DF3412}">
      <dgm:prSet custT="1"/>
      <dgm:spPr/>
      <dgm:t>
        <a:bodyPr/>
        <a:lstStyle/>
        <a:p>
          <a:r>
            <a:rPr lang="pt-PT" sz="2400" b="1" dirty="0"/>
            <a:t>PP1-PP5</a:t>
          </a:r>
          <a:r>
            <a:rPr lang="pt-PT" sz="2400" dirty="0"/>
            <a:t>. Patogénico, corroborante</a:t>
          </a:r>
        </a:p>
      </dgm:t>
    </dgm:pt>
    <dgm:pt modelId="{AE26347F-D5EF-420A-BF51-B26712A92B3B}" type="parTrans" cxnId="{FC228A73-1015-4808-BEEF-4426297B2359}">
      <dgm:prSet/>
      <dgm:spPr/>
      <dgm:t>
        <a:bodyPr/>
        <a:lstStyle/>
        <a:p>
          <a:endParaRPr lang="pt-PT"/>
        </a:p>
      </dgm:t>
    </dgm:pt>
    <dgm:pt modelId="{BC589FDC-3413-4D64-9217-69B59A2A1C96}" type="sibTrans" cxnId="{FC228A73-1015-4808-BEEF-4426297B2359}">
      <dgm:prSet/>
      <dgm:spPr/>
      <dgm:t>
        <a:bodyPr/>
        <a:lstStyle/>
        <a:p>
          <a:endParaRPr lang="pt-PT"/>
        </a:p>
      </dgm:t>
    </dgm:pt>
    <dgm:pt modelId="{45A8991C-A41F-4583-8506-757A81D0FA1F}">
      <dgm:prSet custT="1"/>
      <dgm:spPr/>
      <dgm:t>
        <a:bodyPr/>
        <a:lstStyle/>
        <a:p>
          <a:r>
            <a:rPr lang="pt-PT" sz="2400" b="1" dirty="0"/>
            <a:t>BP1-BP7. </a:t>
          </a:r>
          <a:r>
            <a:rPr lang="pt-PT" sz="2400" dirty="0"/>
            <a:t>Benigno, corroborante</a:t>
          </a:r>
        </a:p>
      </dgm:t>
    </dgm:pt>
    <dgm:pt modelId="{0A684B19-8D18-46BA-BCC0-8570E40F8A6C}" type="parTrans" cxnId="{E8286C39-5F89-44C2-89FE-363B71A76389}">
      <dgm:prSet/>
      <dgm:spPr/>
      <dgm:t>
        <a:bodyPr/>
        <a:lstStyle/>
        <a:p>
          <a:endParaRPr lang="pt-PT"/>
        </a:p>
      </dgm:t>
    </dgm:pt>
    <dgm:pt modelId="{DD05AFEF-35B0-47EC-B699-C291EFD87691}" type="sibTrans" cxnId="{E8286C39-5F89-44C2-89FE-363B71A76389}">
      <dgm:prSet/>
      <dgm:spPr/>
      <dgm:t>
        <a:bodyPr/>
        <a:lstStyle/>
        <a:p>
          <a:endParaRPr lang="pt-PT"/>
        </a:p>
      </dgm:t>
    </dgm:pt>
    <dgm:pt modelId="{F2E9E865-92B4-4BA9-AF6C-4F178FD3B19A}" type="pres">
      <dgm:prSet presAssocID="{7820F4AB-A8E2-4C84-9BBD-2D33C11A4EA7}" presName="list" presStyleCnt="0">
        <dgm:presLayoutVars>
          <dgm:dir/>
          <dgm:animLvl val="lvl"/>
        </dgm:presLayoutVars>
      </dgm:prSet>
      <dgm:spPr/>
    </dgm:pt>
    <dgm:pt modelId="{7DF4B80B-E54E-4383-B83A-B042367E3A4E}" type="pres">
      <dgm:prSet presAssocID="{8561975F-EEEC-47FD-83E8-3B1EE0EB4686}" presName="posSpace" presStyleCnt="0"/>
      <dgm:spPr/>
    </dgm:pt>
    <dgm:pt modelId="{B20CF5CE-CB36-48C2-9A28-37133AF40070}" type="pres">
      <dgm:prSet presAssocID="{8561975F-EEEC-47FD-83E8-3B1EE0EB4686}" presName="vertFlow" presStyleCnt="0"/>
      <dgm:spPr/>
    </dgm:pt>
    <dgm:pt modelId="{A1545678-C51F-4FF3-A0E6-25E4E1C2EB47}" type="pres">
      <dgm:prSet presAssocID="{8561975F-EEEC-47FD-83E8-3B1EE0EB4686}" presName="topSpace" presStyleCnt="0"/>
      <dgm:spPr/>
    </dgm:pt>
    <dgm:pt modelId="{9CE4BE87-0BED-4F20-A159-FFF304B6FF42}" type="pres">
      <dgm:prSet presAssocID="{8561975F-EEEC-47FD-83E8-3B1EE0EB4686}" presName="firstComp" presStyleCnt="0"/>
      <dgm:spPr/>
    </dgm:pt>
    <dgm:pt modelId="{7702F221-D0FB-40D6-9849-A319D01AC208}" type="pres">
      <dgm:prSet presAssocID="{8561975F-EEEC-47FD-83E8-3B1EE0EB4686}" presName="firstChild" presStyleLbl="bgAccFollowNode1" presStyleIdx="0" presStyleCnt="6" custScaleY="76848"/>
      <dgm:spPr/>
    </dgm:pt>
    <dgm:pt modelId="{D7357465-2952-4793-A218-DD75F50EFB6B}" type="pres">
      <dgm:prSet presAssocID="{8561975F-EEEC-47FD-83E8-3B1EE0EB4686}" presName="firstChildTx" presStyleLbl="bgAccFollowNode1" presStyleIdx="0" presStyleCnt="6">
        <dgm:presLayoutVars>
          <dgm:bulletEnabled val="1"/>
        </dgm:presLayoutVars>
      </dgm:prSet>
      <dgm:spPr/>
    </dgm:pt>
    <dgm:pt modelId="{ECC99AC0-336A-46BC-99DA-EB3A88BEFDF8}" type="pres">
      <dgm:prSet presAssocID="{BE627861-33EB-4EEA-A662-3BE6ECC176F3}" presName="comp" presStyleCnt="0"/>
      <dgm:spPr/>
    </dgm:pt>
    <dgm:pt modelId="{02138752-1084-4E50-9899-70CEAAB4EC2F}" type="pres">
      <dgm:prSet presAssocID="{BE627861-33EB-4EEA-A662-3BE6ECC176F3}" presName="child" presStyleLbl="bgAccFollowNode1" presStyleIdx="1" presStyleCnt="6" custScaleY="68158" custLinFactNeighborY="5250"/>
      <dgm:spPr/>
    </dgm:pt>
    <dgm:pt modelId="{9C8A2610-1391-4049-9752-F7098A7ED496}" type="pres">
      <dgm:prSet presAssocID="{BE627861-33EB-4EEA-A662-3BE6ECC176F3}" presName="childTx" presStyleLbl="bgAccFollowNode1" presStyleIdx="1" presStyleCnt="6">
        <dgm:presLayoutVars>
          <dgm:bulletEnabled val="1"/>
        </dgm:presLayoutVars>
      </dgm:prSet>
      <dgm:spPr/>
    </dgm:pt>
    <dgm:pt modelId="{C7971706-C512-4D68-96F3-53FF9F06740D}" type="pres">
      <dgm:prSet presAssocID="{024CF302-42B2-4980-BE52-2CF934DF3412}" presName="comp" presStyleCnt="0"/>
      <dgm:spPr/>
    </dgm:pt>
    <dgm:pt modelId="{9D0421B7-1E73-4B40-A1EE-6F2EF6B2CBF0}" type="pres">
      <dgm:prSet presAssocID="{024CF302-42B2-4980-BE52-2CF934DF3412}" presName="child" presStyleLbl="bgAccFollowNode1" presStyleIdx="2" presStyleCnt="6" custScaleY="73140" custLinFactNeighborY="10292"/>
      <dgm:spPr/>
    </dgm:pt>
    <dgm:pt modelId="{19C58BD8-65C5-45F1-9704-D0DB554A46D7}" type="pres">
      <dgm:prSet presAssocID="{024CF302-42B2-4980-BE52-2CF934DF3412}" presName="childTx" presStyleLbl="bgAccFollowNode1" presStyleIdx="2" presStyleCnt="6">
        <dgm:presLayoutVars>
          <dgm:bulletEnabled val="1"/>
        </dgm:presLayoutVars>
      </dgm:prSet>
      <dgm:spPr/>
    </dgm:pt>
    <dgm:pt modelId="{428B4C04-790E-4655-9471-CD8CD59B2559}" type="pres">
      <dgm:prSet presAssocID="{8561975F-EEEC-47FD-83E8-3B1EE0EB4686}" presName="negSpace" presStyleCnt="0"/>
      <dgm:spPr/>
    </dgm:pt>
    <dgm:pt modelId="{8C9FF443-5476-4D49-80C4-E550888B2FC1}" type="pres">
      <dgm:prSet presAssocID="{8561975F-EEEC-47FD-83E8-3B1EE0EB4686}" presName="circle" presStyleLbl="node1" presStyleIdx="0" presStyleCnt="2"/>
      <dgm:spPr/>
    </dgm:pt>
    <dgm:pt modelId="{AE19299D-BC08-446C-99D0-2F170D17426F}" type="pres">
      <dgm:prSet presAssocID="{57A30365-C643-497A-A074-AB978FDA7594}" presName="transSpace" presStyleCnt="0"/>
      <dgm:spPr/>
    </dgm:pt>
    <dgm:pt modelId="{05134793-180A-4EE3-9A62-0BA7D41A1EEF}" type="pres">
      <dgm:prSet presAssocID="{AFA096CD-5D90-49CD-AFB7-0FA7ADA26223}" presName="posSpace" presStyleCnt="0"/>
      <dgm:spPr/>
    </dgm:pt>
    <dgm:pt modelId="{0EB87503-3AD7-473A-B0E3-96CB6136B686}" type="pres">
      <dgm:prSet presAssocID="{AFA096CD-5D90-49CD-AFB7-0FA7ADA26223}" presName="vertFlow" presStyleCnt="0"/>
      <dgm:spPr/>
    </dgm:pt>
    <dgm:pt modelId="{0E725C51-77AB-4E5E-8E12-D4D43814E864}" type="pres">
      <dgm:prSet presAssocID="{AFA096CD-5D90-49CD-AFB7-0FA7ADA26223}" presName="topSpace" presStyleCnt="0"/>
      <dgm:spPr/>
    </dgm:pt>
    <dgm:pt modelId="{C2028F73-B626-41C0-A7C6-83A40E76592E}" type="pres">
      <dgm:prSet presAssocID="{AFA096CD-5D90-49CD-AFB7-0FA7ADA26223}" presName="firstComp" presStyleCnt="0"/>
      <dgm:spPr/>
    </dgm:pt>
    <dgm:pt modelId="{C8B1E669-429F-42CC-818C-C4C98B71FFDE}" type="pres">
      <dgm:prSet presAssocID="{AFA096CD-5D90-49CD-AFB7-0FA7ADA26223}" presName="firstChild" presStyleLbl="bgAccFollowNode1" presStyleIdx="3" presStyleCnt="6" custScaleY="62711"/>
      <dgm:spPr/>
    </dgm:pt>
    <dgm:pt modelId="{970121F0-E53B-4928-8A7F-3A5481A3AB46}" type="pres">
      <dgm:prSet presAssocID="{AFA096CD-5D90-49CD-AFB7-0FA7ADA26223}" presName="firstChildTx" presStyleLbl="bgAccFollowNode1" presStyleIdx="3" presStyleCnt="6">
        <dgm:presLayoutVars>
          <dgm:bulletEnabled val="1"/>
        </dgm:presLayoutVars>
      </dgm:prSet>
      <dgm:spPr/>
    </dgm:pt>
    <dgm:pt modelId="{FAE90ECC-ABFE-44A2-BB8A-7879D729E049}" type="pres">
      <dgm:prSet presAssocID="{3ADFB9D3-876B-46E7-845F-8741F911953F}" presName="comp" presStyleCnt="0"/>
      <dgm:spPr/>
    </dgm:pt>
    <dgm:pt modelId="{84F39E31-CB04-4DB3-9C74-E9714E5775A1}" type="pres">
      <dgm:prSet presAssocID="{3ADFB9D3-876B-46E7-845F-8741F911953F}" presName="child" presStyleLbl="bgAccFollowNode1" presStyleIdx="4" presStyleCnt="6" custScaleY="75298" custLinFactNeighborY="5656"/>
      <dgm:spPr/>
    </dgm:pt>
    <dgm:pt modelId="{68BD2A12-A206-48AD-B10A-37EBF371B924}" type="pres">
      <dgm:prSet presAssocID="{3ADFB9D3-876B-46E7-845F-8741F911953F}" presName="childTx" presStyleLbl="bgAccFollowNode1" presStyleIdx="4" presStyleCnt="6">
        <dgm:presLayoutVars>
          <dgm:bulletEnabled val="1"/>
        </dgm:presLayoutVars>
      </dgm:prSet>
      <dgm:spPr/>
    </dgm:pt>
    <dgm:pt modelId="{477D8252-8306-4C1E-9DCE-F64F45F21149}" type="pres">
      <dgm:prSet presAssocID="{45A8991C-A41F-4583-8506-757A81D0FA1F}" presName="comp" presStyleCnt="0"/>
      <dgm:spPr/>
    </dgm:pt>
    <dgm:pt modelId="{FE85C0D6-13CE-4CFC-9E23-90CC2BAB4C5E}" type="pres">
      <dgm:prSet presAssocID="{45A8991C-A41F-4583-8506-757A81D0FA1F}" presName="child" presStyleLbl="bgAccFollowNode1" presStyleIdx="5" presStyleCnt="6" custScaleY="69642" custLinFactNeighborY="12019"/>
      <dgm:spPr/>
    </dgm:pt>
    <dgm:pt modelId="{686286C4-0F4C-4E8E-B23F-38B6D69A55AA}" type="pres">
      <dgm:prSet presAssocID="{45A8991C-A41F-4583-8506-757A81D0FA1F}" presName="childTx" presStyleLbl="bgAccFollowNode1" presStyleIdx="5" presStyleCnt="6">
        <dgm:presLayoutVars>
          <dgm:bulletEnabled val="1"/>
        </dgm:presLayoutVars>
      </dgm:prSet>
      <dgm:spPr/>
    </dgm:pt>
    <dgm:pt modelId="{0BB5CE33-16C9-46F5-8145-D0984CAA0AA4}" type="pres">
      <dgm:prSet presAssocID="{AFA096CD-5D90-49CD-AFB7-0FA7ADA26223}" presName="negSpace" presStyleCnt="0"/>
      <dgm:spPr/>
    </dgm:pt>
    <dgm:pt modelId="{04AE1CEA-7ADB-4606-835E-2DE851ABF151}" type="pres">
      <dgm:prSet presAssocID="{AFA096CD-5D90-49CD-AFB7-0FA7ADA26223}" presName="circle" presStyleLbl="node1" presStyleIdx="1" presStyleCnt="2"/>
      <dgm:spPr/>
    </dgm:pt>
  </dgm:ptLst>
  <dgm:cxnLst>
    <dgm:cxn modelId="{715EC30B-2A4C-4285-8310-9F6E2E0D6ADD}" srcId="{AFA096CD-5D90-49CD-AFB7-0FA7ADA26223}" destId="{3ADFB9D3-876B-46E7-845F-8741F911953F}" srcOrd="1" destOrd="0" parTransId="{EDCE1922-82E2-470B-8603-0DCA0A7DB534}" sibTransId="{F924DCE1-79B2-414A-BD9A-C379A6CA776E}"/>
    <dgm:cxn modelId="{68754315-65F2-4554-82C4-2BF9B8DC6687}" type="presOf" srcId="{BE627861-33EB-4EEA-A662-3BE6ECC176F3}" destId="{02138752-1084-4E50-9899-70CEAAB4EC2F}" srcOrd="0" destOrd="0" presId="urn:microsoft.com/office/officeart/2005/8/layout/hList9"/>
    <dgm:cxn modelId="{E8286C39-5F89-44C2-89FE-363B71A76389}" srcId="{AFA096CD-5D90-49CD-AFB7-0FA7ADA26223}" destId="{45A8991C-A41F-4583-8506-757A81D0FA1F}" srcOrd="2" destOrd="0" parTransId="{0A684B19-8D18-46BA-BCC0-8570E40F8A6C}" sibTransId="{DD05AFEF-35B0-47EC-B699-C291EFD87691}"/>
    <dgm:cxn modelId="{8655FD3B-E240-497E-B3D5-930D7C1A8E8A}" srcId="{8561975F-EEEC-47FD-83E8-3B1EE0EB4686}" destId="{BE627861-33EB-4EEA-A662-3BE6ECC176F3}" srcOrd="1" destOrd="0" parTransId="{FBFEB87C-E071-4385-A130-96B91C7ACC2C}" sibTransId="{A2C32275-960A-4C0A-8740-CAA451183E38}"/>
    <dgm:cxn modelId="{A8A36E3E-A870-476B-9897-EF193A905DA0}" srcId="{AFA096CD-5D90-49CD-AFB7-0FA7ADA26223}" destId="{9025CA05-8717-45D9-B554-11B91B947A0B}" srcOrd="0" destOrd="0" parTransId="{03452A80-6D36-4B8A-8F01-7E2AF107EC9B}" sibTransId="{9FFBE0A2-D8C7-4336-A81F-659A7310A3E3}"/>
    <dgm:cxn modelId="{807BB25B-F2DF-4F58-B8FB-F24DD6274742}" type="presOf" srcId="{024CF302-42B2-4980-BE52-2CF934DF3412}" destId="{9D0421B7-1E73-4B40-A1EE-6F2EF6B2CBF0}" srcOrd="0" destOrd="0" presId="urn:microsoft.com/office/officeart/2005/8/layout/hList9"/>
    <dgm:cxn modelId="{62705662-E12F-461F-9CBB-5102F1057F27}" type="presOf" srcId="{8561975F-EEEC-47FD-83E8-3B1EE0EB4686}" destId="{8C9FF443-5476-4D49-80C4-E550888B2FC1}" srcOrd="0" destOrd="0" presId="urn:microsoft.com/office/officeart/2005/8/layout/hList9"/>
    <dgm:cxn modelId="{4BA2DB72-AD20-43F9-802E-C1E12751F363}" srcId="{7820F4AB-A8E2-4C84-9BBD-2D33C11A4EA7}" destId="{8561975F-EEEC-47FD-83E8-3B1EE0EB4686}" srcOrd="0" destOrd="0" parTransId="{57D6A71E-343A-48D3-AAC2-98A7D4047416}" sibTransId="{57A30365-C643-497A-A074-AB978FDA7594}"/>
    <dgm:cxn modelId="{FC228A73-1015-4808-BEEF-4426297B2359}" srcId="{8561975F-EEEC-47FD-83E8-3B1EE0EB4686}" destId="{024CF302-42B2-4980-BE52-2CF934DF3412}" srcOrd="2" destOrd="0" parTransId="{AE26347F-D5EF-420A-BF51-B26712A92B3B}" sibTransId="{BC589FDC-3413-4D64-9217-69B59A2A1C96}"/>
    <dgm:cxn modelId="{1F9D2D83-DB62-4E2E-A977-27ABDAF3DA15}" type="presOf" srcId="{5617DCEA-4EAD-4B69-AB2A-731C3F0B93B8}" destId="{7702F221-D0FB-40D6-9849-A319D01AC208}" srcOrd="0" destOrd="0" presId="urn:microsoft.com/office/officeart/2005/8/layout/hList9"/>
    <dgm:cxn modelId="{916BF788-8E24-4F10-830F-A2B0DC34307A}" type="presOf" srcId="{5617DCEA-4EAD-4B69-AB2A-731C3F0B93B8}" destId="{D7357465-2952-4793-A218-DD75F50EFB6B}" srcOrd="1" destOrd="0" presId="urn:microsoft.com/office/officeart/2005/8/layout/hList9"/>
    <dgm:cxn modelId="{CEF9F895-B338-4A9B-B3C6-2CBB21CD96DE}" type="presOf" srcId="{7820F4AB-A8E2-4C84-9BBD-2D33C11A4EA7}" destId="{F2E9E865-92B4-4BA9-AF6C-4F178FD3B19A}" srcOrd="0" destOrd="0" presId="urn:microsoft.com/office/officeart/2005/8/layout/hList9"/>
    <dgm:cxn modelId="{12D6D99E-FBB9-41DE-946D-E5ADA4DF5819}" type="presOf" srcId="{3ADFB9D3-876B-46E7-845F-8741F911953F}" destId="{84F39E31-CB04-4DB3-9C74-E9714E5775A1}" srcOrd="0" destOrd="0" presId="urn:microsoft.com/office/officeart/2005/8/layout/hList9"/>
    <dgm:cxn modelId="{165282A1-9DDA-4199-85FB-CE9E984BA6BC}" type="presOf" srcId="{3ADFB9D3-876B-46E7-845F-8741F911953F}" destId="{68BD2A12-A206-48AD-B10A-37EBF371B924}" srcOrd="1" destOrd="0" presId="urn:microsoft.com/office/officeart/2005/8/layout/hList9"/>
    <dgm:cxn modelId="{8C5155AA-E896-4FAC-9C80-141A2489E7DE}" type="presOf" srcId="{024CF302-42B2-4980-BE52-2CF934DF3412}" destId="{19C58BD8-65C5-45F1-9704-D0DB554A46D7}" srcOrd="1" destOrd="0" presId="urn:microsoft.com/office/officeart/2005/8/layout/hList9"/>
    <dgm:cxn modelId="{0803CAB3-A633-41E9-9BFB-CB960547F314}" type="presOf" srcId="{AFA096CD-5D90-49CD-AFB7-0FA7ADA26223}" destId="{04AE1CEA-7ADB-4606-835E-2DE851ABF151}" srcOrd="0" destOrd="0" presId="urn:microsoft.com/office/officeart/2005/8/layout/hList9"/>
    <dgm:cxn modelId="{D4D6BCC6-7257-4D31-A68C-26845B0B3869}" type="presOf" srcId="{9025CA05-8717-45D9-B554-11B91B947A0B}" destId="{C8B1E669-429F-42CC-818C-C4C98B71FFDE}" srcOrd="0" destOrd="0" presId="urn:microsoft.com/office/officeart/2005/8/layout/hList9"/>
    <dgm:cxn modelId="{6CE6A8CC-8C7C-4BC5-BE0C-E0BA2E72B3D4}" srcId="{7820F4AB-A8E2-4C84-9BBD-2D33C11A4EA7}" destId="{AFA096CD-5D90-49CD-AFB7-0FA7ADA26223}" srcOrd="1" destOrd="0" parTransId="{3A8C6490-22ED-412D-B281-50219B487245}" sibTransId="{C67A8BC8-AE0D-4165-8931-FB10FA2A5832}"/>
    <dgm:cxn modelId="{C61AE9D4-226A-4A14-8BDF-04E277EBCD4F}" type="presOf" srcId="{45A8991C-A41F-4583-8506-757A81D0FA1F}" destId="{FE85C0D6-13CE-4CFC-9E23-90CC2BAB4C5E}" srcOrd="0" destOrd="0" presId="urn:microsoft.com/office/officeart/2005/8/layout/hList9"/>
    <dgm:cxn modelId="{16B145D9-D13A-402F-BA01-24DF9FD4354E}" type="presOf" srcId="{9025CA05-8717-45D9-B554-11B91B947A0B}" destId="{970121F0-E53B-4928-8A7F-3A5481A3AB46}" srcOrd="1" destOrd="0" presId="urn:microsoft.com/office/officeart/2005/8/layout/hList9"/>
    <dgm:cxn modelId="{000461E3-5BFE-46C1-8CF1-F1EA94A60BB2}" type="presOf" srcId="{BE627861-33EB-4EEA-A662-3BE6ECC176F3}" destId="{9C8A2610-1391-4049-9752-F7098A7ED496}" srcOrd="1" destOrd="0" presId="urn:microsoft.com/office/officeart/2005/8/layout/hList9"/>
    <dgm:cxn modelId="{21DAEDF7-AD63-45F6-B9DC-D0514F19102E}" srcId="{8561975F-EEEC-47FD-83E8-3B1EE0EB4686}" destId="{5617DCEA-4EAD-4B69-AB2A-731C3F0B93B8}" srcOrd="0" destOrd="0" parTransId="{A6B277DC-3633-411F-9935-1D7F9B288308}" sibTransId="{DFB6D572-F22C-44B4-A263-9C09239FC5F4}"/>
    <dgm:cxn modelId="{E26B1CFE-3B43-4AB8-86E6-027D2D92B751}" type="presOf" srcId="{45A8991C-A41F-4583-8506-757A81D0FA1F}" destId="{686286C4-0F4C-4E8E-B23F-38B6D69A55AA}" srcOrd="1" destOrd="0" presId="urn:microsoft.com/office/officeart/2005/8/layout/hList9"/>
    <dgm:cxn modelId="{5012A078-DDCC-4E66-BB7A-8824ED5AE0CD}" type="presParOf" srcId="{F2E9E865-92B4-4BA9-AF6C-4F178FD3B19A}" destId="{7DF4B80B-E54E-4383-B83A-B042367E3A4E}" srcOrd="0" destOrd="0" presId="urn:microsoft.com/office/officeart/2005/8/layout/hList9"/>
    <dgm:cxn modelId="{F6FBFC76-CAEE-47E5-8ECB-3EF11E8AAE13}" type="presParOf" srcId="{F2E9E865-92B4-4BA9-AF6C-4F178FD3B19A}" destId="{B20CF5CE-CB36-48C2-9A28-37133AF40070}" srcOrd="1" destOrd="0" presId="urn:microsoft.com/office/officeart/2005/8/layout/hList9"/>
    <dgm:cxn modelId="{9E1AF2D2-0D2F-437D-99CD-D0C1AF10275F}" type="presParOf" srcId="{B20CF5CE-CB36-48C2-9A28-37133AF40070}" destId="{A1545678-C51F-4FF3-A0E6-25E4E1C2EB47}" srcOrd="0" destOrd="0" presId="urn:microsoft.com/office/officeart/2005/8/layout/hList9"/>
    <dgm:cxn modelId="{D0F6EE38-D9A2-4CC4-BAC2-032BD8569520}" type="presParOf" srcId="{B20CF5CE-CB36-48C2-9A28-37133AF40070}" destId="{9CE4BE87-0BED-4F20-A159-FFF304B6FF42}" srcOrd="1" destOrd="0" presId="urn:microsoft.com/office/officeart/2005/8/layout/hList9"/>
    <dgm:cxn modelId="{2D2E8340-DF0B-470C-BE61-E967ABFEE600}" type="presParOf" srcId="{9CE4BE87-0BED-4F20-A159-FFF304B6FF42}" destId="{7702F221-D0FB-40D6-9849-A319D01AC208}" srcOrd="0" destOrd="0" presId="urn:microsoft.com/office/officeart/2005/8/layout/hList9"/>
    <dgm:cxn modelId="{C2AE8529-0731-44C5-9775-BBE54AD086A2}" type="presParOf" srcId="{9CE4BE87-0BED-4F20-A159-FFF304B6FF42}" destId="{D7357465-2952-4793-A218-DD75F50EFB6B}" srcOrd="1" destOrd="0" presId="urn:microsoft.com/office/officeart/2005/8/layout/hList9"/>
    <dgm:cxn modelId="{13C3E064-0552-441E-BDBC-6CEA48CFEC2C}" type="presParOf" srcId="{B20CF5CE-CB36-48C2-9A28-37133AF40070}" destId="{ECC99AC0-336A-46BC-99DA-EB3A88BEFDF8}" srcOrd="2" destOrd="0" presId="urn:microsoft.com/office/officeart/2005/8/layout/hList9"/>
    <dgm:cxn modelId="{5A153A4F-DB16-4B74-88C5-AAE10A90252B}" type="presParOf" srcId="{ECC99AC0-336A-46BC-99DA-EB3A88BEFDF8}" destId="{02138752-1084-4E50-9899-70CEAAB4EC2F}" srcOrd="0" destOrd="0" presId="urn:microsoft.com/office/officeart/2005/8/layout/hList9"/>
    <dgm:cxn modelId="{CCDA2E4E-15EC-4A0F-9DCA-6875CBA745EC}" type="presParOf" srcId="{ECC99AC0-336A-46BC-99DA-EB3A88BEFDF8}" destId="{9C8A2610-1391-4049-9752-F7098A7ED496}" srcOrd="1" destOrd="0" presId="urn:microsoft.com/office/officeart/2005/8/layout/hList9"/>
    <dgm:cxn modelId="{4612C2D6-C492-4EFA-9DFA-A9E584DFC1BE}" type="presParOf" srcId="{B20CF5CE-CB36-48C2-9A28-37133AF40070}" destId="{C7971706-C512-4D68-96F3-53FF9F06740D}" srcOrd="3" destOrd="0" presId="urn:microsoft.com/office/officeart/2005/8/layout/hList9"/>
    <dgm:cxn modelId="{DB46F101-3CA6-492F-B82E-635A93BA88B8}" type="presParOf" srcId="{C7971706-C512-4D68-96F3-53FF9F06740D}" destId="{9D0421B7-1E73-4B40-A1EE-6F2EF6B2CBF0}" srcOrd="0" destOrd="0" presId="urn:microsoft.com/office/officeart/2005/8/layout/hList9"/>
    <dgm:cxn modelId="{875950FE-0D9D-473C-BFD3-9A1EF9BE4584}" type="presParOf" srcId="{C7971706-C512-4D68-96F3-53FF9F06740D}" destId="{19C58BD8-65C5-45F1-9704-D0DB554A46D7}" srcOrd="1" destOrd="0" presId="urn:microsoft.com/office/officeart/2005/8/layout/hList9"/>
    <dgm:cxn modelId="{213ED7C1-BA78-4EA9-AF04-58A8AD1D716B}" type="presParOf" srcId="{F2E9E865-92B4-4BA9-AF6C-4F178FD3B19A}" destId="{428B4C04-790E-4655-9471-CD8CD59B2559}" srcOrd="2" destOrd="0" presId="urn:microsoft.com/office/officeart/2005/8/layout/hList9"/>
    <dgm:cxn modelId="{A38616F9-6AD8-4418-8F4E-94C0EBBEF8BC}" type="presParOf" srcId="{F2E9E865-92B4-4BA9-AF6C-4F178FD3B19A}" destId="{8C9FF443-5476-4D49-80C4-E550888B2FC1}" srcOrd="3" destOrd="0" presId="urn:microsoft.com/office/officeart/2005/8/layout/hList9"/>
    <dgm:cxn modelId="{8C40B90F-C488-4D13-B980-9349D4B889A6}" type="presParOf" srcId="{F2E9E865-92B4-4BA9-AF6C-4F178FD3B19A}" destId="{AE19299D-BC08-446C-99D0-2F170D17426F}" srcOrd="4" destOrd="0" presId="urn:microsoft.com/office/officeart/2005/8/layout/hList9"/>
    <dgm:cxn modelId="{525DC1AC-8675-4BEE-B1DE-F6226FC43623}" type="presParOf" srcId="{F2E9E865-92B4-4BA9-AF6C-4F178FD3B19A}" destId="{05134793-180A-4EE3-9A62-0BA7D41A1EEF}" srcOrd="5" destOrd="0" presId="urn:microsoft.com/office/officeart/2005/8/layout/hList9"/>
    <dgm:cxn modelId="{32FB4C5D-25FF-4DEB-9882-B334A03561CF}" type="presParOf" srcId="{F2E9E865-92B4-4BA9-AF6C-4F178FD3B19A}" destId="{0EB87503-3AD7-473A-B0E3-96CB6136B686}" srcOrd="6" destOrd="0" presId="urn:microsoft.com/office/officeart/2005/8/layout/hList9"/>
    <dgm:cxn modelId="{9C794F7B-5428-4383-91F6-5AC734FCA05F}" type="presParOf" srcId="{0EB87503-3AD7-473A-B0E3-96CB6136B686}" destId="{0E725C51-77AB-4E5E-8E12-D4D43814E864}" srcOrd="0" destOrd="0" presId="urn:microsoft.com/office/officeart/2005/8/layout/hList9"/>
    <dgm:cxn modelId="{DDE69E57-60C1-4514-95E8-9B4DA7BDCEC0}" type="presParOf" srcId="{0EB87503-3AD7-473A-B0E3-96CB6136B686}" destId="{C2028F73-B626-41C0-A7C6-83A40E76592E}" srcOrd="1" destOrd="0" presId="urn:microsoft.com/office/officeart/2005/8/layout/hList9"/>
    <dgm:cxn modelId="{D0EFE893-2206-472A-AC36-0DB5D399DE7A}" type="presParOf" srcId="{C2028F73-B626-41C0-A7C6-83A40E76592E}" destId="{C8B1E669-429F-42CC-818C-C4C98B71FFDE}" srcOrd="0" destOrd="0" presId="urn:microsoft.com/office/officeart/2005/8/layout/hList9"/>
    <dgm:cxn modelId="{8DAC277D-ED02-439B-9D1A-10CBE399D9B0}" type="presParOf" srcId="{C2028F73-B626-41C0-A7C6-83A40E76592E}" destId="{970121F0-E53B-4928-8A7F-3A5481A3AB46}" srcOrd="1" destOrd="0" presId="urn:microsoft.com/office/officeart/2005/8/layout/hList9"/>
    <dgm:cxn modelId="{69686907-148F-41DD-A5AF-699931A16BDC}" type="presParOf" srcId="{0EB87503-3AD7-473A-B0E3-96CB6136B686}" destId="{FAE90ECC-ABFE-44A2-BB8A-7879D729E049}" srcOrd="2" destOrd="0" presId="urn:microsoft.com/office/officeart/2005/8/layout/hList9"/>
    <dgm:cxn modelId="{DDF7CBF7-AE3B-42E4-8FCF-C875FED880A5}" type="presParOf" srcId="{FAE90ECC-ABFE-44A2-BB8A-7879D729E049}" destId="{84F39E31-CB04-4DB3-9C74-E9714E5775A1}" srcOrd="0" destOrd="0" presId="urn:microsoft.com/office/officeart/2005/8/layout/hList9"/>
    <dgm:cxn modelId="{BF29A94A-FF1F-473A-BBE4-008194EE6CCA}" type="presParOf" srcId="{FAE90ECC-ABFE-44A2-BB8A-7879D729E049}" destId="{68BD2A12-A206-48AD-B10A-37EBF371B924}" srcOrd="1" destOrd="0" presId="urn:microsoft.com/office/officeart/2005/8/layout/hList9"/>
    <dgm:cxn modelId="{C68B064A-4F8B-4D98-9235-DB5B0224CB1E}" type="presParOf" srcId="{0EB87503-3AD7-473A-B0E3-96CB6136B686}" destId="{477D8252-8306-4C1E-9DCE-F64F45F21149}" srcOrd="3" destOrd="0" presId="urn:microsoft.com/office/officeart/2005/8/layout/hList9"/>
    <dgm:cxn modelId="{D228DAD8-A653-48EA-B761-2990DB77201C}" type="presParOf" srcId="{477D8252-8306-4C1E-9DCE-F64F45F21149}" destId="{FE85C0D6-13CE-4CFC-9E23-90CC2BAB4C5E}" srcOrd="0" destOrd="0" presId="urn:microsoft.com/office/officeart/2005/8/layout/hList9"/>
    <dgm:cxn modelId="{A00533D7-6401-4889-84BF-94CB8921C86C}" type="presParOf" srcId="{477D8252-8306-4C1E-9DCE-F64F45F21149}" destId="{686286C4-0F4C-4E8E-B23F-38B6D69A55AA}" srcOrd="1" destOrd="0" presId="urn:microsoft.com/office/officeart/2005/8/layout/hList9"/>
    <dgm:cxn modelId="{1C241424-B946-4213-A19B-2709BB761A99}" type="presParOf" srcId="{F2E9E865-92B4-4BA9-AF6C-4F178FD3B19A}" destId="{0BB5CE33-16C9-46F5-8145-D0984CAA0AA4}" srcOrd="7" destOrd="0" presId="urn:microsoft.com/office/officeart/2005/8/layout/hList9"/>
    <dgm:cxn modelId="{C876492A-7D11-41C6-A5D3-E83B2B215B54}" type="presParOf" srcId="{F2E9E865-92B4-4BA9-AF6C-4F178FD3B19A}" destId="{04AE1CEA-7ADB-4606-835E-2DE851ABF151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A40B6-FF4F-45ED-80C9-59AD46EE543D}">
      <dsp:nvSpPr>
        <dsp:cNvPr id="0" name=""/>
        <dsp:cNvSpPr/>
      </dsp:nvSpPr>
      <dsp:spPr>
        <a:xfrm>
          <a:off x="2225670" y="1546220"/>
          <a:ext cx="1174758" cy="11747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 dirty="0"/>
            <a:t>Variante</a:t>
          </a:r>
        </a:p>
      </dsp:txBody>
      <dsp:txXfrm>
        <a:off x="2397709" y="1718259"/>
        <a:ext cx="830680" cy="830680"/>
      </dsp:txXfrm>
    </dsp:sp>
    <dsp:sp modelId="{21FA50A2-B21F-4D3C-A74A-237515C2F37C}">
      <dsp:nvSpPr>
        <dsp:cNvPr id="0" name=""/>
        <dsp:cNvSpPr/>
      </dsp:nvSpPr>
      <dsp:spPr>
        <a:xfrm rot="16200000">
          <a:off x="2635382" y="1349760"/>
          <a:ext cx="355334" cy="37584"/>
        </a:xfrm>
        <a:custGeom>
          <a:avLst/>
          <a:gdLst/>
          <a:ahLst/>
          <a:cxnLst/>
          <a:rect l="0" t="0" r="0" b="0"/>
          <a:pathLst>
            <a:path>
              <a:moveTo>
                <a:pt x="0" y="18792"/>
              </a:moveTo>
              <a:lnTo>
                <a:pt x="355334" y="1879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2804166" y="1359669"/>
        <a:ext cx="17766" cy="17766"/>
      </dsp:txXfrm>
    </dsp:sp>
    <dsp:sp modelId="{0E3C971B-0458-4F68-8D70-9F698675B5A3}">
      <dsp:nvSpPr>
        <dsp:cNvPr id="0" name=""/>
        <dsp:cNvSpPr/>
      </dsp:nvSpPr>
      <dsp:spPr>
        <a:xfrm>
          <a:off x="2225670" y="16127"/>
          <a:ext cx="1174758" cy="117475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/>
            <a:t>Frequência populacional</a:t>
          </a:r>
        </a:p>
      </dsp:txBody>
      <dsp:txXfrm>
        <a:off x="2397709" y="188166"/>
        <a:ext cx="830680" cy="830680"/>
      </dsp:txXfrm>
    </dsp:sp>
    <dsp:sp modelId="{D435B629-456A-4366-8A21-767BB68CE1CC}">
      <dsp:nvSpPr>
        <dsp:cNvPr id="0" name=""/>
        <dsp:cNvSpPr/>
      </dsp:nvSpPr>
      <dsp:spPr>
        <a:xfrm rot="19800000">
          <a:off x="3297932" y="1732283"/>
          <a:ext cx="355334" cy="37584"/>
        </a:xfrm>
        <a:custGeom>
          <a:avLst/>
          <a:gdLst/>
          <a:ahLst/>
          <a:cxnLst/>
          <a:rect l="0" t="0" r="0" b="0"/>
          <a:pathLst>
            <a:path>
              <a:moveTo>
                <a:pt x="0" y="18792"/>
              </a:moveTo>
              <a:lnTo>
                <a:pt x="355334" y="1879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3466716" y="1742192"/>
        <a:ext cx="17766" cy="17766"/>
      </dsp:txXfrm>
    </dsp:sp>
    <dsp:sp modelId="{D868A3F2-A226-47AA-BC06-7E77E3B065AD}">
      <dsp:nvSpPr>
        <dsp:cNvPr id="0" name=""/>
        <dsp:cNvSpPr/>
      </dsp:nvSpPr>
      <dsp:spPr>
        <a:xfrm>
          <a:off x="3550770" y="781173"/>
          <a:ext cx="1174758" cy="1174758"/>
        </a:xfrm>
        <a:prstGeom prst="ellips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/>
            <a:t>Predições</a:t>
          </a:r>
        </a:p>
      </dsp:txBody>
      <dsp:txXfrm>
        <a:off x="3722809" y="953212"/>
        <a:ext cx="830680" cy="830680"/>
      </dsp:txXfrm>
    </dsp:sp>
    <dsp:sp modelId="{8405A9BA-07B8-49D5-9D92-B54440B1635C}">
      <dsp:nvSpPr>
        <dsp:cNvPr id="0" name=""/>
        <dsp:cNvSpPr/>
      </dsp:nvSpPr>
      <dsp:spPr>
        <a:xfrm rot="1800000">
          <a:off x="3297932" y="2497330"/>
          <a:ext cx="355334" cy="37584"/>
        </a:xfrm>
        <a:custGeom>
          <a:avLst/>
          <a:gdLst/>
          <a:ahLst/>
          <a:cxnLst/>
          <a:rect l="0" t="0" r="0" b="0"/>
          <a:pathLst>
            <a:path>
              <a:moveTo>
                <a:pt x="0" y="18792"/>
              </a:moveTo>
              <a:lnTo>
                <a:pt x="355334" y="1879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3466716" y="2507239"/>
        <a:ext cx="17766" cy="17766"/>
      </dsp:txXfrm>
    </dsp:sp>
    <dsp:sp modelId="{543EC9B6-2F29-4556-9409-A071DD52ED2C}">
      <dsp:nvSpPr>
        <dsp:cNvPr id="0" name=""/>
        <dsp:cNvSpPr/>
      </dsp:nvSpPr>
      <dsp:spPr>
        <a:xfrm>
          <a:off x="3550770" y="2311266"/>
          <a:ext cx="1174758" cy="1174758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/>
            <a:t>Segregação familiar</a:t>
          </a:r>
        </a:p>
      </dsp:txBody>
      <dsp:txXfrm>
        <a:off x="3722809" y="2483305"/>
        <a:ext cx="830680" cy="830680"/>
      </dsp:txXfrm>
    </dsp:sp>
    <dsp:sp modelId="{1F366C72-8775-46C6-8DED-9A8C38249557}">
      <dsp:nvSpPr>
        <dsp:cNvPr id="0" name=""/>
        <dsp:cNvSpPr/>
      </dsp:nvSpPr>
      <dsp:spPr>
        <a:xfrm rot="5400000">
          <a:off x="2635382" y="2879853"/>
          <a:ext cx="355334" cy="37584"/>
        </a:xfrm>
        <a:custGeom>
          <a:avLst/>
          <a:gdLst/>
          <a:ahLst/>
          <a:cxnLst/>
          <a:rect l="0" t="0" r="0" b="0"/>
          <a:pathLst>
            <a:path>
              <a:moveTo>
                <a:pt x="0" y="18792"/>
              </a:moveTo>
              <a:lnTo>
                <a:pt x="355334" y="1879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2804166" y="2889762"/>
        <a:ext cx="17766" cy="17766"/>
      </dsp:txXfrm>
    </dsp:sp>
    <dsp:sp modelId="{E9B47EEB-393A-489E-B914-ED73984CFBBE}">
      <dsp:nvSpPr>
        <dsp:cNvPr id="0" name=""/>
        <dsp:cNvSpPr/>
      </dsp:nvSpPr>
      <dsp:spPr>
        <a:xfrm>
          <a:off x="2225670" y="3076313"/>
          <a:ext cx="1174758" cy="1174758"/>
        </a:xfrm>
        <a:prstGeom prst="ellips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/>
            <a:t>Literatura cientifica</a:t>
          </a:r>
        </a:p>
      </dsp:txBody>
      <dsp:txXfrm>
        <a:off x="2397709" y="3248352"/>
        <a:ext cx="830680" cy="830680"/>
      </dsp:txXfrm>
    </dsp:sp>
    <dsp:sp modelId="{DDF12CE0-69F1-4B74-8C23-A16CD3B0CE24}">
      <dsp:nvSpPr>
        <dsp:cNvPr id="0" name=""/>
        <dsp:cNvSpPr/>
      </dsp:nvSpPr>
      <dsp:spPr>
        <a:xfrm rot="9000000">
          <a:off x="1972833" y="2497330"/>
          <a:ext cx="355334" cy="37584"/>
        </a:xfrm>
        <a:custGeom>
          <a:avLst/>
          <a:gdLst/>
          <a:ahLst/>
          <a:cxnLst/>
          <a:rect l="0" t="0" r="0" b="0"/>
          <a:pathLst>
            <a:path>
              <a:moveTo>
                <a:pt x="0" y="18792"/>
              </a:moveTo>
              <a:lnTo>
                <a:pt x="355334" y="1879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 rot="10800000">
        <a:off x="2141617" y="2507239"/>
        <a:ext cx="17766" cy="17766"/>
      </dsp:txXfrm>
    </dsp:sp>
    <dsp:sp modelId="{6AD04C15-23F5-4AE0-BB0F-973412CF2896}">
      <dsp:nvSpPr>
        <dsp:cNvPr id="0" name=""/>
        <dsp:cNvSpPr/>
      </dsp:nvSpPr>
      <dsp:spPr>
        <a:xfrm>
          <a:off x="900571" y="2311266"/>
          <a:ext cx="1174758" cy="1174758"/>
        </a:xfrm>
        <a:prstGeom prst="ellips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/>
            <a:t>Base de dados clínicas</a:t>
          </a:r>
        </a:p>
      </dsp:txBody>
      <dsp:txXfrm>
        <a:off x="1072610" y="2483305"/>
        <a:ext cx="830680" cy="830680"/>
      </dsp:txXfrm>
    </dsp:sp>
    <dsp:sp modelId="{4AD04239-85E6-41C9-94C2-983250216C1F}">
      <dsp:nvSpPr>
        <dsp:cNvPr id="0" name=""/>
        <dsp:cNvSpPr/>
      </dsp:nvSpPr>
      <dsp:spPr>
        <a:xfrm rot="12600000">
          <a:off x="1972833" y="1732283"/>
          <a:ext cx="355334" cy="37584"/>
        </a:xfrm>
        <a:custGeom>
          <a:avLst/>
          <a:gdLst/>
          <a:ahLst/>
          <a:cxnLst/>
          <a:rect l="0" t="0" r="0" b="0"/>
          <a:pathLst>
            <a:path>
              <a:moveTo>
                <a:pt x="0" y="18792"/>
              </a:moveTo>
              <a:lnTo>
                <a:pt x="355334" y="1879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 rot="10800000">
        <a:off x="2141617" y="1742192"/>
        <a:ext cx="17766" cy="17766"/>
      </dsp:txXfrm>
    </dsp:sp>
    <dsp:sp modelId="{5B3DC3D7-36F2-4889-8761-FA9CF3768680}">
      <dsp:nvSpPr>
        <dsp:cNvPr id="0" name=""/>
        <dsp:cNvSpPr/>
      </dsp:nvSpPr>
      <dsp:spPr>
        <a:xfrm>
          <a:off x="900571" y="781173"/>
          <a:ext cx="1174758" cy="1174758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/>
            <a:t>Estudos funcionais</a:t>
          </a:r>
        </a:p>
      </dsp:txBody>
      <dsp:txXfrm>
        <a:off x="1072610" y="953212"/>
        <a:ext cx="830680" cy="8306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2F221-D0FB-40D6-9849-A319D01AC208}">
      <dsp:nvSpPr>
        <dsp:cNvPr id="0" name=""/>
        <dsp:cNvSpPr/>
      </dsp:nvSpPr>
      <dsp:spPr>
        <a:xfrm>
          <a:off x="1438339" y="1474947"/>
          <a:ext cx="2693728" cy="138074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0688" rIns="170688" bIns="17068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/>
            <a:t>PVS1</a:t>
          </a:r>
          <a:r>
            <a:rPr lang="pt-PT" sz="2400" kern="1200" dirty="0"/>
            <a:t>. Patogénico muito forte</a:t>
          </a:r>
        </a:p>
      </dsp:txBody>
      <dsp:txXfrm>
        <a:off x="1869336" y="1474947"/>
        <a:ext cx="2262732" cy="1380741"/>
      </dsp:txXfrm>
    </dsp:sp>
    <dsp:sp modelId="{02138752-1084-4E50-9899-70CEAAB4EC2F}">
      <dsp:nvSpPr>
        <dsp:cNvPr id="0" name=""/>
        <dsp:cNvSpPr/>
      </dsp:nvSpPr>
      <dsp:spPr>
        <a:xfrm>
          <a:off x="1438339" y="2950016"/>
          <a:ext cx="2693728" cy="1224606"/>
        </a:xfrm>
        <a:prstGeom prst="rect">
          <a:avLst/>
        </a:prstGeom>
        <a:solidFill>
          <a:schemeClr val="accent3">
            <a:tint val="40000"/>
            <a:alpha val="90000"/>
            <a:hueOff val="1011031"/>
            <a:satOff val="8941"/>
            <a:lumOff val="1059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1011031"/>
              <a:satOff val="8941"/>
              <a:lumOff val="1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0688" rIns="170688" bIns="17068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/>
            <a:t>PM1-PM6</a:t>
          </a:r>
          <a:r>
            <a:rPr lang="pt-PT" sz="2400" kern="1200" dirty="0"/>
            <a:t>. Patogénico moderado</a:t>
          </a:r>
        </a:p>
      </dsp:txBody>
      <dsp:txXfrm>
        <a:off x="1869336" y="2950016"/>
        <a:ext cx="2262732" cy="1224606"/>
      </dsp:txXfrm>
    </dsp:sp>
    <dsp:sp modelId="{9D0421B7-1E73-4B40-A1EE-6F2EF6B2CBF0}">
      <dsp:nvSpPr>
        <dsp:cNvPr id="0" name=""/>
        <dsp:cNvSpPr/>
      </dsp:nvSpPr>
      <dsp:spPr>
        <a:xfrm>
          <a:off x="1438339" y="4265213"/>
          <a:ext cx="2693728" cy="1314118"/>
        </a:xfrm>
        <a:prstGeom prst="rect">
          <a:avLst/>
        </a:prstGeom>
        <a:solidFill>
          <a:schemeClr val="accent3">
            <a:tint val="40000"/>
            <a:alpha val="90000"/>
            <a:hueOff val="2022062"/>
            <a:satOff val="17882"/>
            <a:lumOff val="2118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2022062"/>
              <a:satOff val="17882"/>
              <a:lumOff val="2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0688" rIns="170688" bIns="17068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/>
            <a:t>PP1-PP5</a:t>
          </a:r>
          <a:r>
            <a:rPr lang="pt-PT" sz="2400" kern="1200" dirty="0"/>
            <a:t>. Patogénico, corroborante</a:t>
          </a:r>
        </a:p>
      </dsp:txBody>
      <dsp:txXfrm>
        <a:off x="1869336" y="4265213"/>
        <a:ext cx="2262732" cy="1314118"/>
      </dsp:txXfrm>
    </dsp:sp>
    <dsp:sp modelId="{8C9FF443-5476-4D49-80C4-E550888B2FC1}">
      <dsp:nvSpPr>
        <dsp:cNvPr id="0" name=""/>
        <dsp:cNvSpPr/>
      </dsp:nvSpPr>
      <dsp:spPr>
        <a:xfrm>
          <a:off x="1684" y="756620"/>
          <a:ext cx="1795819" cy="179581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 dirty="0"/>
            <a:t>Patogénico</a:t>
          </a:r>
        </a:p>
      </dsp:txBody>
      <dsp:txXfrm>
        <a:off x="264676" y="1019612"/>
        <a:ext cx="1269835" cy="1269835"/>
      </dsp:txXfrm>
    </dsp:sp>
    <dsp:sp modelId="{C8B1E669-429F-42CC-818C-C4C98B71FFDE}">
      <dsp:nvSpPr>
        <dsp:cNvPr id="0" name=""/>
        <dsp:cNvSpPr/>
      </dsp:nvSpPr>
      <dsp:spPr>
        <a:xfrm>
          <a:off x="5927887" y="1474947"/>
          <a:ext cx="2693728" cy="1126739"/>
        </a:xfrm>
        <a:prstGeom prst="rect">
          <a:avLst/>
        </a:prstGeom>
        <a:solidFill>
          <a:schemeClr val="accent3">
            <a:tint val="40000"/>
            <a:alpha val="90000"/>
            <a:hueOff val="3033093"/>
            <a:satOff val="26823"/>
            <a:lumOff val="3177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3033093"/>
              <a:satOff val="26823"/>
              <a:lumOff val="3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0688" rIns="170688" bIns="17068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/>
            <a:t>BA1.</a:t>
          </a:r>
          <a:r>
            <a:rPr lang="pt-PT" sz="2400" kern="1200" dirty="0"/>
            <a:t> Benigno único</a:t>
          </a:r>
        </a:p>
      </dsp:txBody>
      <dsp:txXfrm>
        <a:off x="6358883" y="1474947"/>
        <a:ext cx="2262732" cy="1126739"/>
      </dsp:txXfrm>
    </dsp:sp>
    <dsp:sp modelId="{84F39E31-CB04-4DB3-9C74-E9714E5775A1}">
      <dsp:nvSpPr>
        <dsp:cNvPr id="0" name=""/>
        <dsp:cNvSpPr/>
      </dsp:nvSpPr>
      <dsp:spPr>
        <a:xfrm>
          <a:off x="5927887" y="2703309"/>
          <a:ext cx="2693728" cy="1352891"/>
        </a:xfrm>
        <a:prstGeom prst="rect">
          <a:avLst/>
        </a:prstGeom>
        <a:solidFill>
          <a:schemeClr val="accent3">
            <a:tint val="40000"/>
            <a:alpha val="90000"/>
            <a:hueOff val="4044124"/>
            <a:satOff val="35764"/>
            <a:lumOff val="4236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4044124"/>
              <a:satOff val="35764"/>
              <a:lumOff val="42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0688" rIns="170688" bIns="17068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/>
            <a:t>BS1-BS4. </a:t>
          </a:r>
          <a:r>
            <a:rPr lang="pt-PT" sz="2400" kern="1200" dirty="0"/>
            <a:t>Benigno forte</a:t>
          </a:r>
        </a:p>
      </dsp:txBody>
      <dsp:txXfrm>
        <a:off x="6358883" y="2703309"/>
        <a:ext cx="2262732" cy="1352891"/>
      </dsp:txXfrm>
    </dsp:sp>
    <dsp:sp modelId="{FE85C0D6-13CE-4CFC-9E23-90CC2BAB4C5E}">
      <dsp:nvSpPr>
        <dsp:cNvPr id="0" name=""/>
        <dsp:cNvSpPr/>
      </dsp:nvSpPr>
      <dsp:spPr>
        <a:xfrm>
          <a:off x="5927887" y="4170526"/>
          <a:ext cx="2693728" cy="1251269"/>
        </a:xfrm>
        <a:prstGeom prst="rect">
          <a:avLst/>
        </a:prstGeom>
        <a:solidFill>
          <a:schemeClr val="accent3">
            <a:tint val="40000"/>
            <a:alpha val="90000"/>
            <a:hueOff val="5055155"/>
            <a:satOff val="44705"/>
            <a:lumOff val="5295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5055155"/>
              <a:satOff val="44705"/>
              <a:lumOff val="52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0688" rIns="170688" bIns="17068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/>
            <a:t>BP1-BP7. </a:t>
          </a:r>
          <a:r>
            <a:rPr lang="pt-PT" sz="2400" kern="1200" dirty="0"/>
            <a:t>Benigno, corroborante</a:t>
          </a:r>
        </a:p>
      </dsp:txBody>
      <dsp:txXfrm>
        <a:off x="6358883" y="4170526"/>
        <a:ext cx="2262732" cy="1251269"/>
      </dsp:txXfrm>
    </dsp:sp>
    <dsp:sp modelId="{04AE1CEA-7ADB-4606-835E-2DE851ABF151}">
      <dsp:nvSpPr>
        <dsp:cNvPr id="0" name=""/>
        <dsp:cNvSpPr/>
      </dsp:nvSpPr>
      <dsp:spPr>
        <a:xfrm>
          <a:off x="4491231" y="756620"/>
          <a:ext cx="1795819" cy="1795819"/>
        </a:xfrm>
        <a:prstGeom prst="ellipse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 dirty="0"/>
            <a:t>Benigno</a:t>
          </a:r>
        </a:p>
      </dsp:txBody>
      <dsp:txXfrm>
        <a:off x="4754223" y="1019612"/>
        <a:ext cx="1269835" cy="1269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CD9D69-9F04-5D19-EF31-11CE8D755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A916E1-3EE6-A109-33D9-2AF1A20BF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0D56EE1-32B2-A4DB-B406-CC633185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A615734-0FDF-B105-E296-C8E656DB8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2E69322-4227-3498-F3E7-52A4882E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05033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3BBCF-F3F8-144C-5383-D5F1470C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8CB2404-BBB3-C071-0367-13E5B9A84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EE29939-AEC9-0AD9-7F29-DD13721E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B6BC384-535B-4A8F-0110-22666318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E72F533-FED7-81C1-BA11-178AA7AD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885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3A6D1-FA88-0C7B-7821-CC83E7676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9D4354A-0C06-66C2-E375-B517F187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0ABD989-D528-EB90-D944-184FB7D30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212F6F0-0C65-83D3-CCE5-8D3B1DB73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656D06C-2FEB-9A74-EFC3-B0E79B21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9889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94FF4-2050-0BBB-4CBE-381C1E83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899CF2F-865E-11DA-7BC1-44459EBEF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4DB7A5F-67E6-E7DD-0871-FCF36917B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91A058B-E995-2D6E-DE2E-79D8D6152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07F7728-4564-E0AF-874E-B0FE43921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00FBD0B-BAFA-19F8-5F75-8DA71094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486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C3175-EDFD-4110-C5C7-4EE6EA69D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3585FD1-DBCD-FEEF-AF87-059536BC4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4A4D912-3A32-7A6E-5754-D2C721E58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8A8B2A19-CCFA-433A-8B34-E4762559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F3A8F21-6B49-FEB3-BEDD-3A42B6B62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513A0D9-BBE2-E663-814A-5F84F0A6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D2C704BA-6182-A8BC-1CF2-102451F26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45AF93B0-58F9-921E-C724-C580B676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0853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64E06-32F1-62B3-357A-ED7D70E2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5A67E20A-81CE-7642-67C3-950EF2F5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264A4706-5B64-9AEE-596E-3E0D2C8D8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14CCCCD-0CA5-181C-D888-655DFF3D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02292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68603701-0600-EB12-A5EF-4C4E6CAF7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18E9B52-B253-FD07-273D-3294F56C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6A1135E-544E-6388-A6B8-FA66B49D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63563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C8C72-EDD0-0836-8D7B-64DB9160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FEF63A6-A5BB-6326-DDCC-AC751BBB7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E408AC3-3878-E828-5600-BE180F506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FA03097-B7AA-0FB9-155F-76A213BD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37FF11D-AFDA-98AF-51F9-530C9E19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C67539A-DBB1-B923-7C09-0961D771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4204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3FB1B-5EA6-67EC-1138-A500E22F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9B48ECF-9468-05B2-2943-834F74116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4110F59-BF4A-2F3E-5AF1-F097B777D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C6D008B-3FE3-8701-14AC-1B33C6A3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366D903-835D-D115-EF35-7DDF1CC7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8AC9778-2260-2E1C-8D34-28021F21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2646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9E293-4869-A220-1848-1B1C9FAB9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6B7B420-46F8-B1C6-6F1C-FA3746278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C550AD8-F9ED-9582-F915-5604BAB8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A514130-CC9B-7FE9-6F1C-645C8E54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EA68736-EF02-DD2F-7532-07D4EA7F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526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3D68A0-D889-1933-2FE3-EFE1B5D4C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E1619ED-21FB-C357-A1DA-5BECE211E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08DB167-C24A-A8F4-A4AE-C2D5B3CE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181237E-30CA-0728-48AD-D97B45DC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B18C5D8-473B-20E3-1C25-0F8BE9E5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77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40DE1EE-5379-BE7C-1D07-F9893D06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3838FA7-2131-A07D-26E3-DD7F6B5DB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A92AEE7-B85F-1E1E-ECFB-823DDA1C6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B6CDC-247C-4840-9DFE-C3B769D965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E80B4E0-F001-A602-B504-ECF0C91A2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EFC6172-C94A-4A88-5224-9AA460C67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B0035-443F-4A86-B13F-1B5F5B0CAD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235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po.jax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direct.com/science/article/pii/S0002929709003991?via%3Dihub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002929709003991?via%3Dihu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varchat.engenome.com/" TargetMode="External"/><Relationship Id="rId7" Type="http://schemas.openxmlformats.org/officeDocument/2006/relationships/hyperlink" Target="https://genebe.net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s://wintervar.wglab.org/" TargetMode="External"/><Relationship Id="rId4" Type="http://schemas.openxmlformats.org/officeDocument/2006/relationships/image" Target="../media/image12.png"/><Relationship Id="rId9" Type="http://schemas.openxmlformats.org/officeDocument/2006/relationships/hyperlink" Target="https://varsome.com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736CF-99B3-4B9D-2135-5C426AA76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Interpretação</a:t>
            </a:r>
            <a:r>
              <a:rPr lang="en-GB" dirty="0"/>
              <a:t> de </a:t>
            </a:r>
            <a:r>
              <a:rPr lang="en-GB" dirty="0" err="1"/>
              <a:t>variantes</a:t>
            </a:r>
            <a:r>
              <a:rPr lang="en-GB" dirty="0"/>
              <a:t> </a:t>
            </a:r>
            <a:r>
              <a:rPr lang="en-GB" dirty="0" err="1"/>
              <a:t>genómicas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48FC219-148B-D940-1F6A-CB42A0C1C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FC33-1B8E-4C1B-8D07-84B8EBAC733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4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757FC-07BD-BF2E-9227-0027ED3B0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Sessão</a:t>
            </a:r>
            <a:r>
              <a:rPr lang="en-GB" dirty="0"/>
              <a:t>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C3B287-B634-1547-022A-B1246031F3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Interpretação de variantes na prática clínica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533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BAEBD-5D74-4410-FBC1-4C332A406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13764" y="-1280179"/>
            <a:ext cx="9144000" cy="2387600"/>
          </a:xfrm>
        </p:spPr>
        <p:txBody>
          <a:bodyPr/>
          <a:lstStyle/>
          <a:p>
            <a:r>
              <a:rPr lang="pt-PT" dirty="0"/>
              <a:t>Sobreposição </a:t>
            </a:r>
            <a:r>
              <a:rPr lang="pt-PT" dirty="0" err="1"/>
              <a:t>fenótipica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50D24-2708-5B19-3E0E-59E6B448A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835" y="2221472"/>
            <a:ext cx="10694894" cy="2879444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A comparação de características fenotípicas é um recurso importante para avaliar a associação entre uma variante e uma doença.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A descrição clínica do doente pode ser comparada com a informação disponível em bases de dados como o OMIM.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No entanto, descrições médicas em linguagem natural são difíceis de comparar de forma objetiva e automática.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Além disso, nem todas as características fenotípicas têm o mesmo peso na associação com uma determinada doença.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A </a:t>
            </a:r>
            <a:r>
              <a:rPr lang="pt-PT" b="1" i="1" dirty="0" err="1"/>
              <a:t>Human</a:t>
            </a:r>
            <a:r>
              <a:rPr lang="pt-PT" b="1" i="1" dirty="0"/>
              <a:t> </a:t>
            </a:r>
            <a:r>
              <a:rPr lang="pt-PT" b="1" i="1" dirty="0" err="1"/>
              <a:t>Phenotype</a:t>
            </a:r>
            <a:r>
              <a:rPr lang="pt-PT" b="1" i="1" dirty="0"/>
              <a:t> </a:t>
            </a:r>
            <a:r>
              <a:rPr lang="pt-PT" b="1" i="1" dirty="0" err="1"/>
              <a:t>Ontology</a:t>
            </a:r>
            <a:r>
              <a:rPr lang="pt-PT" b="1" i="1" dirty="0"/>
              <a:t> </a:t>
            </a:r>
            <a:r>
              <a:rPr lang="pt-PT" b="1" dirty="0"/>
              <a:t>(HPO)</a:t>
            </a:r>
            <a:r>
              <a:rPr lang="pt-PT" dirty="0"/>
              <a:t> foi desenvolvida para padronizar a descrição do fenótipo humano, organizando as características numa ontologia hierárquica e permitindo calcular a semelhança fenotípica entre doentes e doenças.</a:t>
            </a:r>
          </a:p>
        </p:txBody>
      </p:sp>
      <p:pic>
        <p:nvPicPr>
          <p:cNvPr id="1029" name="Picture 5" descr="GitHub - obophenotype/human-phenotype-ontology: Ontology for the  description of human clinical features · GitHub">
            <a:extLst>
              <a:ext uri="{FF2B5EF4-FFF2-40B4-BE49-F238E27FC236}">
                <a16:creationId xmlns:a16="http://schemas.microsoft.com/office/drawing/2014/main" id="{811BCC6A-D660-B35E-C45A-62389585D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624" y="90955"/>
            <a:ext cx="3272117" cy="122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A9AC068-7972-6033-A499-3BF6FEFE9563}"/>
              </a:ext>
            </a:extLst>
          </p:cNvPr>
          <p:cNvSpPr txBox="1"/>
          <p:nvPr/>
        </p:nvSpPr>
        <p:spPr>
          <a:xfrm>
            <a:off x="7922559" y="5633428"/>
            <a:ext cx="6252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 err="1">
                <a:hlinkClick r:id="rId3"/>
              </a:rPr>
              <a:t>Human</a:t>
            </a:r>
            <a:r>
              <a:rPr lang="pt-PT" dirty="0">
                <a:hlinkClick r:id="rId3"/>
              </a:rPr>
              <a:t> </a:t>
            </a:r>
            <a:r>
              <a:rPr lang="pt-PT" dirty="0" err="1">
                <a:hlinkClick r:id="rId3"/>
              </a:rPr>
              <a:t>Phenotype</a:t>
            </a:r>
            <a:r>
              <a:rPr lang="pt-PT" dirty="0">
                <a:hlinkClick r:id="rId3"/>
              </a:rPr>
              <a:t> </a:t>
            </a:r>
            <a:r>
              <a:rPr lang="pt-PT" dirty="0" err="1">
                <a:hlinkClick r:id="rId3"/>
              </a:rPr>
              <a:t>Ontology</a:t>
            </a:r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051E05-7E2B-D065-E059-53E4E896CA7A}"/>
              </a:ext>
            </a:extLst>
          </p:cNvPr>
          <p:cNvSpPr txBox="1"/>
          <p:nvPr/>
        </p:nvSpPr>
        <p:spPr>
          <a:xfrm>
            <a:off x="6592825" y="6096724"/>
            <a:ext cx="4232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rgbClr val="FF0000"/>
                </a:solidFill>
              </a:rPr>
              <a:t>Mostrar no browser, tanto a terminologia como a anotação das doenças</a:t>
            </a:r>
          </a:p>
        </p:txBody>
      </p:sp>
    </p:spTree>
    <p:extLst>
      <p:ext uri="{BB962C8B-B14F-4D97-AF65-F5344CB8AC3E}">
        <p14:creationId xmlns:p14="http://schemas.microsoft.com/office/powerpoint/2010/main" val="2716056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234E36E-7E6C-F03B-3100-197BD09AE0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37" r="2794"/>
          <a:stretch/>
        </p:blipFill>
        <p:spPr>
          <a:xfrm>
            <a:off x="1030107" y="1613647"/>
            <a:ext cx="9557210" cy="454510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116542" y="-67057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</a:t>
            </a:r>
            <a:r>
              <a:rPr lang="pt-PT" dirty="0" err="1"/>
              <a:t>fenótipica</a:t>
            </a:r>
            <a:endParaRPr lang="pt-PT" dirty="0"/>
          </a:p>
        </p:txBody>
      </p:sp>
      <p:pic>
        <p:nvPicPr>
          <p:cNvPr id="7" name="Picture 5" descr="GitHub - obophenotype/human-phenotype-ontology: Ontology for the  description of human clinical features · GitHub">
            <a:extLst>
              <a:ext uri="{FF2B5EF4-FFF2-40B4-BE49-F238E27FC236}">
                <a16:creationId xmlns:a16="http://schemas.microsoft.com/office/drawing/2014/main" id="{60F38E1B-C3EE-F7C4-C4CD-30192D894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624" y="90955"/>
            <a:ext cx="3272117" cy="122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0A012A3-CD33-BB71-7C66-84A168405332}"/>
              </a:ext>
            </a:extLst>
          </p:cNvPr>
          <p:cNvSpPr txBox="1"/>
          <p:nvPr/>
        </p:nvSpPr>
        <p:spPr>
          <a:xfrm>
            <a:off x="6239435" y="6099592"/>
            <a:ext cx="5816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Clinical Diagnostics in Human Genetics with Semantic Similarity Searches in Ontologies - ScienceDirect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274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116542" y="-67057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</a:t>
            </a:r>
            <a:r>
              <a:rPr lang="pt-PT" dirty="0" err="1"/>
              <a:t>fenótipica</a:t>
            </a:r>
            <a:endParaRPr lang="pt-PT" dirty="0"/>
          </a:p>
        </p:txBody>
      </p:sp>
      <p:pic>
        <p:nvPicPr>
          <p:cNvPr id="7" name="Picture 5" descr="GitHub - obophenotype/human-phenotype-ontology: Ontology for the  description of human clinical features · GitHub">
            <a:extLst>
              <a:ext uri="{FF2B5EF4-FFF2-40B4-BE49-F238E27FC236}">
                <a16:creationId xmlns:a16="http://schemas.microsoft.com/office/drawing/2014/main" id="{60F38E1B-C3EE-F7C4-C4CD-30192D894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624" y="90955"/>
            <a:ext cx="3272117" cy="122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5C30AAA-F29E-BD77-A946-71268A7407E2}"/>
              </a:ext>
            </a:extLst>
          </p:cNvPr>
          <p:cNvSpPr txBox="1"/>
          <p:nvPr/>
        </p:nvSpPr>
        <p:spPr>
          <a:xfrm>
            <a:off x="1792942" y="6488668"/>
            <a:ext cx="10756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Clinical Diagnostics in Human Genetics with Semantic Similarity Searches in Ontologies - ScienceDirect</a:t>
            </a:r>
            <a:endParaRPr lang="pt-PT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4B5952-FECC-745E-2DE9-2D02AC3D6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8" y="1179139"/>
            <a:ext cx="5554766" cy="535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6D5E43-575D-55AD-DDBA-17DD90DA667E}"/>
              </a:ext>
            </a:extLst>
          </p:cNvPr>
          <p:cNvSpPr txBox="1"/>
          <p:nvPr/>
        </p:nvSpPr>
        <p:spPr>
          <a:xfrm>
            <a:off x="5880847" y="1712260"/>
            <a:ext cx="62304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Existem diversas ferramentas que utilizam a HPO para comparar fenótipos e apoiar a interpretação de variantes.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Estas ferramentas podem comparar o fenótipo do doente com uma doença específica ou realizar uma pesquisa alargada em múltiplas doenças.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As doenças e os genes são posteriormente priorizados com base na semelhança fenotípica entre o doente e as descrições clínicas disponíveis nas bases de dados.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8AAC3C2-4537-2C0B-C592-763657D6C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339" y="4403844"/>
            <a:ext cx="4669793" cy="55503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FFB1090-FE4C-5DA1-CBF8-6C4A530621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3459" y="5020703"/>
            <a:ext cx="2818230" cy="115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539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116542" y="-67057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fenotípica - Exemplo</a:t>
            </a:r>
          </a:p>
        </p:txBody>
      </p:sp>
      <p:pic>
        <p:nvPicPr>
          <p:cNvPr id="7" name="Picture 5" descr="GitHub - obophenotype/human-phenotype-ontology: Ontology for the  description of human clinical features · GitHub">
            <a:extLst>
              <a:ext uri="{FF2B5EF4-FFF2-40B4-BE49-F238E27FC236}">
                <a16:creationId xmlns:a16="http://schemas.microsoft.com/office/drawing/2014/main" id="{60F38E1B-C3EE-F7C4-C4CD-30192D894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824" y="117849"/>
            <a:ext cx="2814917" cy="105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17C1413-CFD0-2D75-5647-810F64FBD888}"/>
              </a:ext>
            </a:extLst>
          </p:cNvPr>
          <p:cNvSpPr txBox="1"/>
          <p:nvPr/>
        </p:nvSpPr>
        <p:spPr>
          <a:xfrm>
            <a:off x="340659" y="1102658"/>
            <a:ext cx="425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0070C0"/>
                </a:solidFill>
              </a:rPr>
              <a:t>Descrição fenotípica do paciente: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393383D2-17DA-0D61-09FE-E49ED52FF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352730"/>
              </p:ext>
            </p:extLst>
          </p:nvPr>
        </p:nvGraphicFramePr>
        <p:xfrm>
          <a:off x="354105" y="1493866"/>
          <a:ext cx="4065495" cy="2011680"/>
        </p:xfrm>
        <a:graphic>
          <a:graphicData uri="http://schemas.openxmlformats.org/drawingml/2006/table">
            <a:tbl>
              <a:tblPr/>
              <a:tblGrid>
                <a:gridCol w="1456766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608729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HP:0001638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Cardiomiopatia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HP:0004322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Baixa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estatura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HP:0001629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Defeito do septo ventricular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HP:0000365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Surdez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Ptose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9ACE3E2E-281A-7E04-FE6A-50E648B545C2}"/>
              </a:ext>
            </a:extLst>
          </p:cNvPr>
          <p:cNvSpPr txBox="1"/>
          <p:nvPr/>
        </p:nvSpPr>
        <p:spPr>
          <a:xfrm>
            <a:off x="304800" y="3895163"/>
            <a:ext cx="425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accent2"/>
                </a:solidFill>
              </a:rPr>
              <a:t>Fenótipo associado à Doença X: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D754CE1A-DDC1-E6B0-9B05-5C71E3C3A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076787"/>
              </p:ext>
            </p:extLst>
          </p:nvPr>
        </p:nvGraphicFramePr>
        <p:xfrm>
          <a:off x="367553" y="4281889"/>
          <a:ext cx="4065495" cy="2011680"/>
        </p:xfrm>
        <a:graphic>
          <a:graphicData uri="http://schemas.openxmlformats.org/drawingml/2006/table">
            <a:tbl>
              <a:tblPr/>
              <a:tblGrid>
                <a:gridCol w="1456766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608729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HP:0001638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Cardiomiopatia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HP:0000823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Atraso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puberdade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HP:0001631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Defeito do septo atrial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HP:0001385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Displasia da anca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HP:0000486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Estrabismo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42530B16-F49A-2D36-8542-2BF75DF35138}"/>
              </a:ext>
            </a:extLst>
          </p:cNvPr>
          <p:cNvSpPr txBox="1"/>
          <p:nvPr/>
        </p:nvSpPr>
        <p:spPr>
          <a:xfrm>
            <a:off x="6741460" y="3487271"/>
            <a:ext cx="131781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Cardiomiopatia</a:t>
            </a:r>
          </a:p>
          <a:p>
            <a:pPr algn="ctr"/>
            <a:r>
              <a:rPr lang="pt-PT" sz="1200" dirty="0"/>
              <a:t>IC:3.16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FF840A7-9BBC-8B2D-260D-3F443BF08D73}"/>
              </a:ext>
            </a:extLst>
          </p:cNvPr>
          <p:cNvSpPr txBox="1"/>
          <p:nvPr/>
        </p:nvSpPr>
        <p:spPr>
          <a:xfrm>
            <a:off x="4688538" y="4607860"/>
            <a:ext cx="950260" cy="83099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Defeito do septo ventricular</a:t>
            </a:r>
          </a:p>
          <a:p>
            <a:pPr algn="ctr"/>
            <a:r>
              <a:rPr lang="pt-PT" sz="1200" dirty="0"/>
              <a:t>IC:3.33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B6BB6E-E0E3-F671-C69D-050C1F4388B2}"/>
              </a:ext>
            </a:extLst>
          </p:cNvPr>
          <p:cNvSpPr txBox="1"/>
          <p:nvPr/>
        </p:nvSpPr>
        <p:spPr>
          <a:xfrm>
            <a:off x="5728442" y="4814049"/>
            <a:ext cx="167640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Defeito do septo atrial</a:t>
            </a:r>
          </a:p>
          <a:p>
            <a:pPr algn="ctr"/>
            <a:r>
              <a:rPr lang="pt-PT" sz="1200" dirty="0"/>
              <a:t>IC:3.30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3AA6B9A-676E-19A0-4A46-B2D18B63B80E}"/>
              </a:ext>
            </a:extLst>
          </p:cNvPr>
          <p:cNvSpPr txBox="1"/>
          <p:nvPr/>
        </p:nvSpPr>
        <p:spPr>
          <a:xfrm>
            <a:off x="4491312" y="3334872"/>
            <a:ext cx="184673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Anomalia da morfologia do septo cardíaco</a:t>
            </a:r>
          </a:p>
          <a:p>
            <a:pPr algn="ctr"/>
            <a:r>
              <a:rPr lang="pt-PT" sz="1200" dirty="0"/>
              <a:t>IC:2.82</a:t>
            </a:r>
          </a:p>
        </p:txBody>
      </p: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8A66756F-70FE-0AC1-D9E2-55EA9712610C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 flipH="1">
            <a:off x="5163668" y="3981203"/>
            <a:ext cx="251012" cy="626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0A654194-03D6-0ABB-58F5-CFCDBB5CFFF0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5414680" y="3981203"/>
            <a:ext cx="1151965" cy="832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8A88E6B-BB06-319F-B508-4DFCC069B060}"/>
              </a:ext>
            </a:extLst>
          </p:cNvPr>
          <p:cNvSpPr txBox="1"/>
          <p:nvPr/>
        </p:nvSpPr>
        <p:spPr>
          <a:xfrm>
            <a:off x="4921623" y="2545978"/>
            <a:ext cx="262665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Anomalia da morfologia do coração</a:t>
            </a:r>
          </a:p>
          <a:p>
            <a:pPr algn="ctr"/>
            <a:r>
              <a:rPr lang="pt-PT" sz="1200" dirty="0"/>
              <a:t>IC:1.83</a:t>
            </a:r>
          </a:p>
        </p:txBody>
      </p: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09688478-A4E5-ED2A-CC57-ECAB6E27A790}"/>
              </a:ext>
            </a:extLst>
          </p:cNvPr>
          <p:cNvCxnSpPr>
            <a:cxnSpLocks/>
            <a:stCxn id="31" idx="2"/>
            <a:endCxn id="17" idx="0"/>
          </p:cNvCxnSpPr>
          <p:nvPr/>
        </p:nvCxnSpPr>
        <p:spPr>
          <a:xfrm>
            <a:off x="6234953" y="3007643"/>
            <a:ext cx="1165413" cy="479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7724ED22-8CDF-D3D6-5AF2-9DB1BE33FDA8}"/>
              </a:ext>
            </a:extLst>
          </p:cNvPr>
          <p:cNvCxnSpPr>
            <a:cxnSpLocks/>
            <a:stCxn id="31" idx="2"/>
            <a:endCxn id="24" idx="0"/>
          </p:cNvCxnSpPr>
          <p:nvPr/>
        </p:nvCxnSpPr>
        <p:spPr>
          <a:xfrm flipH="1">
            <a:off x="5414680" y="3007643"/>
            <a:ext cx="820273" cy="327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CC4D0D49-E1D7-4185-B5B2-91DC786A569F}"/>
              </a:ext>
            </a:extLst>
          </p:cNvPr>
          <p:cNvSpPr txBox="1"/>
          <p:nvPr/>
        </p:nvSpPr>
        <p:spPr>
          <a:xfrm>
            <a:off x="8139954" y="3998260"/>
            <a:ext cx="17929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Atraso de crescimento</a:t>
            </a:r>
          </a:p>
          <a:p>
            <a:pPr algn="ctr"/>
            <a:r>
              <a:rPr lang="pt-PT" sz="1200" dirty="0"/>
              <a:t>IC:1.74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2A902BC-1D27-7A45-0EC5-99F8D09B0D6E}"/>
              </a:ext>
            </a:extLst>
          </p:cNvPr>
          <p:cNvSpPr txBox="1"/>
          <p:nvPr/>
        </p:nvSpPr>
        <p:spPr>
          <a:xfrm>
            <a:off x="7942729" y="4885767"/>
            <a:ext cx="1102659" cy="646331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Baixa estatura</a:t>
            </a:r>
          </a:p>
          <a:p>
            <a:pPr algn="ctr"/>
            <a:r>
              <a:rPr lang="pt-PT" sz="1200" dirty="0"/>
              <a:t>IC:2.09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1C7F8F14-B0E3-5428-C152-060AD85FB252}"/>
              </a:ext>
            </a:extLst>
          </p:cNvPr>
          <p:cNvSpPr txBox="1"/>
          <p:nvPr/>
        </p:nvSpPr>
        <p:spPr>
          <a:xfrm>
            <a:off x="9206752" y="4876802"/>
            <a:ext cx="110265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Atraso da puberdade</a:t>
            </a:r>
          </a:p>
          <a:p>
            <a:pPr algn="ctr"/>
            <a:r>
              <a:rPr lang="pt-PT" sz="1200" dirty="0"/>
              <a:t>IC:4.42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9703398-A47F-42BB-B96D-1F4FA7522E8D}"/>
              </a:ext>
            </a:extLst>
          </p:cNvPr>
          <p:cNvSpPr txBox="1"/>
          <p:nvPr/>
        </p:nvSpPr>
        <p:spPr>
          <a:xfrm>
            <a:off x="4930588" y="1748120"/>
            <a:ext cx="1102659" cy="46166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Surdez</a:t>
            </a:r>
          </a:p>
          <a:p>
            <a:pPr algn="ctr"/>
            <a:r>
              <a:rPr lang="pt-PT" sz="1200" dirty="0"/>
              <a:t>IC:2.14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22F783A-F6E8-C5F8-22EF-1ADB17958DF6}"/>
              </a:ext>
            </a:extLst>
          </p:cNvPr>
          <p:cNvSpPr txBox="1"/>
          <p:nvPr/>
        </p:nvSpPr>
        <p:spPr>
          <a:xfrm>
            <a:off x="6382870" y="1748119"/>
            <a:ext cx="262665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b="1" dirty="0"/>
              <a:t>Anomalia fenotípica</a:t>
            </a:r>
          </a:p>
          <a:p>
            <a:pPr algn="ctr"/>
            <a:r>
              <a:rPr lang="pt-PT" sz="1200" b="1" dirty="0"/>
              <a:t>IC:0.00</a:t>
            </a:r>
          </a:p>
        </p:txBody>
      </p:sp>
      <p:cxnSp>
        <p:nvCxnSpPr>
          <p:cNvPr id="61" name="Conexão reta unidirecional 60">
            <a:extLst>
              <a:ext uri="{FF2B5EF4-FFF2-40B4-BE49-F238E27FC236}">
                <a16:creationId xmlns:a16="http://schemas.microsoft.com/office/drawing/2014/main" id="{58AB3639-F6AA-7C67-92FB-C56E7705CA17}"/>
              </a:ext>
            </a:extLst>
          </p:cNvPr>
          <p:cNvCxnSpPr>
            <a:cxnSpLocks/>
            <a:stCxn id="60" idx="1"/>
            <a:endCxn id="59" idx="3"/>
          </p:cNvCxnSpPr>
          <p:nvPr/>
        </p:nvCxnSpPr>
        <p:spPr>
          <a:xfrm flipH="1">
            <a:off x="6033247" y="1978952"/>
            <a:ext cx="34962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8" name="Conexão reta unidirecional 2047">
            <a:extLst>
              <a:ext uri="{FF2B5EF4-FFF2-40B4-BE49-F238E27FC236}">
                <a16:creationId xmlns:a16="http://schemas.microsoft.com/office/drawing/2014/main" id="{216263BD-B59D-F4D8-3421-06474A422775}"/>
              </a:ext>
            </a:extLst>
          </p:cNvPr>
          <p:cNvCxnSpPr>
            <a:cxnSpLocks/>
            <a:stCxn id="60" idx="2"/>
            <a:endCxn id="31" idx="0"/>
          </p:cNvCxnSpPr>
          <p:nvPr/>
        </p:nvCxnSpPr>
        <p:spPr>
          <a:xfrm flipH="1">
            <a:off x="6234953" y="2209784"/>
            <a:ext cx="1461247" cy="336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2" name="CaixaDeTexto 2051">
            <a:extLst>
              <a:ext uri="{FF2B5EF4-FFF2-40B4-BE49-F238E27FC236}">
                <a16:creationId xmlns:a16="http://schemas.microsoft.com/office/drawing/2014/main" id="{5FE05FBE-DB82-78CB-63ED-D2B1ED842A56}"/>
              </a:ext>
            </a:extLst>
          </p:cNvPr>
          <p:cNvSpPr txBox="1"/>
          <p:nvPr/>
        </p:nvSpPr>
        <p:spPr>
          <a:xfrm>
            <a:off x="10121153" y="1739155"/>
            <a:ext cx="138056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Displasia da anca</a:t>
            </a:r>
          </a:p>
          <a:p>
            <a:pPr algn="ctr"/>
            <a:r>
              <a:rPr lang="pt-PT" sz="1200" dirty="0"/>
              <a:t>IC:2.31</a:t>
            </a:r>
          </a:p>
        </p:txBody>
      </p:sp>
      <p:cxnSp>
        <p:nvCxnSpPr>
          <p:cNvPr id="2053" name="Conexão reta unidirecional 2052">
            <a:extLst>
              <a:ext uri="{FF2B5EF4-FFF2-40B4-BE49-F238E27FC236}">
                <a16:creationId xmlns:a16="http://schemas.microsoft.com/office/drawing/2014/main" id="{6449ECAF-EE90-C099-36A2-D26D864F2D29}"/>
              </a:ext>
            </a:extLst>
          </p:cNvPr>
          <p:cNvCxnSpPr>
            <a:cxnSpLocks/>
            <a:stCxn id="60" idx="3"/>
            <a:endCxn id="2052" idx="1"/>
          </p:cNvCxnSpPr>
          <p:nvPr/>
        </p:nvCxnSpPr>
        <p:spPr>
          <a:xfrm flipV="1">
            <a:off x="9009529" y="1969988"/>
            <a:ext cx="1111624" cy="8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6" name="CaixaDeTexto 2055">
            <a:extLst>
              <a:ext uri="{FF2B5EF4-FFF2-40B4-BE49-F238E27FC236}">
                <a16:creationId xmlns:a16="http://schemas.microsoft.com/office/drawing/2014/main" id="{C50AEF64-DA91-ACA4-3A2F-6195D218694E}"/>
              </a:ext>
            </a:extLst>
          </p:cNvPr>
          <p:cNvSpPr txBox="1"/>
          <p:nvPr/>
        </p:nvSpPr>
        <p:spPr>
          <a:xfrm>
            <a:off x="9493623" y="2707342"/>
            <a:ext cx="219635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Anomalia da fisiologia do olho</a:t>
            </a:r>
          </a:p>
          <a:p>
            <a:pPr algn="ctr"/>
            <a:r>
              <a:rPr lang="pt-PT" sz="1200" dirty="0"/>
              <a:t>IC:1.40</a:t>
            </a:r>
          </a:p>
        </p:txBody>
      </p:sp>
      <p:sp>
        <p:nvSpPr>
          <p:cNvPr id="2057" name="CaixaDeTexto 2056">
            <a:extLst>
              <a:ext uri="{FF2B5EF4-FFF2-40B4-BE49-F238E27FC236}">
                <a16:creationId xmlns:a16="http://schemas.microsoft.com/office/drawing/2014/main" id="{E4C5B6ED-B717-BCC9-5760-D95B4AAC572B}"/>
              </a:ext>
            </a:extLst>
          </p:cNvPr>
          <p:cNvSpPr txBox="1"/>
          <p:nvPr/>
        </p:nvSpPr>
        <p:spPr>
          <a:xfrm>
            <a:off x="10874189" y="3415554"/>
            <a:ext cx="1102659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Estrabismo</a:t>
            </a:r>
          </a:p>
          <a:p>
            <a:pPr algn="ctr"/>
            <a:r>
              <a:rPr lang="pt-PT" sz="1200" dirty="0"/>
              <a:t>IC:2.50</a:t>
            </a:r>
          </a:p>
        </p:txBody>
      </p:sp>
      <p:sp>
        <p:nvSpPr>
          <p:cNvPr id="2058" name="CaixaDeTexto 2057">
            <a:extLst>
              <a:ext uri="{FF2B5EF4-FFF2-40B4-BE49-F238E27FC236}">
                <a16:creationId xmlns:a16="http://schemas.microsoft.com/office/drawing/2014/main" id="{DB50AFE4-3DDF-9031-8FF2-24A9C5A3B284}"/>
              </a:ext>
            </a:extLst>
          </p:cNvPr>
          <p:cNvSpPr txBox="1"/>
          <p:nvPr/>
        </p:nvSpPr>
        <p:spPr>
          <a:xfrm>
            <a:off x="9350189" y="3433484"/>
            <a:ext cx="1013012" cy="46166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Ptose</a:t>
            </a:r>
          </a:p>
          <a:p>
            <a:pPr algn="ctr"/>
            <a:r>
              <a:rPr lang="pt-PT" sz="1200" dirty="0"/>
              <a:t>IC:3.01</a:t>
            </a:r>
          </a:p>
        </p:txBody>
      </p:sp>
      <p:cxnSp>
        <p:nvCxnSpPr>
          <p:cNvPr id="2059" name="Conexão reta unidirecional 2058">
            <a:extLst>
              <a:ext uri="{FF2B5EF4-FFF2-40B4-BE49-F238E27FC236}">
                <a16:creationId xmlns:a16="http://schemas.microsoft.com/office/drawing/2014/main" id="{43094E17-5DF2-5C6C-67BC-3E0C0D3C1A3E}"/>
              </a:ext>
            </a:extLst>
          </p:cNvPr>
          <p:cNvCxnSpPr>
            <a:cxnSpLocks/>
            <a:stCxn id="60" idx="2"/>
            <a:endCxn id="56" idx="0"/>
          </p:cNvCxnSpPr>
          <p:nvPr/>
        </p:nvCxnSpPr>
        <p:spPr>
          <a:xfrm>
            <a:off x="7696200" y="2209784"/>
            <a:ext cx="1340224" cy="1788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2" name="Conexão reta unidirecional 2061">
            <a:extLst>
              <a:ext uri="{FF2B5EF4-FFF2-40B4-BE49-F238E27FC236}">
                <a16:creationId xmlns:a16="http://schemas.microsoft.com/office/drawing/2014/main" id="{41B8E9E3-AEF1-E276-1A25-EAC27ED75AD6}"/>
              </a:ext>
            </a:extLst>
          </p:cNvPr>
          <p:cNvCxnSpPr>
            <a:cxnSpLocks/>
            <a:stCxn id="60" idx="2"/>
            <a:endCxn id="2056" idx="0"/>
          </p:cNvCxnSpPr>
          <p:nvPr/>
        </p:nvCxnSpPr>
        <p:spPr>
          <a:xfrm>
            <a:off x="7696200" y="2209784"/>
            <a:ext cx="2895599" cy="497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5" name="Conexão reta unidirecional 2064">
            <a:extLst>
              <a:ext uri="{FF2B5EF4-FFF2-40B4-BE49-F238E27FC236}">
                <a16:creationId xmlns:a16="http://schemas.microsoft.com/office/drawing/2014/main" id="{4E257B54-FD4C-9CD2-8548-07755C4A4766}"/>
              </a:ext>
            </a:extLst>
          </p:cNvPr>
          <p:cNvCxnSpPr>
            <a:cxnSpLocks/>
            <a:stCxn id="56" idx="2"/>
            <a:endCxn id="58" idx="0"/>
          </p:cNvCxnSpPr>
          <p:nvPr/>
        </p:nvCxnSpPr>
        <p:spPr>
          <a:xfrm>
            <a:off x="9036424" y="4459925"/>
            <a:ext cx="721658" cy="416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8" name="Conexão reta unidirecional 2067">
            <a:extLst>
              <a:ext uri="{FF2B5EF4-FFF2-40B4-BE49-F238E27FC236}">
                <a16:creationId xmlns:a16="http://schemas.microsoft.com/office/drawing/2014/main" id="{24094EA3-20D2-D93B-2E2F-DC8B74152649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 flipH="1">
            <a:off x="8494059" y="4459925"/>
            <a:ext cx="542365" cy="425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2" name="Conexão reta unidirecional 2071">
            <a:extLst>
              <a:ext uri="{FF2B5EF4-FFF2-40B4-BE49-F238E27FC236}">
                <a16:creationId xmlns:a16="http://schemas.microsoft.com/office/drawing/2014/main" id="{DD459458-3F12-E3D8-59A6-7A1B0FD4292F}"/>
              </a:ext>
            </a:extLst>
          </p:cNvPr>
          <p:cNvCxnSpPr>
            <a:cxnSpLocks/>
            <a:stCxn id="2056" idx="2"/>
            <a:endCxn id="2058" idx="0"/>
          </p:cNvCxnSpPr>
          <p:nvPr/>
        </p:nvCxnSpPr>
        <p:spPr>
          <a:xfrm flipH="1">
            <a:off x="9856695" y="3169007"/>
            <a:ext cx="735104" cy="264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5" name="Conexão reta unidirecional 2074">
            <a:extLst>
              <a:ext uri="{FF2B5EF4-FFF2-40B4-BE49-F238E27FC236}">
                <a16:creationId xmlns:a16="http://schemas.microsoft.com/office/drawing/2014/main" id="{B546F16D-FC19-6967-2C97-A194419184CF}"/>
              </a:ext>
            </a:extLst>
          </p:cNvPr>
          <p:cNvCxnSpPr>
            <a:cxnSpLocks/>
            <a:stCxn id="2056" idx="2"/>
            <a:endCxn id="2057" idx="0"/>
          </p:cNvCxnSpPr>
          <p:nvPr/>
        </p:nvCxnSpPr>
        <p:spPr>
          <a:xfrm>
            <a:off x="10591799" y="3169007"/>
            <a:ext cx="833720" cy="246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85" name="Retângulo 2084">
            <a:extLst>
              <a:ext uri="{FF2B5EF4-FFF2-40B4-BE49-F238E27FC236}">
                <a16:creationId xmlns:a16="http://schemas.microsoft.com/office/drawing/2014/main" id="{565837AD-9596-13B5-B63C-EEE58DA8EEDB}"/>
              </a:ext>
            </a:extLst>
          </p:cNvPr>
          <p:cNvSpPr/>
          <p:nvPr/>
        </p:nvSpPr>
        <p:spPr>
          <a:xfrm>
            <a:off x="6714566" y="3469342"/>
            <a:ext cx="1368000" cy="504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2830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116542" y="-67057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fenotípica - Exemplo</a:t>
            </a:r>
          </a:p>
        </p:txBody>
      </p:sp>
      <p:pic>
        <p:nvPicPr>
          <p:cNvPr id="7" name="Picture 5" descr="GitHub - obophenotype/human-phenotype-ontology: Ontology for the  description of human clinical features · GitHub">
            <a:extLst>
              <a:ext uri="{FF2B5EF4-FFF2-40B4-BE49-F238E27FC236}">
                <a16:creationId xmlns:a16="http://schemas.microsoft.com/office/drawing/2014/main" id="{60F38E1B-C3EE-F7C4-C4CD-30192D894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824" y="117849"/>
            <a:ext cx="2814917" cy="105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17C1413-CFD0-2D75-5647-810F64FBD888}"/>
              </a:ext>
            </a:extLst>
          </p:cNvPr>
          <p:cNvSpPr txBox="1"/>
          <p:nvPr/>
        </p:nvSpPr>
        <p:spPr>
          <a:xfrm>
            <a:off x="340659" y="1102658"/>
            <a:ext cx="425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0070C0"/>
                </a:solidFill>
              </a:rPr>
              <a:t>Descrição fenotípica do paciente (p):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393383D2-17DA-0D61-09FE-E49ED52FF91A}"/>
              </a:ext>
            </a:extLst>
          </p:cNvPr>
          <p:cNvGraphicFramePr>
            <a:graphicFrameLocks noGrp="1"/>
          </p:cNvGraphicFramePr>
          <p:nvPr/>
        </p:nvGraphicFramePr>
        <p:xfrm>
          <a:off x="354105" y="1493866"/>
          <a:ext cx="4065495" cy="2011680"/>
        </p:xfrm>
        <a:graphic>
          <a:graphicData uri="http://schemas.openxmlformats.org/drawingml/2006/table">
            <a:tbl>
              <a:tblPr/>
              <a:tblGrid>
                <a:gridCol w="1456766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608729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HP:0001638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Cardiomiopatia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HP:0004322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Baixa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estatura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HP:0001629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Defeito do septo ventricular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HP:0000365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Surdez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Ptose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9ACE3E2E-281A-7E04-FE6A-50E648B545C2}"/>
              </a:ext>
            </a:extLst>
          </p:cNvPr>
          <p:cNvSpPr txBox="1"/>
          <p:nvPr/>
        </p:nvSpPr>
        <p:spPr>
          <a:xfrm>
            <a:off x="304800" y="3895163"/>
            <a:ext cx="425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accent2"/>
                </a:solidFill>
              </a:rPr>
              <a:t>Fenótipo associado à Doença X (DX):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D754CE1A-DDC1-E6B0-9B05-5C71E3C3A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370376"/>
              </p:ext>
            </p:extLst>
          </p:nvPr>
        </p:nvGraphicFramePr>
        <p:xfrm>
          <a:off x="367553" y="4281889"/>
          <a:ext cx="4065495" cy="2011680"/>
        </p:xfrm>
        <a:graphic>
          <a:graphicData uri="http://schemas.openxmlformats.org/drawingml/2006/table">
            <a:tbl>
              <a:tblPr/>
              <a:tblGrid>
                <a:gridCol w="1456766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608729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HP:0001638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Cardiomiopatia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HP:0000823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Atraso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puberdade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HP:0001631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Defeito do septo atrial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HP:0001385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Displasia da anca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HP:0000486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Estrabismo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42530B16-F49A-2D36-8542-2BF75DF35138}"/>
              </a:ext>
            </a:extLst>
          </p:cNvPr>
          <p:cNvSpPr txBox="1"/>
          <p:nvPr/>
        </p:nvSpPr>
        <p:spPr>
          <a:xfrm>
            <a:off x="6741460" y="3487271"/>
            <a:ext cx="131781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Cardiomiopatia</a:t>
            </a:r>
          </a:p>
          <a:p>
            <a:pPr algn="ctr"/>
            <a:r>
              <a:rPr lang="pt-PT" sz="1200" dirty="0"/>
              <a:t>IC:3.16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FF840A7-9BBC-8B2D-260D-3F443BF08D73}"/>
              </a:ext>
            </a:extLst>
          </p:cNvPr>
          <p:cNvSpPr txBox="1"/>
          <p:nvPr/>
        </p:nvSpPr>
        <p:spPr>
          <a:xfrm>
            <a:off x="4688538" y="4607860"/>
            <a:ext cx="950260" cy="83099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Defeito do septo ventricular</a:t>
            </a:r>
          </a:p>
          <a:p>
            <a:pPr algn="ctr"/>
            <a:r>
              <a:rPr lang="pt-PT" sz="1200" dirty="0"/>
              <a:t>IC:3.33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B6BB6E-E0E3-F671-C69D-050C1F4388B2}"/>
              </a:ext>
            </a:extLst>
          </p:cNvPr>
          <p:cNvSpPr txBox="1"/>
          <p:nvPr/>
        </p:nvSpPr>
        <p:spPr>
          <a:xfrm>
            <a:off x="5728442" y="4814049"/>
            <a:ext cx="167640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Defeito do septo atrial</a:t>
            </a:r>
          </a:p>
          <a:p>
            <a:pPr algn="ctr"/>
            <a:r>
              <a:rPr lang="pt-PT" sz="1200" dirty="0"/>
              <a:t>IC:3.30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3AA6B9A-676E-19A0-4A46-B2D18B63B80E}"/>
              </a:ext>
            </a:extLst>
          </p:cNvPr>
          <p:cNvSpPr txBox="1"/>
          <p:nvPr/>
        </p:nvSpPr>
        <p:spPr>
          <a:xfrm>
            <a:off x="4491312" y="3334872"/>
            <a:ext cx="184673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Anomalia da morfologia do septo cardíaco</a:t>
            </a:r>
          </a:p>
          <a:p>
            <a:pPr algn="ctr"/>
            <a:r>
              <a:rPr lang="pt-PT" sz="1200" dirty="0"/>
              <a:t>IC:2.82</a:t>
            </a:r>
          </a:p>
        </p:txBody>
      </p: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8A66756F-70FE-0AC1-D9E2-55EA9712610C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 flipH="1">
            <a:off x="5163668" y="3981203"/>
            <a:ext cx="251012" cy="626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0A654194-03D6-0ABB-58F5-CFCDBB5CFFF0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5414680" y="3981203"/>
            <a:ext cx="1151965" cy="832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8A88E6B-BB06-319F-B508-4DFCC069B060}"/>
              </a:ext>
            </a:extLst>
          </p:cNvPr>
          <p:cNvSpPr txBox="1"/>
          <p:nvPr/>
        </p:nvSpPr>
        <p:spPr>
          <a:xfrm>
            <a:off x="4921623" y="2545978"/>
            <a:ext cx="262665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Anomalia da morfologia do coração</a:t>
            </a:r>
          </a:p>
          <a:p>
            <a:pPr algn="ctr"/>
            <a:r>
              <a:rPr lang="pt-PT" sz="1200" dirty="0"/>
              <a:t>IC:1.83</a:t>
            </a:r>
          </a:p>
        </p:txBody>
      </p: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09688478-A4E5-ED2A-CC57-ECAB6E27A790}"/>
              </a:ext>
            </a:extLst>
          </p:cNvPr>
          <p:cNvCxnSpPr>
            <a:cxnSpLocks/>
            <a:stCxn id="31" idx="2"/>
            <a:endCxn id="17" idx="0"/>
          </p:cNvCxnSpPr>
          <p:nvPr/>
        </p:nvCxnSpPr>
        <p:spPr>
          <a:xfrm>
            <a:off x="6234953" y="3007643"/>
            <a:ext cx="1165413" cy="479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7724ED22-8CDF-D3D6-5AF2-9DB1BE33FDA8}"/>
              </a:ext>
            </a:extLst>
          </p:cNvPr>
          <p:cNvCxnSpPr>
            <a:cxnSpLocks/>
            <a:stCxn id="31" idx="2"/>
            <a:endCxn id="24" idx="0"/>
          </p:cNvCxnSpPr>
          <p:nvPr/>
        </p:nvCxnSpPr>
        <p:spPr>
          <a:xfrm flipH="1">
            <a:off x="5414680" y="3007643"/>
            <a:ext cx="820273" cy="327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CC4D0D49-E1D7-4185-B5B2-91DC786A569F}"/>
              </a:ext>
            </a:extLst>
          </p:cNvPr>
          <p:cNvSpPr txBox="1"/>
          <p:nvPr/>
        </p:nvSpPr>
        <p:spPr>
          <a:xfrm>
            <a:off x="8139954" y="3998260"/>
            <a:ext cx="17929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Atraso de crescimento</a:t>
            </a:r>
          </a:p>
          <a:p>
            <a:pPr algn="ctr"/>
            <a:r>
              <a:rPr lang="pt-PT" sz="1200" dirty="0"/>
              <a:t>IC:1.74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2A902BC-1D27-7A45-0EC5-99F8D09B0D6E}"/>
              </a:ext>
            </a:extLst>
          </p:cNvPr>
          <p:cNvSpPr txBox="1"/>
          <p:nvPr/>
        </p:nvSpPr>
        <p:spPr>
          <a:xfrm>
            <a:off x="7942729" y="4885767"/>
            <a:ext cx="1102659" cy="646331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Baixa estatura</a:t>
            </a:r>
          </a:p>
          <a:p>
            <a:pPr algn="ctr"/>
            <a:r>
              <a:rPr lang="pt-PT" sz="1200" dirty="0"/>
              <a:t>IC:2.09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1C7F8F14-B0E3-5428-C152-060AD85FB252}"/>
              </a:ext>
            </a:extLst>
          </p:cNvPr>
          <p:cNvSpPr txBox="1"/>
          <p:nvPr/>
        </p:nvSpPr>
        <p:spPr>
          <a:xfrm>
            <a:off x="9206752" y="4876802"/>
            <a:ext cx="110265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Atraso da puberdade</a:t>
            </a:r>
          </a:p>
          <a:p>
            <a:pPr algn="ctr"/>
            <a:r>
              <a:rPr lang="pt-PT" sz="1200" dirty="0"/>
              <a:t>IC:4.42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9703398-A47F-42BB-B96D-1F4FA7522E8D}"/>
              </a:ext>
            </a:extLst>
          </p:cNvPr>
          <p:cNvSpPr txBox="1"/>
          <p:nvPr/>
        </p:nvSpPr>
        <p:spPr>
          <a:xfrm>
            <a:off x="4930588" y="1748120"/>
            <a:ext cx="1102659" cy="46166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Surdez</a:t>
            </a:r>
          </a:p>
          <a:p>
            <a:pPr algn="ctr"/>
            <a:r>
              <a:rPr lang="pt-PT" sz="1200" dirty="0"/>
              <a:t>IC:2.14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22F783A-F6E8-C5F8-22EF-1ADB17958DF6}"/>
              </a:ext>
            </a:extLst>
          </p:cNvPr>
          <p:cNvSpPr txBox="1"/>
          <p:nvPr/>
        </p:nvSpPr>
        <p:spPr>
          <a:xfrm>
            <a:off x="6382870" y="1748119"/>
            <a:ext cx="262665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b="1" dirty="0"/>
              <a:t>Anomalia fenotípica</a:t>
            </a:r>
          </a:p>
          <a:p>
            <a:pPr algn="ctr"/>
            <a:r>
              <a:rPr lang="pt-PT" sz="1200" b="1" dirty="0"/>
              <a:t>IC:0.00</a:t>
            </a:r>
          </a:p>
        </p:txBody>
      </p:sp>
      <p:cxnSp>
        <p:nvCxnSpPr>
          <p:cNvPr id="61" name="Conexão reta unidirecional 60">
            <a:extLst>
              <a:ext uri="{FF2B5EF4-FFF2-40B4-BE49-F238E27FC236}">
                <a16:creationId xmlns:a16="http://schemas.microsoft.com/office/drawing/2014/main" id="{58AB3639-F6AA-7C67-92FB-C56E7705CA17}"/>
              </a:ext>
            </a:extLst>
          </p:cNvPr>
          <p:cNvCxnSpPr>
            <a:cxnSpLocks/>
            <a:stCxn id="60" idx="1"/>
            <a:endCxn id="59" idx="3"/>
          </p:cNvCxnSpPr>
          <p:nvPr/>
        </p:nvCxnSpPr>
        <p:spPr>
          <a:xfrm flipH="1">
            <a:off x="6033247" y="1978952"/>
            <a:ext cx="34962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8" name="Conexão reta unidirecional 2047">
            <a:extLst>
              <a:ext uri="{FF2B5EF4-FFF2-40B4-BE49-F238E27FC236}">
                <a16:creationId xmlns:a16="http://schemas.microsoft.com/office/drawing/2014/main" id="{216263BD-B59D-F4D8-3421-06474A422775}"/>
              </a:ext>
            </a:extLst>
          </p:cNvPr>
          <p:cNvCxnSpPr>
            <a:cxnSpLocks/>
            <a:stCxn id="60" idx="2"/>
            <a:endCxn id="31" idx="0"/>
          </p:cNvCxnSpPr>
          <p:nvPr/>
        </p:nvCxnSpPr>
        <p:spPr>
          <a:xfrm flipH="1">
            <a:off x="6234953" y="2209784"/>
            <a:ext cx="1461247" cy="336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2" name="CaixaDeTexto 2051">
            <a:extLst>
              <a:ext uri="{FF2B5EF4-FFF2-40B4-BE49-F238E27FC236}">
                <a16:creationId xmlns:a16="http://schemas.microsoft.com/office/drawing/2014/main" id="{5FE05FBE-DB82-78CB-63ED-D2B1ED842A56}"/>
              </a:ext>
            </a:extLst>
          </p:cNvPr>
          <p:cNvSpPr txBox="1"/>
          <p:nvPr/>
        </p:nvSpPr>
        <p:spPr>
          <a:xfrm>
            <a:off x="10121153" y="1739155"/>
            <a:ext cx="138056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Displasia da anca</a:t>
            </a:r>
          </a:p>
          <a:p>
            <a:pPr algn="ctr"/>
            <a:r>
              <a:rPr lang="pt-PT" sz="1200" dirty="0"/>
              <a:t>IC:2.31</a:t>
            </a:r>
          </a:p>
        </p:txBody>
      </p:sp>
      <p:cxnSp>
        <p:nvCxnSpPr>
          <p:cNvPr id="2053" name="Conexão reta unidirecional 2052">
            <a:extLst>
              <a:ext uri="{FF2B5EF4-FFF2-40B4-BE49-F238E27FC236}">
                <a16:creationId xmlns:a16="http://schemas.microsoft.com/office/drawing/2014/main" id="{6449ECAF-EE90-C099-36A2-D26D864F2D29}"/>
              </a:ext>
            </a:extLst>
          </p:cNvPr>
          <p:cNvCxnSpPr>
            <a:cxnSpLocks/>
            <a:stCxn id="60" idx="3"/>
            <a:endCxn id="2052" idx="1"/>
          </p:cNvCxnSpPr>
          <p:nvPr/>
        </p:nvCxnSpPr>
        <p:spPr>
          <a:xfrm flipV="1">
            <a:off x="9009529" y="1969988"/>
            <a:ext cx="1111624" cy="8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6" name="CaixaDeTexto 2055">
            <a:extLst>
              <a:ext uri="{FF2B5EF4-FFF2-40B4-BE49-F238E27FC236}">
                <a16:creationId xmlns:a16="http://schemas.microsoft.com/office/drawing/2014/main" id="{C50AEF64-DA91-ACA4-3A2F-6195D218694E}"/>
              </a:ext>
            </a:extLst>
          </p:cNvPr>
          <p:cNvSpPr txBox="1"/>
          <p:nvPr/>
        </p:nvSpPr>
        <p:spPr>
          <a:xfrm>
            <a:off x="9493623" y="2707342"/>
            <a:ext cx="219635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Anomalia da fisiologia do olho</a:t>
            </a:r>
          </a:p>
          <a:p>
            <a:pPr algn="ctr"/>
            <a:r>
              <a:rPr lang="pt-PT" sz="1200" dirty="0"/>
              <a:t>IC:1.40</a:t>
            </a:r>
          </a:p>
        </p:txBody>
      </p:sp>
      <p:sp>
        <p:nvSpPr>
          <p:cNvPr id="2057" name="CaixaDeTexto 2056">
            <a:extLst>
              <a:ext uri="{FF2B5EF4-FFF2-40B4-BE49-F238E27FC236}">
                <a16:creationId xmlns:a16="http://schemas.microsoft.com/office/drawing/2014/main" id="{E4C5B6ED-B717-BCC9-5760-D95B4AAC572B}"/>
              </a:ext>
            </a:extLst>
          </p:cNvPr>
          <p:cNvSpPr txBox="1"/>
          <p:nvPr/>
        </p:nvSpPr>
        <p:spPr>
          <a:xfrm>
            <a:off x="10874189" y="3415554"/>
            <a:ext cx="1102659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Estrabismo</a:t>
            </a:r>
          </a:p>
          <a:p>
            <a:pPr algn="ctr"/>
            <a:r>
              <a:rPr lang="pt-PT" sz="1200" dirty="0"/>
              <a:t>IC:2.50</a:t>
            </a:r>
          </a:p>
        </p:txBody>
      </p:sp>
      <p:sp>
        <p:nvSpPr>
          <p:cNvPr id="2058" name="CaixaDeTexto 2057">
            <a:extLst>
              <a:ext uri="{FF2B5EF4-FFF2-40B4-BE49-F238E27FC236}">
                <a16:creationId xmlns:a16="http://schemas.microsoft.com/office/drawing/2014/main" id="{DB50AFE4-3DDF-9031-8FF2-24A9C5A3B284}"/>
              </a:ext>
            </a:extLst>
          </p:cNvPr>
          <p:cNvSpPr txBox="1"/>
          <p:nvPr/>
        </p:nvSpPr>
        <p:spPr>
          <a:xfrm>
            <a:off x="9350189" y="3433484"/>
            <a:ext cx="1013012" cy="46166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Ptose</a:t>
            </a:r>
          </a:p>
          <a:p>
            <a:pPr algn="ctr"/>
            <a:r>
              <a:rPr lang="pt-PT" sz="1200" dirty="0"/>
              <a:t>IC:3.01</a:t>
            </a:r>
          </a:p>
        </p:txBody>
      </p:sp>
      <p:cxnSp>
        <p:nvCxnSpPr>
          <p:cNvPr id="2059" name="Conexão reta unidirecional 2058">
            <a:extLst>
              <a:ext uri="{FF2B5EF4-FFF2-40B4-BE49-F238E27FC236}">
                <a16:creationId xmlns:a16="http://schemas.microsoft.com/office/drawing/2014/main" id="{43094E17-5DF2-5C6C-67BC-3E0C0D3C1A3E}"/>
              </a:ext>
            </a:extLst>
          </p:cNvPr>
          <p:cNvCxnSpPr>
            <a:cxnSpLocks/>
            <a:stCxn id="60" idx="2"/>
            <a:endCxn id="56" idx="0"/>
          </p:cNvCxnSpPr>
          <p:nvPr/>
        </p:nvCxnSpPr>
        <p:spPr>
          <a:xfrm>
            <a:off x="7696200" y="2209784"/>
            <a:ext cx="1340224" cy="1788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2" name="Conexão reta unidirecional 2061">
            <a:extLst>
              <a:ext uri="{FF2B5EF4-FFF2-40B4-BE49-F238E27FC236}">
                <a16:creationId xmlns:a16="http://schemas.microsoft.com/office/drawing/2014/main" id="{41B8E9E3-AEF1-E276-1A25-EAC27ED75AD6}"/>
              </a:ext>
            </a:extLst>
          </p:cNvPr>
          <p:cNvCxnSpPr>
            <a:cxnSpLocks/>
            <a:stCxn id="60" idx="2"/>
            <a:endCxn id="2056" idx="0"/>
          </p:cNvCxnSpPr>
          <p:nvPr/>
        </p:nvCxnSpPr>
        <p:spPr>
          <a:xfrm>
            <a:off x="7696200" y="2209784"/>
            <a:ext cx="2895599" cy="497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5" name="Conexão reta unidirecional 2064">
            <a:extLst>
              <a:ext uri="{FF2B5EF4-FFF2-40B4-BE49-F238E27FC236}">
                <a16:creationId xmlns:a16="http://schemas.microsoft.com/office/drawing/2014/main" id="{4E257B54-FD4C-9CD2-8548-07755C4A4766}"/>
              </a:ext>
            </a:extLst>
          </p:cNvPr>
          <p:cNvCxnSpPr>
            <a:cxnSpLocks/>
            <a:stCxn id="56" idx="2"/>
            <a:endCxn id="58" idx="0"/>
          </p:cNvCxnSpPr>
          <p:nvPr/>
        </p:nvCxnSpPr>
        <p:spPr>
          <a:xfrm>
            <a:off x="9036424" y="4459925"/>
            <a:ext cx="721658" cy="416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8" name="Conexão reta unidirecional 2067">
            <a:extLst>
              <a:ext uri="{FF2B5EF4-FFF2-40B4-BE49-F238E27FC236}">
                <a16:creationId xmlns:a16="http://schemas.microsoft.com/office/drawing/2014/main" id="{24094EA3-20D2-D93B-2E2F-DC8B74152649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 flipH="1">
            <a:off x="8494059" y="4459925"/>
            <a:ext cx="542365" cy="425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2" name="Conexão reta unidirecional 2071">
            <a:extLst>
              <a:ext uri="{FF2B5EF4-FFF2-40B4-BE49-F238E27FC236}">
                <a16:creationId xmlns:a16="http://schemas.microsoft.com/office/drawing/2014/main" id="{DD459458-3F12-E3D8-59A6-7A1B0FD4292F}"/>
              </a:ext>
            </a:extLst>
          </p:cNvPr>
          <p:cNvCxnSpPr>
            <a:cxnSpLocks/>
            <a:stCxn id="2056" idx="2"/>
            <a:endCxn id="2058" idx="0"/>
          </p:cNvCxnSpPr>
          <p:nvPr/>
        </p:nvCxnSpPr>
        <p:spPr>
          <a:xfrm flipH="1">
            <a:off x="9856695" y="3169007"/>
            <a:ext cx="735104" cy="264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5" name="Conexão reta unidirecional 2074">
            <a:extLst>
              <a:ext uri="{FF2B5EF4-FFF2-40B4-BE49-F238E27FC236}">
                <a16:creationId xmlns:a16="http://schemas.microsoft.com/office/drawing/2014/main" id="{B546F16D-FC19-6967-2C97-A194419184CF}"/>
              </a:ext>
            </a:extLst>
          </p:cNvPr>
          <p:cNvCxnSpPr>
            <a:cxnSpLocks/>
            <a:stCxn id="2056" idx="2"/>
            <a:endCxn id="2057" idx="0"/>
          </p:cNvCxnSpPr>
          <p:nvPr/>
        </p:nvCxnSpPr>
        <p:spPr>
          <a:xfrm>
            <a:off x="10591799" y="3169007"/>
            <a:ext cx="833720" cy="246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85" name="Retângulo 2084">
            <a:extLst>
              <a:ext uri="{FF2B5EF4-FFF2-40B4-BE49-F238E27FC236}">
                <a16:creationId xmlns:a16="http://schemas.microsoft.com/office/drawing/2014/main" id="{565837AD-9596-13B5-B63C-EEE58DA8EEDB}"/>
              </a:ext>
            </a:extLst>
          </p:cNvPr>
          <p:cNvSpPr/>
          <p:nvPr/>
        </p:nvSpPr>
        <p:spPr>
          <a:xfrm>
            <a:off x="6714566" y="3469342"/>
            <a:ext cx="1368000" cy="504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87280463-6490-730D-41D3-DA6FE0557D9D}"/>
              </a:ext>
            </a:extLst>
          </p:cNvPr>
          <p:cNvSpPr/>
          <p:nvPr/>
        </p:nvSpPr>
        <p:spPr>
          <a:xfrm rot="2874720">
            <a:off x="3406589" y="4491317"/>
            <a:ext cx="170329" cy="304800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80BF273D-7341-A190-A50A-41065180377E}"/>
              </a:ext>
            </a:extLst>
          </p:cNvPr>
          <p:cNvSpPr/>
          <p:nvPr/>
        </p:nvSpPr>
        <p:spPr>
          <a:xfrm rot="2874720">
            <a:off x="3388659" y="1694329"/>
            <a:ext cx="170329" cy="304800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B43BDF26-5367-A798-3A2C-442D9E4DF54C}"/>
              </a:ext>
            </a:extLst>
          </p:cNvPr>
          <p:cNvSpPr/>
          <p:nvPr/>
        </p:nvSpPr>
        <p:spPr>
          <a:xfrm rot="2874720">
            <a:off x="7978590" y="3263153"/>
            <a:ext cx="170329" cy="304800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1B06415-F1A9-D61B-8B2E-71B810362C6C}"/>
              </a:ext>
            </a:extLst>
          </p:cNvPr>
          <p:cNvSpPr txBox="1"/>
          <p:nvPr/>
        </p:nvSpPr>
        <p:spPr>
          <a:xfrm>
            <a:off x="4715434" y="5979460"/>
            <a:ext cx="1864660" cy="3385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Sim(</a:t>
            </a:r>
            <a:r>
              <a:rPr lang="pt-PT" sz="1600" b="1" dirty="0" err="1"/>
              <a:t>p,DX</a:t>
            </a:r>
            <a:r>
              <a:rPr lang="pt-PT" sz="1600" b="1" dirty="0"/>
              <a:t>)= 3.16 + 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434C1700-D135-FE62-6D28-78EE5E4E4D5C}"/>
              </a:ext>
            </a:extLst>
          </p:cNvPr>
          <p:cNvSpPr/>
          <p:nvPr/>
        </p:nvSpPr>
        <p:spPr>
          <a:xfrm rot="2874720">
            <a:off x="3379693" y="2017058"/>
            <a:ext cx="170329" cy="30480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6C656C5-8851-649E-5EFE-AB1B46050839}"/>
              </a:ext>
            </a:extLst>
          </p:cNvPr>
          <p:cNvSpPr/>
          <p:nvPr/>
        </p:nvSpPr>
        <p:spPr>
          <a:xfrm rot="2874720">
            <a:off x="3836894" y="4823010"/>
            <a:ext cx="170329" cy="30480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3C5FB60E-5068-66E5-4E49-83A684262FA5}"/>
              </a:ext>
            </a:extLst>
          </p:cNvPr>
          <p:cNvSpPr/>
          <p:nvPr/>
        </p:nvSpPr>
        <p:spPr>
          <a:xfrm rot="2874720">
            <a:off x="9888070" y="3890681"/>
            <a:ext cx="170329" cy="30480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E7A84CF-D91B-BD0F-6E32-8FB0FF3608C1}"/>
              </a:ext>
            </a:extLst>
          </p:cNvPr>
          <p:cNvSpPr txBox="1"/>
          <p:nvPr/>
        </p:nvSpPr>
        <p:spPr>
          <a:xfrm>
            <a:off x="6361889" y="5966488"/>
            <a:ext cx="788894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1.74 + </a:t>
            </a:r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C6BAA809-150B-F0A2-9604-011F9D1D641F}"/>
              </a:ext>
            </a:extLst>
          </p:cNvPr>
          <p:cNvSpPr/>
          <p:nvPr/>
        </p:nvSpPr>
        <p:spPr>
          <a:xfrm rot="2874720">
            <a:off x="4407584" y="2358669"/>
            <a:ext cx="170329" cy="304800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2DE3B404-F771-D61C-5FA8-5B718F4B271F}"/>
              </a:ext>
            </a:extLst>
          </p:cNvPr>
          <p:cNvSpPr/>
          <p:nvPr/>
        </p:nvSpPr>
        <p:spPr>
          <a:xfrm rot="2874720">
            <a:off x="3976325" y="5118082"/>
            <a:ext cx="170329" cy="304800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Seta: Para Baixo 18">
            <a:extLst>
              <a:ext uri="{FF2B5EF4-FFF2-40B4-BE49-F238E27FC236}">
                <a16:creationId xmlns:a16="http://schemas.microsoft.com/office/drawing/2014/main" id="{29A3ADE7-470F-611F-635C-EC91AEB6EC24}"/>
              </a:ext>
            </a:extLst>
          </p:cNvPr>
          <p:cNvSpPr/>
          <p:nvPr/>
        </p:nvSpPr>
        <p:spPr>
          <a:xfrm rot="2874720">
            <a:off x="6307720" y="3159580"/>
            <a:ext cx="170329" cy="304800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0B5A30A-95AE-0493-8859-205E6D4A5F10}"/>
              </a:ext>
            </a:extLst>
          </p:cNvPr>
          <p:cNvSpPr txBox="1"/>
          <p:nvPr/>
        </p:nvSpPr>
        <p:spPr>
          <a:xfrm>
            <a:off x="6903394" y="5963245"/>
            <a:ext cx="788894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2.82+ 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DAE35236-350C-0B5F-1F3D-4BF4DFB2995E}"/>
              </a:ext>
            </a:extLst>
          </p:cNvPr>
          <p:cNvSpPr/>
          <p:nvPr/>
        </p:nvSpPr>
        <p:spPr>
          <a:xfrm rot="2874720">
            <a:off x="2782302" y="2731946"/>
            <a:ext cx="170329" cy="3048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Seta: Para Baixo 24">
            <a:extLst>
              <a:ext uri="{FF2B5EF4-FFF2-40B4-BE49-F238E27FC236}">
                <a16:creationId xmlns:a16="http://schemas.microsoft.com/office/drawing/2014/main" id="{BF6B1869-219D-B9CC-6ECB-8099C907B812}"/>
              </a:ext>
            </a:extLst>
          </p:cNvPr>
          <p:cNvSpPr/>
          <p:nvPr/>
        </p:nvSpPr>
        <p:spPr>
          <a:xfrm rot="2874720">
            <a:off x="8489196" y="1551657"/>
            <a:ext cx="170329" cy="3048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0E529A9-4854-D41A-39F3-B35F8BDA36AB}"/>
              </a:ext>
            </a:extLst>
          </p:cNvPr>
          <p:cNvSpPr txBox="1"/>
          <p:nvPr/>
        </p:nvSpPr>
        <p:spPr>
          <a:xfrm>
            <a:off x="7464355" y="5969730"/>
            <a:ext cx="788894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0.00+ </a:t>
            </a:r>
          </a:p>
        </p:txBody>
      </p:sp>
      <p:sp>
        <p:nvSpPr>
          <p:cNvPr id="29" name="Seta: Para Baixo 28">
            <a:extLst>
              <a:ext uri="{FF2B5EF4-FFF2-40B4-BE49-F238E27FC236}">
                <a16:creationId xmlns:a16="http://schemas.microsoft.com/office/drawing/2014/main" id="{59C58E16-4A46-50AD-9CCC-C6F578E76699}"/>
              </a:ext>
            </a:extLst>
          </p:cNvPr>
          <p:cNvSpPr/>
          <p:nvPr/>
        </p:nvSpPr>
        <p:spPr>
          <a:xfrm rot="2874720">
            <a:off x="2769333" y="3088627"/>
            <a:ext cx="170329" cy="304800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Seta: Para Baixo 29">
            <a:extLst>
              <a:ext uri="{FF2B5EF4-FFF2-40B4-BE49-F238E27FC236}">
                <a16:creationId xmlns:a16="http://schemas.microsoft.com/office/drawing/2014/main" id="{C222D281-844F-B349-02D0-641ADF201293}"/>
              </a:ext>
            </a:extLst>
          </p:cNvPr>
          <p:cNvSpPr/>
          <p:nvPr/>
        </p:nvSpPr>
        <p:spPr>
          <a:xfrm rot="2874720">
            <a:off x="3330295" y="5838312"/>
            <a:ext cx="170329" cy="304800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Seta: Para Baixo 32">
            <a:extLst>
              <a:ext uri="{FF2B5EF4-FFF2-40B4-BE49-F238E27FC236}">
                <a16:creationId xmlns:a16="http://schemas.microsoft.com/office/drawing/2014/main" id="{286F89C6-CCA3-4235-4F0F-EBDDE5E2FE98}"/>
              </a:ext>
            </a:extLst>
          </p:cNvPr>
          <p:cNvSpPr/>
          <p:nvPr/>
        </p:nvSpPr>
        <p:spPr>
          <a:xfrm rot="2874720">
            <a:off x="11624746" y="2527665"/>
            <a:ext cx="170329" cy="304800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1913AAE-57DF-4295-BD6A-48CA1750942D}"/>
              </a:ext>
            </a:extLst>
          </p:cNvPr>
          <p:cNvSpPr txBox="1"/>
          <p:nvPr/>
        </p:nvSpPr>
        <p:spPr>
          <a:xfrm>
            <a:off x="7928037" y="5980459"/>
            <a:ext cx="788894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1.40 </a:t>
            </a:r>
          </a:p>
        </p:txBody>
      </p:sp>
      <p:cxnSp>
        <p:nvCxnSpPr>
          <p:cNvPr id="37" name="Conexão reta 36">
            <a:extLst>
              <a:ext uri="{FF2B5EF4-FFF2-40B4-BE49-F238E27FC236}">
                <a16:creationId xmlns:a16="http://schemas.microsoft.com/office/drawing/2014/main" id="{E376C078-66C1-9F63-8700-3F6284137A8A}"/>
              </a:ext>
            </a:extLst>
          </p:cNvPr>
          <p:cNvCxnSpPr/>
          <p:nvPr/>
        </p:nvCxnSpPr>
        <p:spPr>
          <a:xfrm>
            <a:off x="5894962" y="6247016"/>
            <a:ext cx="2665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7C44103-156E-16B0-25B2-D7629F96F871}"/>
              </a:ext>
            </a:extLst>
          </p:cNvPr>
          <p:cNvSpPr txBox="1"/>
          <p:nvPr/>
        </p:nvSpPr>
        <p:spPr>
          <a:xfrm>
            <a:off x="6835296" y="6237288"/>
            <a:ext cx="788894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5 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18B03C1-8C2B-01A1-6B19-96E44E52E5B8}"/>
              </a:ext>
            </a:extLst>
          </p:cNvPr>
          <p:cNvSpPr txBox="1"/>
          <p:nvPr/>
        </p:nvSpPr>
        <p:spPr>
          <a:xfrm>
            <a:off x="8488998" y="6019373"/>
            <a:ext cx="118029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0070C0"/>
                </a:solidFill>
              </a:rPr>
              <a:t>=1.824 </a:t>
            </a:r>
          </a:p>
        </p:txBody>
      </p:sp>
    </p:spTree>
    <p:extLst>
      <p:ext uri="{BB962C8B-B14F-4D97-AF65-F5344CB8AC3E}">
        <p14:creationId xmlns:p14="http://schemas.microsoft.com/office/powerpoint/2010/main" val="293576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8" grpId="0" animBg="1"/>
      <p:bldP spid="19" grpId="0" animBg="1"/>
      <p:bldP spid="20" grpId="0" animBg="1"/>
      <p:bldP spid="21" grpId="0" animBg="1"/>
      <p:bldP spid="25" grpId="0" animBg="1"/>
      <p:bldP spid="27" grpId="0" animBg="1"/>
      <p:bldP spid="29" grpId="0" animBg="1"/>
      <p:bldP spid="30" grpId="0" animBg="1"/>
      <p:bldP spid="33" grpId="0" animBg="1"/>
      <p:bldP spid="34" grpId="0" animBg="1"/>
      <p:bldP spid="38" grpId="0" animBg="1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116542" y="-67057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fenotípica - Exercício</a:t>
            </a:r>
          </a:p>
        </p:txBody>
      </p:sp>
      <p:pic>
        <p:nvPicPr>
          <p:cNvPr id="7" name="Picture 5" descr="GitHub - obophenotype/human-phenotype-ontology: Ontology for the  description of human clinical features · GitHub">
            <a:extLst>
              <a:ext uri="{FF2B5EF4-FFF2-40B4-BE49-F238E27FC236}">
                <a16:creationId xmlns:a16="http://schemas.microsoft.com/office/drawing/2014/main" id="{60F38E1B-C3EE-F7C4-C4CD-30192D894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624" y="90955"/>
            <a:ext cx="3272117" cy="122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4852F92-B9CC-9B80-8467-A03683707233}"/>
              </a:ext>
            </a:extLst>
          </p:cNvPr>
          <p:cNvSpPr txBox="1"/>
          <p:nvPr/>
        </p:nvSpPr>
        <p:spPr>
          <a:xfrm>
            <a:off x="5054873" y="1836139"/>
            <a:ext cx="64735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dirty="0"/>
              <a:t>Calcula a similaridade fenotípica entre a descrição fenotípica do doente e a síndrome de </a:t>
            </a:r>
            <a:r>
              <a:rPr lang="pt-PT" sz="1600" b="1" i="1" dirty="0"/>
              <a:t>Silver-Russell </a:t>
            </a:r>
            <a:r>
              <a:rPr lang="pt-PT" sz="1600" b="1" dirty="0"/>
              <a:t>4  (OMIM:618907), usando os valores de </a:t>
            </a:r>
            <a:r>
              <a:rPr lang="pt-PT" sz="1600" b="1" i="1" dirty="0" err="1"/>
              <a:t>information</a:t>
            </a:r>
            <a:r>
              <a:rPr lang="pt-PT" sz="1600" b="1" i="1" dirty="0"/>
              <a:t> </a:t>
            </a:r>
            <a:r>
              <a:rPr lang="pt-PT" sz="1600" b="1" i="1" dirty="0" err="1"/>
              <a:t>content</a:t>
            </a:r>
            <a:r>
              <a:rPr lang="pt-PT" sz="1600" b="1" i="1" dirty="0"/>
              <a:t> </a:t>
            </a:r>
            <a:r>
              <a:rPr lang="pt-PT" sz="1600" b="1" dirty="0"/>
              <a:t>(IC) do ficheiro IC_subset.txt, a hierarquia indicada em hpo_subset.html, e o site do </a:t>
            </a:r>
            <a:r>
              <a:rPr lang="pt-PT" sz="1600" b="1" dirty="0" err="1"/>
              <a:t>hpo</a:t>
            </a:r>
            <a:r>
              <a:rPr lang="pt-PT" sz="1600" b="1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DE350A-9FEB-99D7-382D-DECB7F704200}"/>
              </a:ext>
            </a:extLst>
          </p:cNvPr>
          <p:cNvSpPr txBox="1"/>
          <p:nvPr/>
        </p:nvSpPr>
        <p:spPr>
          <a:xfrm>
            <a:off x="340659" y="1102658"/>
            <a:ext cx="425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0070C0"/>
                </a:solidFill>
              </a:rPr>
              <a:t>Descrição fenotípica do paciente: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5D2FBD0-D195-F9C4-AE52-06E924745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848456"/>
              </p:ext>
            </p:extLst>
          </p:nvPr>
        </p:nvGraphicFramePr>
        <p:xfrm>
          <a:off x="354105" y="1493866"/>
          <a:ext cx="4065495" cy="2590800"/>
        </p:xfrm>
        <a:graphic>
          <a:graphicData uri="http://schemas.openxmlformats.org/drawingml/2006/table">
            <a:tbl>
              <a:tblPr/>
              <a:tblGrid>
                <a:gridCol w="1456766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608729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HP:0004426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Morfologia anormal da bochecha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HP:0004322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Baixa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estatura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HP:0000274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Cara pequena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HP:0012384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Rinite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Ptose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HP:0011469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Regurgitação nasal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77F674C6-788C-98F6-D6CB-CDB186456C7D}"/>
              </a:ext>
            </a:extLst>
          </p:cNvPr>
          <p:cNvSpPr txBox="1"/>
          <p:nvPr/>
        </p:nvSpPr>
        <p:spPr>
          <a:xfrm>
            <a:off x="4987354" y="3620570"/>
            <a:ext cx="64735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dirty="0"/>
              <a:t>1. Verificar a descrição fenotípica, e respetivos termos, associados à doença indicada, no site do HPO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17E981A-8555-0570-8561-685BA8055E84}"/>
              </a:ext>
            </a:extLst>
          </p:cNvPr>
          <p:cNvSpPr txBox="1"/>
          <p:nvPr/>
        </p:nvSpPr>
        <p:spPr>
          <a:xfrm>
            <a:off x="4977709" y="4432727"/>
            <a:ext cx="64735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dirty="0"/>
              <a:t>2. Usar a descrição fenotípica do paciente como chave, e procurar os termos associados à doença que mais se aproximam, através do esquema do hpo_subset.html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199D7F-2837-BE21-8FA1-1CC416C1BB2D}"/>
              </a:ext>
            </a:extLst>
          </p:cNvPr>
          <p:cNvSpPr txBox="1"/>
          <p:nvPr/>
        </p:nvSpPr>
        <p:spPr>
          <a:xfrm>
            <a:off x="4979638" y="5372206"/>
            <a:ext cx="64735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dirty="0"/>
              <a:t>3. Usar o IC_subset.txt para ir buscar o IC do termo chave.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0CBF8C5-AA70-A089-9152-96281E0972F3}"/>
              </a:ext>
            </a:extLst>
          </p:cNvPr>
          <p:cNvSpPr txBox="1"/>
          <p:nvPr/>
        </p:nvSpPr>
        <p:spPr>
          <a:xfrm>
            <a:off x="4969991" y="5898734"/>
            <a:ext cx="64735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dirty="0"/>
              <a:t>4. Calculo do valor final de similaridade fenotípica.</a:t>
            </a:r>
          </a:p>
        </p:txBody>
      </p:sp>
    </p:spTree>
    <p:extLst>
      <p:ext uri="{BB962C8B-B14F-4D97-AF65-F5344CB8AC3E}">
        <p14:creationId xmlns:p14="http://schemas.microsoft.com/office/powerpoint/2010/main" val="214233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0" y="-450660"/>
            <a:ext cx="584521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fenotípica Exercício - Solução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DE350A-9FEB-99D7-382D-DECB7F704200}"/>
              </a:ext>
            </a:extLst>
          </p:cNvPr>
          <p:cNvSpPr txBox="1"/>
          <p:nvPr/>
        </p:nvSpPr>
        <p:spPr>
          <a:xfrm>
            <a:off x="1532851" y="2769411"/>
            <a:ext cx="425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0070C0"/>
                </a:solidFill>
              </a:rPr>
              <a:t>Descrição fenotípica do paciente: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5D2FBD0-D195-F9C4-AE52-06E924745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022592"/>
              </p:ext>
            </p:extLst>
          </p:nvPr>
        </p:nvGraphicFramePr>
        <p:xfrm>
          <a:off x="1546297" y="3160619"/>
          <a:ext cx="4065495" cy="2590800"/>
        </p:xfrm>
        <a:graphic>
          <a:graphicData uri="http://schemas.openxmlformats.org/drawingml/2006/table">
            <a:tbl>
              <a:tblPr/>
              <a:tblGrid>
                <a:gridCol w="1456766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608729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HP:0004426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Morfologia anormal da bochecha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HP:0004322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Baixa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estatura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HP:0000274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</a:rPr>
                        <a:t>Cara pequena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HP:0012384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Rinite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HP:0000508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Ptose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600" dirty="0"/>
                        <a:t>HP:0011469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Regurgitação nasal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7A66AE4B-8456-361C-A80A-60D07C946763}"/>
              </a:ext>
            </a:extLst>
          </p:cNvPr>
          <p:cNvSpPr txBox="1"/>
          <p:nvPr/>
        </p:nvSpPr>
        <p:spPr>
          <a:xfrm>
            <a:off x="288033" y="1757046"/>
            <a:ext cx="69345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dirty="0"/>
              <a:t>1. Verificar a descrição fenotípica, e respetivos termos, associados à doença indicada, no site do HPO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9336EF-A825-4CB1-70D6-0CA2E01C1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615" y="821804"/>
            <a:ext cx="4321523" cy="589151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CA613B9-1BF0-5AE3-B11E-B0C79086F124}"/>
              </a:ext>
            </a:extLst>
          </p:cNvPr>
          <p:cNvSpPr txBox="1"/>
          <p:nvPr/>
        </p:nvSpPr>
        <p:spPr>
          <a:xfrm>
            <a:off x="7867891" y="255171"/>
            <a:ext cx="3741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i="1" dirty="0"/>
              <a:t>Silver-Russell </a:t>
            </a:r>
            <a:r>
              <a:rPr lang="pt-PT" sz="1800" b="1" dirty="0"/>
              <a:t>4  (OMIM:618907)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4150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0" y="-91845"/>
            <a:ext cx="11065397" cy="786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fenotípica Exercício - Solução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DE350A-9FEB-99D7-382D-DECB7F704200}"/>
              </a:ext>
            </a:extLst>
          </p:cNvPr>
          <p:cNvSpPr txBox="1"/>
          <p:nvPr/>
        </p:nvSpPr>
        <p:spPr>
          <a:xfrm>
            <a:off x="23149" y="1091086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rgbClr val="0070C0"/>
                </a:solidFill>
              </a:rPr>
              <a:t>Descrição fenotípica do paciente: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5D2FBD0-D195-F9C4-AE52-06E924745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756467"/>
              </p:ext>
            </p:extLst>
          </p:nvPr>
        </p:nvGraphicFramePr>
        <p:xfrm>
          <a:off x="87888" y="1366544"/>
          <a:ext cx="3430816" cy="1920240"/>
        </p:xfrm>
        <a:graphic>
          <a:graphicData uri="http://schemas.openxmlformats.org/drawingml/2006/table">
            <a:tbl>
              <a:tblPr/>
              <a:tblGrid>
                <a:gridCol w="1023074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407742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HP:0004426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Morfologia anormal da bochecha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Baixa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estatura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HP:0000274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Cara pequena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HP:0012384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Rinite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Ptose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HP:0011469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Regurgitação nasal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E0BD619C-BC7D-8F4E-00D7-E9AF2BFA8D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6" t="2980" r="24793"/>
          <a:stretch/>
        </p:blipFill>
        <p:spPr>
          <a:xfrm>
            <a:off x="6497831" y="972273"/>
            <a:ext cx="4914807" cy="5636870"/>
          </a:xfrm>
          <a:prstGeom prst="rect">
            <a:avLst/>
          </a:prstGeom>
        </p:spPr>
      </p:pic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33F2BA1-EB52-F42B-B2BE-48FA8928A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710748"/>
              </p:ext>
            </p:extLst>
          </p:nvPr>
        </p:nvGraphicFramePr>
        <p:xfrm>
          <a:off x="101391" y="3706556"/>
          <a:ext cx="4447459" cy="2194560"/>
        </p:xfrm>
        <a:graphic>
          <a:graphicData uri="http://schemas.openxmlformats.org/drawingml/2006/table">
            <a:tbl>
              <a:tblPr/>
              <a:tblGrid>
                <a:gridCol w="1044502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3402957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Hereditariedade 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Baixo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peso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HP:0001518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Pequeno para a idade gestacional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HP:0003561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Tamanho ao nascimento abaixo do 3º percentil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Testa proeminente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Cara triangular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HP:0008872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Dificuldades de alimentação na infância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84251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26C46340-8DB5-7112-CCB5-6E0F820012F0}"/>
              </a:ext>
            </a:extLst>
          </p:cNvPr>
          <p:cNvSpPr txBox="1"/>
          <p:nvPr/>
        </p:nvSpPr>
        <p:spPr>
          <a:xfrm>
            <a:off x="0" y="3407952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accent2"/>
                </a:solidFill>
              </a:rPr>
              <a:t>Descrição fenotípica da doença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EE9EC525-FE9B-F089-57DD-5F5E62FA26B4}"/>
              </a:ext>
            </a:extLst>
          </p:cNvPr>
          <p:cNvCxnSpPr>
            <a:cxnSpLocks/>
          </p:cNvCxnSpPr>
          <p:nvPr/>
        </p:nvCxnSpPr>
        <p:spPr>
          <a:xfrm>
            <a:off x="3437681" y="1817225"/>
            <a:ext cx="5694744" cy="4213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0DA841A4-F742-19FB-6FA9-04D56C126C77}"/>
              </a:ext>
            </a:extLst>
          </p:cNvPr>
          <p:cNvCxnSpPr>
            <a:cxnSpLocks/>
          </p:cNvCxnSpPr>
          <p:nvPr/>
        </p:nvCxnSpPr>
        <p:spPr>
          <a:xfrm flipV="1">
            <a:off x="2627453" y="4514127"/>
            <a:ext cx="7974957" cy="706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35B7F7C-3A0E-FF9A-7FAF-641B2DB5143A}"/>
              </a:ext>
            </a:extLst>
          </p:cNvPr>
          <p:cNvSpPr/>
          <p:nvPr/>
        </p:nvSpPr>
        <p:spPr>
          <a:xfrm>
            <a:off x="9167149" y="5878473"/>
            <a:ext cx="462988" cy="4514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085BA7-FBB7-1C8F-6E89-C09126110D6B}"/>
              </a:ext>
            </a:extLst>
          </p:cNvPr>
          <p:cNvSpPr/>
          <p:nvPr/>
        </p:nvSpPr>
        <p:spPr>
          <a:xfrm>
            <a:off x="10592764" y="4213647"/>
            <a:ext cx="462988" cy="45141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82FDC4-CF37-FB83-6ED0-CE05A86C3B1E}"/>
              </a:ext>
            </a:extLst>
          </p:cNvPr>
          <p:cNvSpPr/>
          <p:nvPr/>
        </p:nvSpPr>
        <p:spPr>
          <a:xfrm>
            <a:off x="8023185" y="3577040"/>
            <a:ext cx="462988" cy="45141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51C997-231F-EA1F-58E8-AC47260396FD}"/>
              </a:ext>
            </a:extLst>
          </p:cNvPr>
          <p:cNvSpPr txBox="1"/>
          <p:nvPr/>
        </p:nvSpPr>
        <p:spPr>
          <a:xfrm>
            <a:off x="7945097" y="3646554"/>
            <a:ext cx="620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</a:rPr>
              <a:t>1.129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129789D-B0B7-F891-1349-2A46CE095C0D}"/>
              </a:ext>
            </a:extLst>
          </p:cNvPr>
          <p:cNvSpPr txBox="1"/>
          <p:nvPr/>
        </p:nvSpPr>
        <p:spPr>
          <a:xfrm>
            <a:off x="351778" y="6237288"/>
            <a:ext cx="1864660" cy="3385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Sim= 1.129 + </a:t>
            </a:r>
          </a:p>
        </p:txBody>
      </p:sp>
    </p:spTree>
    <p:extLst>
      <p:ext uri="{BB962C8B-B14F-4D97-AF65-F5344CB8AC3E}">
        <p14:creationId xmlns:p14="http://schemas.microsoft.com/office/powerpoint/2010/main" val="96284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3" grpId="0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E628E7-210F-5D8B-A20C-23935A3A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80" t="3722" r="3201" b="3391"/>
          <a:stretch/>
        </p:blipFill>
        <p:spPr>
          <a:xfrm>
            <a:off x="5440101" y="1076446"/>
            <a:ext cx="5798917" cy="488451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0" y="-91845"/>
            <a:ext cx="11065397" cy="786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fenotípica Exercício - Solução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DE350A-9FEB-99D7-382D-DECB7F704200}"/>
              </a:ext>
            </a:extLst>
          </p:cNvPr>
          <p:cNvSpPr txBox="1"/>
          <p:nvPr/>
        </p:nvSpPr>
        <p:spPr>
          <a:xfrm>
            <a:off x="23149" y="1091086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rgbClr val="0070C0"/>
                </a:solidFill>
              </a:rPr>
              <a:t>Descrição fenotípica do paciente: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5D2FBD0-D195-F9C4-AE52-06E924745AC5}"/>
              </a:ext>
            </a:extLst>
          </p:cNvPr>
          <p:cNvGraphicFramePr>
            <a:graphicFrameLocks noGrp="1"/>
          </p:cNvGraphicFramePr>
          <p:nvPr/>
        </p:nvGraphicFramePr>
        <p:xfrm>
          <a:off x="87888" y="1366544"/>
          <a:ext cx="3430816" cy="1920240"/>
        </p:xfrm>
        <a:graphic>
          <a:graphicData uri="http://schemas.openxmlformats.org/drawingml/2006/table">
            <a:tbl>
              <a:tblPr/>
              <a:tblGrid>
                <a:gridCol w="1023074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407742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HP:0004426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Morfologia anormal da bochecha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Baixa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estatura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HP:0000274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Cara pequena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HP:0012384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Rinite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Ptose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HP:0011469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Regurgitação nasal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33F2BA1-EB52-F42B-B2BE-48FA8928AFC3}"/>
              </a:ext>
            </a:extLst>
          </p:cNvPr>
          <p:cNvGraphicFramePr>
            <a:graphicFrameLocks noGrp="1"/>
          </p:cNvGraphicFramePr>
          <p:nvPr/>
        </p:nvGraphicFramePr>
        <p:xfrm>
          <a:off x="101391" y="3706556"/>
          <a:ext cx="4447459" cy="2194560"/>
        </p:xfrm>
        <a:graphic>
          <a:graphicData uri="http://schemas.openxmlformats.org/drawingml/2006/table">
            <a:tbl>
              <a:tblPr/>
              <a:tblGrid>
                <a:gridCol w="1044502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3402957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Hereditariedade 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Baixo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peso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HP:0001518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Pequeno para a idade gestacional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HP:0003561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Tamanho ao nascimento abaixo do 3º percentil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Testa proeminente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Cara triangular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HP:0008872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Dificuldades de alimentação na infância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84251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26C46340-8DB5-7112-CCB5-6E0F820012F0}"/>
              </a:ext>
            </a:extLst>
          </p:cNvPr>
          <p:cNvSpPr txBox="1"/>
          <p:nvPr/>
        </p:nvSpPr>
        <p:spPr>
          <a:xfrm>
            <a:off x="0" y="3407952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accent2"/>
                </a:solidFill>
              </a:rPr>
              <a:t>Descrição fenotípica da doença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EE9EC525-FE9B-F089-57DD-5F5E62FA26B4}"/>
              </a:ext>
            </a:extLst>
          </p:cNvPr>
          <p:cNvCxnSpPr>
            <a:cxnSpLocks/>
          </p:cNvCxnSpPr>
          <p:nvPr/>
        </p:nvCxnSpPr>
        <p:spPr>
          <a:xfrm>
            <a:off x="2187615" y="2083443"/>
            <a:ext cx="6921661" cy="1446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0DA841A4-F742-19FB-6FA9-04D56C126C77}"/>
              </a:ext>
            </a:extLst>
          </p:cNvPr>
          <p:cNvCxnSpPr>
            <a:cxnSpLocks/>
          </p:cNvCxnSpPr>
          <p:nvPr/>
        </p:nvCxnSpPr>
        <p:spPr>
          <a:xfrm flipV="1">
            <a:off x="4386805" y="2592729"/>
            <a:ext cx="5451676" cy="2372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35B7F7C-3A0E-FF9A-7FAF-641B2DB5143A}"/>
              </a:ext>
            </a:extLst>
          </p:cNvPr>
          <p:cNvSpPr/>
          <p:nvPr/>
        </p:nvSpPr>
        <p:spPr>
          <a:xfrm>
            <a:off x="9167149" y="3401490"/>
            <a:ext cx="486137" cy="4860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085BA7-FBB7-1C8F-6E89-C09126110D6B}"/>
              </a:ext>
            </a:extLst>
          </p:cNvPr>
          <p:cNvSpPr/>
          <p:nvPr/>
        </p:nvSpPr>
        <p:spPr>
          <a:xfrm>
            <a:off x="9886708" y="2211226"/>
            <a:ext cx="486000" cy="4860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82FDC4-CF37-FB83-6ED0-CE05A86C3B1E}"/>
              </a:ext>
            </a:extLst>
          </p:cNvPr>
          <p:cNvSpPr/>
          <p:nvPr/>
        </p:nvSpPr>
        <p:spPr>
          <a:xfrm>
            <a:off x="9192229" y="3414994"/>
            <a:ext cx="462988" cy="45141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51C997-231F-EA1F-58E8-AC47260396FD}"/>
              </a:ext>
            </a:extLst>
          </p:cNvPr>
          <p:cNvSpPr txBox="1"/>
          <p:nvPr/>
        </p:nvSpPr>
        <p:spPr>
          <a:xfrm>
            <a:off x="9114141" y="3484508"/>
            <a:ext cx="620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</a:rPr>
              <a:t>2.067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129789D-B0B7-F891-1349-2A46CE095C0D}"/>
              </a:ext>
            </a:extLst>
          </p:cNvPr>
          <p:cNvSpPr txBox="1"/>
          <p:nvPr/>
        </p:nvSpPr>
        <p:spPr>
          <a:xfrm>
            <a:off x="351778" y="6237288"/>
            <a:ext cx="1864660" cy="3385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Sim= 1.129 +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3C12709-2C4A-0AF8-FE35-4B4D055BF94F}"/>
              </a:ext>
            </a:extLst>
          </p:cNvPr>
          <p:cNvSpPr txBox="1"/>
          <p:nvPr/>
        </p:nvSpPr>
        <p:spPr>
          <a:xfrm>
            <a:off x="1786346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2.067+</a:t>
            </a:r>
          </a:p>
        </p:txBody>
      </p:sp>
    </p:spTree>
    <p:extLst>
      <p:ext uri="{BB962C8B-B14F-4D97-AF65-F5344CB8AC3E}">
        <p14:creationId xmlns:p14="http://schemas.microsoft.com/office/powerpoint/2010/main" val="310698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3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0" y="-91845"/>
            <a:ext cx="11065397" cy="786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fenotípica Exercício - Solução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DE350A-9FEB-99D7-382D-DECB7F704200}"/>
              </a:ext>
            </a:extLst>
          </p:cNvPr>
          <p:cNvSpPr txBox="1"/>
          <p:nvPr/>
        </p:nvSpPr>
        <p:spPr>
          <a:xfrm>
            <a:off x="23149" y="1091086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rgbClr val="0070C0"/>
                </a:solidFill>
              </a:rPr>
              <a:t>Descrição fenotípica do paciente: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5D2FBD0-D195-F9C4-AE52-06E924745AC5}"/>
              </a:ext>
            </a:extLst>
          </p:cNvPr>
          <p:cNvGraphicFramePr>
            <a:graphicFrameLocks noGrp="1"/>
          </p:cNvGraphicFramePr>
          <p:nvPr/>
        </p:nvGraphicFramePr>
        <p:xfrm>
          <a:off x="87888" y="1366544"/>
          <a:ext cx="3430816" cy="1920240"/>
        </p:xfrm>
        <a:graphic>
          <a:graphicData uri="http://schemas.openxmlformats.org/drawingml/2006/table">
            <a:tbl>
              <a:tblPr/>
              <a:tblGrid>
                <a:gridCol w="1023074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407742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HP:0004426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Morfologia anormal da bochecha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Baixa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estatura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HP:0000274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Cara pequena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HP:0012384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Rinite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Ptose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HP:0011469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Regurgitação nasal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E0BD619C-BC7D-8F4E-00D7-E9AF2BFA8D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6" t="2980" r="24793"/>
          <a:stretch/>
        </p:blipFill>
        <p:spPr>
          <a:xfrm>
            <a:off x="6497831" y="972273"/>
            <a:ext cx="4914807" cy="5636870"/>
          </a:xfrm>
          <a:prstGeom prst="rect">
            <a:avLst/>
          </a:prstGeom>
        </p:spPr>
      </p:pic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33F2BA1-EB52-F42B-B2BE-48FA8928AFC3}"/>
              </a:ext>
            </a:extLst>
          </p:cNvPr>
          <p:cNvGraphicFramePr>
            <a:graphicFrameLocks noGrp="1"/>
          </p:cNvGraphicFramePr>
          <p:nvPr/>
        </p:nvGraphicFramePr>
        <p:xfrm>
          <a:off x="101391" y="3706556"/>
          <a:ext cx="4447459" cy="2194560"/>
        </p:xfrm>
        <a:graphic>
          <a:graphicData uri="http://schemas.openxmlformats.org/drawingml/2006/table">
            <a:tbl>
              <a:tblPr/>
              <a:tblGrid>
                <a:gridCol w="1044502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3402957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Hereditariedade 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Baixo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peso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HP:0001518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Pequeno para a idade gestacional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HP:0003561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Tamanho ao nascimento abaixo do 3º percentil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Testa proeminente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Cara triangular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HP:0008872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Dificuldades de alimentação na infância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84251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26C46340-8DB5-7112-CCB5-6E0F820012F0}"/>
              </a:ext>
            </a:extLst>
          </p:cNvPr>
          <p:cNvSpPr txBox="1"/>
          <p:nvPr/>
        </p:nvSpPr>
        <p:spPr>
          <a:xfrm>
            <a:off x="0" y="3407952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accent2"/>
                </a:solidFill>
              </a:rPr>
              <a:t>Descrição fenotípica da doença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EE9EC525-FE9B-F089-57DD-5F5E62FA26B4}"/>
              </a:ext>
            </a:extLst>
          </p:cNvPr>
          <p:cNvCxnSpPr>
            <a:cxnSpLocks/>
          </p:cNvCxnSpPr>
          <p:nvPr/>
        </p:nvCxnSpPr>
        <p:spPr>
          <a:xfrm flipV="1">
            <a:off x="2164466" y="1307939"/>
            <a:ext cx="6759615" cy="1018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0DA841A4-F742-19FB-6FA9-04D56C126C77}"/>
              </a:ext>
            </a:extLst>
          </p:cNvPr>
          <p:cNvCxnSpPr>
            <a:cxnSpLocks/>
          </p:cNvCxnSpPr>
          <p:nvPr/>
        </p:nvCxnSpPr>
        <p:spPr>
          <a:xfrm flipV="1">
            <a:off x="2245488" y="2372810"/>
            <a:ext cx="7905509" cy="3148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35B7F7C-3A0E-FF9A-7FAF-641B2DB5143A}"/>
              </a:ext>
            </a:extLst>
          </p:cNvPr>
          <p:cNvSpPr/>
          <p:nvPr/>
        </p:nvSpPr>
        <p:spPr>
          <a:xfrm>
            <a:off x="8935655" y="1017106"/>
            <a:ext cx="462988" cy="4514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085BA7-FBB7-1C8F-6E89-C09126110D6B}"/>
              </a:ext>
            </a:extLst>
          </p:cNvPr>
          <p:cNvSpPr/>
          <p:nvPr/>
        </p:nvSpPr>
        <p:spPr>
          <a:xfrm>
            <a:off x="10129776" y="1933435"/>
            <a:ext cx="462988" cy="45141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82FDC4-CF37-FB83-6ED0-CE05A86C3B1E}"/>
              </a:ext>
            </a:extLst>
          </p:cNvPr>
          <p:cNvSpPr/>
          <p:nvPr/>
        </p:nvSpPr>
        <p:spPr>
          <a:xfrm>
            <a:off x="8937585" y="2292250"/>
            <a:ext cx="462988" cy="45141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51C997-231F-EA1F-58E8-AC47260396FD}"/>
              </a:ext>
            </a:extLst>
          </p:cNvPr>
          <p:cNvSpPr txBox="1"/>
          <p:nvPr/>
        </p:nvSpPr>
        <p:spPr>
          <a:xfrm>
            <a:off x="8859497" y="2361764"/>
            <a:ext cx="620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</a:rPr>
              <a:t>2.347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129789D-B0B7-F891-1349-2A46CE095C0D}"/>
              </a:ext>
            </a:extLst>
          </p:cNvPr>
          <p:cNvSpPr txBox="1"/>
          <p:nvPr/>
        </p:nvSpPr>
        <p:spPr>
          <a:xfrm>
            <a:off x="351778" y="6237288"/>
            <a:ext cx="1864660" cy="3385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Sim= 1.129 +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2B8AE31-662A-EFDD-BA9F-1F09646837F3}"/>
              </a:ext>
            </a:extLst>
          </p:cNvPr>
          <p:cNvSpPr txBox="1"/>
          <p:nvPr/>
        </p:nvSpPr>
        <p:spPr>
          <a:xfrm>
            <a:off x="2384393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2.347+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792A3A6-B35F-F9F0-EB65-35B6133FBFBB}"/>
              </a:ext>
            </a:extLst>
          </p:cNvPr>
          <p:cNvSpPr txBox="1"/>
          <p:nvPr/>
        </p:nvSpPr>
        <p:spPr>
          <a:xfrm>
            <a:off x="1786346" y="6225712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2.067+</a:t>
            </a:r>
          </a:p>
        </p:txBody>
      </p:sp>
    </p:spTree>
    <p:extLst>
      <p:ext uri="{BB962C8B-B14F-4D97-AF65-F5344CB8AC3E}">
        <p14:creationId xmlns:p14="http://schemas.microsoft.com/office/powerpoint/2010/main" val="67865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3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0" y="-91845"/>
            <a:ext cx="11065397" cy="786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fenotípica Exercício - Solução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DE350A-9FEB-99D7-382D-DECB7F704200}"/>
              </a:ext>
            </a:extLst>
          </p:cNvPr>
          <p:cNvSpPr txBox="1"/>
          <p:nvPr/>
        </p:nvSpPr>
        <p:spPr>
          <a:xfrm>
            <a:off x="23149" y="1091086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rgbClr val="0070C0"/>
                </a:solidFill>
              </a:rPr>
              <a:t>Descrição fenotípica do paciente: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5D2FBD0-D195-F9C4-AE52-06E924745AC5}"/>
              </a:ext>
            </a:extLst>
          </p:cNvPr>
          <p:cNvGraphicFramePr>
            <a:graphicFrameLocks noGrp="1"/>
          </p:cNvGraphicFramePr>
          <p:nvPr/>
        </p:nvGraphicFramePr>
        <p:xfrm>
          <a:off x="87888" y="1366544"/>
          <a:ext cx="3430816" cy="1920240"/>
        </p:xfrm>
        <a:graphic>
          <a:graphicData uri="http://schemas.openxmlformats.org/drawingml/2006/table">
            <a:tbl>
              <a:tblPr/>
              <a:tblGrid>
                <a:gridCol w="1023074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407742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HP:0004426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Morfologia anormal da bochecha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Baixa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estatura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HP:0000274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Cara pequena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HP:0012384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Rinite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Ptose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HP:0011469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Regurgitação nasal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E0BD619C-BC7D-8F4E-00D7-E9AF2BFA8D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6" t="2980" r="24793"/>
          <a:stretch/>
        </p:blipFill>
        <p:spPr>
          <a:xfrm>
            <a:off x="6497831" y="972273"/>
            <a:ext cx="4914807" cy="5636870"/>
          </a:xfrm>
          <a:prstGeom prst="rect">
            <a:avLst/>
          </a:prstGeom>
        </p:spPr>
      </p:pic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33F2BA1-EB52-F42B-B2BE-48FA8928AFC3}"/>
              </a:ext>
            </a:extLst>
          </p:cNvPr>
          <p:cNvGraphicFramePr>
            <a:graphicFrameLocks noGrp="1"/>
          </p:cNvGraphicFramePr>
          <p:nvPr/>
        </p:nvGraphicFramePr>
        <p:xfrm>
          <a:off x="101391" y="3706556"/>
          <a:ext cx="4447459" cy="2194560"/>
        </p:xfrm>
        <a:graphic>
          <a:graphicData uri="http://schemas.openxmlformats.org/drawingml/2006/table">
            <a:tbl>
              <a:tblPr/>
              <a:tblGrid>
                <a:gridCol w="1044502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3402957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Hereditariedade 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Baixo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peso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HP:0001518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Pequeno para a idade gestacional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HP:0003561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Tamanho ao nascimento abaixo do 3º percentil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Testa proeminente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Cara triangular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HP:0008872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Dificuldades de alimentação na infância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84251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26C46340-8DB5-7112-CCB5-6E0F820012F0}"/>
              </a:ext>
            </a:extLst>
          </p:cNvPr>
          <p:cNvSpPr txBox="1"/>
          <p:nvPr/>
        </p:nvSpPr>
        <p:spPr>
          <a:xfrm>
            <a:off x="0" y="3407952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accent2"/>
                </a:solidFill>
              </a:rPr>
              <a:t>Descrição fenotípica da doença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EE9EC525-FE9B-F089-57DD-5F5E62FA26B4}"/>
              </a:ext>
            </a:extLst>
          </p:cNvPr>
          <p:cNvCxnSpPr>
            <a:cxnSpLocks/>
          </p:cNvCxnSpPr>
          <p:nvPr/>
        </p:nvCxnSpPr>
        <p:spPr>
          <a:xfrm flipV="1">
            <a:off x="1643605" y="1713053"/>
            <a:ext cx="5532699" cy="879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0DA841A4-F742-19FB-6FA9-04D56C126C77}"/>
              </a:ext>
            </a:extLst>
          </p:cNvPr>
          <p:cNvCxnSpPr>
            <a:cxnSpLocks/>
          </p:cNvCxnSpPr>
          <p:nvPr/>
        </p:nvCxnSpPr>
        <p:spPr>
          <a:xfrm flipV="1">
            <a:off x="2245488" y="2372810"/>
            <a:ext cx="7905509" cy="3148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35B7F7C-3A0E-FF9A-7FAF-641B2DB5143A}"/>
              </a:ext>
            </a:extLst>
          </p:cNvPr>
          <p:cNvSpPr/>
          <p:nvPr/>
        </p:nvSpPr>
        <p:spPr>
          <a:xfrm>
            <a:off x="7199452" y="1410645"/>
            <a:ext cx="462988" cy="4514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085BA7-FBB7-1C8F-6E89-C09126110D6B}"/>
              </a:ext>
            </a:extLst>
          </p:cNvPr>
          <p:cNvSpPr/>
          <p:nvPr/>
        </p:nvSpPr>
        <p:spPr>
          <a:xfrm>
            <a:off x="10129776" y="1933435"/>
            <a:ext cx="462988" cy="45141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82FDC4-CF37-FB83-6ED0-CE05A86C3B1E}"/>
              </a:ext>
            </a:extLst>
          </p:cNvPr>
          <p:cNvSpPr/>
          <p:nvPr/>
        </p:nvSpPr>
        <p:spPr>
          <a:xfrm>
            <a:off x="8034760" y="3577040"/>
            <a:ext cx="462988" cy="45141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51C997-231F-EA1F-58E8-AC47260396FD}"/>
              </a:ext>
            </a:extLst>
          </p:cNvPr>
          <p:cNvSpPr txBox="1"/>
          <p:nvPr/>
        </p:nvSpPr>
        <p:spPr>
          <a:xfrm>
            <a:off x="7956672" y="3646554"/>
            <a:ext cx="620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</a:rPr>
              <a:t>1.129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129789D-B0B7-F891-1349-2A46CE095C0D}"/>
              </a:ext>
            </a:extLst>
          </p:cNvPr>
          <p:cNvSpPr txBox="1"/>
          <p:nvPr/>
        </p:nvSpPr>
        <p:spPr>
          <a:xfrm>
            <a:off x="351778" y="6237288"/>
            <a:ext cx="1864660" cy="3385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Sim= 1.129 +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2B8AE31-662A-EFDD-BA9F-1F09646837F3}"/>
              </a:ext>
            </a:extLst>
          </p:cNvPr>
          <p:cNvSpPr txBox="1"/>
          <p:nvPr/>
        </p:nvSpPr>
        <p:spPr>
          <a:xfrm>
            <a:off x="2407538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2.347+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67BD07F-8801-2C6A-BC91-2F949DD5C53F}"/>
              </a:ext>
            </a:extLst>
          </p:cNvPr>
          <p:cNvSpPr txBox="1"/>
          <p:nvPr/>
        </p:nvSpPr>
        <p:spPr>
          <a:xfrm>
            <a:off x="3046074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1.129+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0BE663-6373-A13C-33BC-7CE8791FDD83}"/>
              </a:ext>
            </a:extLst>
          </p:cNvPr>
          <p:cNvSpPr txBox="1"/>
          <p:nvPr/>
        </p:nvSpPr>
        <p:spPr>
          <a:xfrm>
            <a:off x="1786346" y="6225712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2.067+</a:t>
            </a:r>
          </a:p>
        </p:txBody>
      </p:sp>
    </p:spTree>
    <p:extLst>
      <p:ext uri="{BB962C8B-B14F-4D97-AF65-F5344CB8AC3E}">
        <p14:creationId xmlns:p14="http://schemas.microsoft.com/office/powerpoint/2010/main" val="308589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90FDF1F-5047-F870-2B0D-9DBC1569D3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46" t="3206"/>
          <a:stretch/>
        </p:blipFill>
        <p:spPr>
          <a:xfrm>
            <a:off x="5026577" y="844953"/>
            <a:ext cx="6534419" cy="563687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0" y="-91845"/>
            <a:ext cx="11065397" cy="786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fenotípica Exercício - Solução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DE350A-9FEB-99D7-382D-DECB7F704200}"/>
              </a:ext>
            </a:extLst>
          </p:cNvPr>
          <p:cNvSpPr txBox="1"/>
          <p:nvPr/>
        </p:nvSpPr>
        <p:spPr>
          <a:xfrm>
            <a:off x="23149" y="1091086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rgbClr val="0070C0"/>
                </a:solidFill>
              </a:rPr>
              <a:t>Descrição fenotípica do paciente: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5D2FBD0-D195-F9C4-AE52-06E924745AC5}"/>
              </a:ext>
            </a:extLst>
          </p:cNvPr>
          <p:cNvGraphicFramePr>
            <a:graphicFrameLocks noGrp="1"/>
          </p:cNvGraphicFramePr>
          <p:nvPr/>
        </p:nvGraphicFramePr>
        <p:xfrm>
          <a:off x="87888" y="1366544"/>
          <a:ext cx="3430816" cy="1920240"/>
        </p:xfrm>
        <a:graphic>
          <a:graphicData uri="http://schemas.openxmlformats.org/drawingml/2006/table">
            <a:tbl>
              <a:tblPr/>
              <a:tblGrid>
                <a:gridCol w="1023074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407742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HP:0004426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Morfologia anormal da bochecha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Baixa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estatura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HP:0000274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Cara pequena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HP:0012384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Rinite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Ptose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HP:0011469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Regurgitação nasal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33F2BA1-EB52-F42B-B2BE-48FA8928AFC3}"/>
              </a:ext>
            </a:extLst>
          </p:cNvPr>
          <p:cNvGraphicFramePr>
            <a:graphicFrameLocks noGrp="1"/>
          </p:cNvGraphicFramePr>
          <p:nvPr/>
        </p:nvGraphicFramePr>
        <p:xfrm>
          <a:off x="101391" y="3706556"/>
          <a:ext cx="4447459" cy="2194560"/>
        </p:xfrm>
        <a:graphic>
          <a:graphicData uri="http://schemas.openxmlformats.org/drawingml/2006/table">
            <a:tbl>
              <a:tblPr/>
              <a:tblGrid>
                <a:gridCol w="1044502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3402957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Hereditariedade 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Baixo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peso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HP:0001518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Pequeno para a idade gestacional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HP:0003561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Tamanho ao nascimento abaixo do 3º percentil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Testa proeminente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Cara triangular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HP:0008872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Dificuldades de alimentação na infância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84251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26C46340-8DB5-7112-CCB5-6E0F820012F0}"/>
              </a:ext>
            </a:extLst>
          </p:cNvPr>
          <p:cNvSpPr txBox="1"/>
          <p:nvPr/>
        </p:nvSpPr>
        <p:spPr>
          <a:xfrm>
            <a:off x="0" y="3407952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accent2"/>
                </a:solidFill>
              </a:rPr>
              <a:t>Descrição fenotípica da doença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EE9EC525-FE9B-F089-57DD-5F5E62FA26B4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1666754" y="1170917"/>
            <a:ext cx="6480177" cy="1722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0DA841A4-F742-19FB-6FA9-04D56C126C77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2245488" y="5469501"/>
            <a:ext cx="3763700" cy="51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35B7F7C-3A0E-FF9A-7FAF-641B2DB5143A}"/>
              </a:ext>
            </a:extLst>
          </p:cNvPr>
          <p:cNvSpPr/>
          <p:nvPr/>
        </p:nvSpPr>
        <p:spPr>
          <a:xfrm>
            <a:off x="8079128" y="785612"/>
            <a:ext cx="462988" cy="4514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085BA7-FBB7-1C8F-6E89-C09126110D6B}"/>
              </a:ext>
            </a:extLst>
          </p:cNvPr>
          <p:cNvSpPr/>
          <p:nvPr/>
        </p:nvSpPr>
        <p:spPr>
          <a:xfrm>
            <a:off x="6009188" y="5243794"/>
            <a:ext cx="462988" cy="45141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82FDC4-CF37-FB83-6ED0-CE05A86C3B1E}"/>
              </a:ext>
            </a:extLst>
          </p:cNvPr>
          <p:cNvSpPr/>
          <p:nvPr/>
        </p:nvSpPr>
        <p:spPr>
          <a:xfrm>
            <a:off x="10801110" y="2928857"/>
            <a:ext cx="462988" cy="45141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51C997-231F-EA1F-58E8-AC47260396FD}"/>
              </a:ext>
            </a:extLst>
          </p:cNvPr>
          <p:cNvSpPr txBox="1"/>
          <p:nvPr/>
        </p:nvSpPr>
        <p:spPr>
          <a:xfrm>
            <a:off x="10723022" y="2998371"/>
            <a:ext cx="620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</a:rPr>
              <a:t>0.000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129789D-B0B7-F891-1349-2A46CE095C0D}"/>
              </a:ext>
            </a:extLst>
          </p:cNvPr>
          <p:cNvSpPr txBox="1"/>
          <p:nvPr/>
        </p:nvSpPr>
        <p:spPr>
          <a:xfrm>
            <a:off x="351778" y="6237288"/>
            <a:ext cx="1864660" cy="3385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Sim= 1.129 +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2B8AE31-662A-EFDD-BA9F-1F09646837F3}"/>
              </a:ext>
            </a:extLst>
          </p:cNvPr>
          <p:cNvSpPr txBox="1"/>
          <p:nvPr/>
        </p:nvSpPr>
        <p:spPr>
          <a:xfrm>
            <a:off x="2407538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2.347+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67BD07F-8801-2C6A-BC91-2F949DD5C53F}"/>
              </a:ext>
            </a:extLst>
          </p:cNvPr>
          <p:cNvSpPr txBox="1"/>
          <p:nvPr/>
        </p:nvSpPr>
        <p:spPr>
          <a:xfrm>
            <a:off x="3046074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1.129+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0BE663-6373-A13C-33BC-7CE8791FDD83}"/>
              </a:ext>
            </a:extLst>
          </p:cNvPr>
          <p:cNvSpPr txBox="1"/>
          <p:nvPr/>
        </p:nvSpPr>
        <p:spPr>
          <a:xfrm>
            <a:off x="1786346" y="6225712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2.067+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058B692-A985-1153-A590-68E4563084EF}"/>
              </a:ext>
            </a:extLst>
          </p:cNvPr>
          <p:cNvSpPr txBox="1"/>
          <p:nvPr/>
        </p:nvSpPr>
        <p:spPr>
          <a:xfrm>
            <a:off x="3568863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0.0+</a:t>
            </a:r>
          </a:p>
        </p:txBody>
      </p:sp>
    </p:spTree>
    <p:extLst>
      <p:ext uri="{BB962C8B-B14F-4D97-AF65-F5344CB8AC3E}">
        <p14:creationId xmlns:p14="http://schemas.microsoft.com/office/powerpoint/2010/main" val="377452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3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90FDF1F-5047-F870-2B0D-9DBC1569D3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45" t="39777" r="13369"/>
          <a:stretch/>
        </p:blipFill>
        <p:spPr>
          <a:xfrm>
            <a:off x="5223347" y="1215343"/>
            <a:ext cx="6549875" cy="408586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0" y="-91845"/>
            <a:ext cx="11065397" cy="786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fenotípica Exercício - Solução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DE350A-9FEB-99D7-382D-DECB7F704200}"/>
              </a:ext>
            </a:extLst>
          </p:cNvPr>
          <p:cNvSpPr txBox="1"/>
          <p:nvPr/>
        </p:nvSpPr>
        <p:spPr>
          <a:xfrm>
            <a:off x="23149" y="1091086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rgbClr val="0070C0"/>
                </a:solidFill>
              </a:rPr>
              <a:t>Descrição fenotípica do paciente: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5D2FBD0-D195-F9C4-AE52-06E924745AC5}"/>
              </a:ext>
            </a:extLst>
          </p:cNvPr>
          <p:cNvGraphicFramePr>
            <a:graphicFrameLocks noGrp="1"/>
          </p:cNvGraphicFramePr>
          <p:nvPr/>
        </p:nvGraphicFramePr>
        <p:xfrm>
          <a:off x="87888" y="1366544"/>
          <a:ext cx="3430816" cy="1920240"/>
        </p:xfrm>
        <a:graphic>
          <a:graphicData uri="http://schemas.openxmlformats.org/drawingml/2006/table">
            <a:tbl>
              <a:tblPr/>
              <a:tblGrid>
                <a:gridCol w="1023074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2407742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HP:0004426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Morfologia anormal da bochecha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Baixa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estatura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HP:0000274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Cara pequena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HP:0012384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Rinite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Ptose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HP:0011469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Regurgitação nasal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33F2BA1-EB52-F42B-B2BE-48FA8928AFC3}"/>
              </a:ext>
            </a:extLst>
          </p:cNvPr>
          <p:cNvGraphicFramePr>
            <a:graphicFrameLocks noGrp="1"/>
          </p:cNvGraphicFramePr>
          <p:nvPr/>
        </p:nvGraphicFramePr>
        <p:xfrm>
          <a:off x="101391" y="3706556"/>
          <a:ext cx="4447459" cy="2194560"/>
        </p:xfrm>
        <a:graphic>
          <a:graphicData uri="http://schemas.openxmlformats.org/drawingml/2006/table">
            <a:tbl>
              <a:tblPr/>
              <a:tblGrid>
                <a:gridCol w="1044502">
                  <a:extLst>
                    <a:ext uri="{9D8B030D-6E8A-4147-A177-3AD203B41FA5}">
                      <a16:colId xmlns:a16="http://schemas.microsoft.com/office/drawing/2014/main" val="4202788293"/>
                    </a:ext>
                  </a:extLst>
                </a:gridCol>
                <a:gridCol w="3402957">
                  <a:extLst>
                    <a:ext uri="{9D8B030D-6E8A-4147-A177-3AD203B41FA5}">
                      <a16:colId xmlns:a16="http://schemas.microsoft.com/office/drawing/2014/main" val="241850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HPO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u="sng" dirty="0"/>
                        <a:t>Termo HPO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Hereditariedade 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6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HP:0004325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Baixo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peso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HP:0001518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solidFill>
                            <a:schemeClr val="tx1"/>
                          </a:solidFill>
                        </a:rPr>
                        <a:t>Pequeno para a idade gestacional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4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HP:0003561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Tamanho ao nascimento abaixo do 3º percentil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HP:0011220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Testa proeminente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HP:0000325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Cara triangular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6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sz="1200" dirty="0"/>
                        <a:t>HP:0008872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Dificuldades de alimentação na infância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84251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26C46340-8DB5-7112-CCB5-6E0F820012F0}"/>
              </a:ext>
            </a:extLst>
          </p:cNvPr>
          <p:cNvSpPr txBox="1"/>
          <p:nvPr/>
        </p:nvSpPr>
        <p:spPr>
          <a:xfrm>
            <a:off x="0" y="3407952"/>
            <a:ext cx="425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accent2"/>
                </a:solidFill>
              </a:rPr>
              <a:t>Descrição fenotípica da doença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EE9EC525-FE9B-F089-57DD-5F5E62FA26B4}"/>
              </a:ext>
            </a:extLst>
          </p:cNvPr>
          <p:cNvCxnSpPr>
            <a:cxnSpLocks/>
          </p:cNvCxnSpPr>
          <p:nvPr/>
        </p:nvCxnSpPr>
        <p:spPr>
          <a:xfrm>
            <a:off x="2592729" y="3148314"/>
            <a:ext cx="3032567" cy="1551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0DA841A4-F742-19FB-6FA9-04D56C126C77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3935392" y="4068965"/>
            <a:ext cx="2478910" cy="1706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35B7F7C-3A0E-FF9A-7FAF-641B2DB5143A}"/>
              </a:ext>
            </a:extLst>
          </p:cNvPr>
          <p:cNvSpPr/>
          <p:nvPr/>
        </p:nvSpPr>
        <p:spPr>
          <a:xfrm>
            <a:off x="5590571" y="4616832"/>
            <a:ext cx="462988" cy="4514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085BA7-FBB7-1C8F-6E89-C09126110D6B}"/>
              </a:ext>
            </a:extLst>
          </p:cNvPr>
          <p:cNvSpPr/>
          <p:nvPr/>
        </p:nvSpPr>
        <p:spPr>
          <a:xfrm>
            <a:off x="6414302" y="3843258"/>
            <a:ext cx="462988" cy="45141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82FDC4-CF37-FB83-6ED0-CE05A86C3B1E}"/>
              </a:ext>
            </a:extLst>
          </p:cNvPr>
          <p:cNvSpPr/>
          <p:nvPr/>
        </p:nvSpPr>
        <p:spPr>
          <a:xfrm>
            <a:off x="6425879" y="3843257"/>
            <a:ext cx="462988" cy="45141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51C997-231F-EA1F-58E8-AC47260396FD}"/>
              </a:ext>
            </a:extLst>
          </p:cNvPr>
          <p:cNvSpPr txBox="1"/>
          <p:nvPr/>
        </p:nvSpPr>
        <p:spPr>
          <a:xfrm>
            <a:off x="6347791" y="3912771"/>
            <a:ext cx="620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</a:rPr>
              <a:t>3.333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129789D-B0B7-F891-1349-2A46CE095C0D}"/>
              </a:ext>
            </a:extLst>
          </p:cNvPr>
          <p:cNvSpPr txBox="1"/>
          <p:nvPr/>
        </p:nvSpPr>
        <p:spPr>
          <a:xfrm>
            <a:off x="351778" y="6237288"/>
            <a:ext cx="1864660" cy="3385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Sim= 1.129 +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2B8AE31-662A-EFDD-BA9F-1F09646837F3}"/>
              </a:ext>
            </a:extLst>
          </p:cNvPr>
          <p:cNvSpPr txBox="1"/>
          <p:nvPr/>
        </p:nvSpPr>
        <p:spPr>
          <a:xfrm>
            <a:off x="2407538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2.347+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67BD07F-8801-2C6A-BC91-2F949DD5C53F}"/>
              </a:ext>
            </a:extLst>
          </p:cNvPr>
          <p:cNvSpPr txBox="1"/>
          <p:nvPr/>
        </p:nvSpPr>
        <p:spPr>
          <a:xfrm>
            <a:off x="3046074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1.129+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0BE663-6373-A13C-33BC-7CE8791FDD83}"/>
              </a:ext>
            </a:extLst>
          </p:cNvPr>
          <p:cNvSpPr txBox="1"/>
          <p:nvPr/>
        </p:nvSpPr>
        <p:spPr>
          <a:xfrm>
            <a:off x="1786346" y="6225712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2.067+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058B692-A985-1153-A590-68E4563084EF}"/>
              </a:ext>
            </a:extLst>
          </p:cNvPr>
          <p:cNvSpPr txBox="1"/>
          <p:nvPr/>
        </p:nvSpPr>
        <p:spPr>
          <a:xfrm>
            <a:off x="3568863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0.0+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3F091B6-F832-252F-D53F-F92E8CEA6ED8}"/>
              </a:ext>
            </a:extLst>
          </p:cNvPr>
          <p:cNvSpPr txBox="1"/>
          <p:nvPr/>
        </p:nvSpPr>
        <p:spPr>
          <a:xfrm>
            <a:off x="4010631" y="6237288"/>
            <a:ext cx="794679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3.33</a:t>
            </a:r>
          </a:p>
        </p:txBody>
      </p:sp>
      <p:cxnSp>
        <p:nvCxnSpPr>
          <p:cNvPr id="17" name="Conexão reta 16">
            <a:extLst>
              <a:ext uri="{FF2B5EF4-FFF2-40B4-BE49-F238E27FC236}">
                <a16:creationId xmlns:a16="http://schemas.microsoft.com/office/drawing/2014/main" id="{63038C08-861B-793A-0D76-4C1A3049B41F}"/>
              </a:ext>
            </a:extLst>
          </p:cNvPr>
          <p:cNvCxnSpPr/>
          <p:nvPr/>
        </p:nvCxnSpPr>
        <p:spPr>
          <a:xfrm>
            <a:off x="1241938" y="6513234"/>
            <a:ext cx="334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3D8E880-F6FB-E442-894C-CE8C5CD3F9C5}"/>
              </a:ext>
            </a:extLst>
          </p:cNvPr>
          <p:cNvSpPr txBox="1"/>
          <p:nvPr/>
        </p:nvSpPr>
        <p:spPr>
          <a:xfrm>
            <a:off x="2645261" y="6457209"/>
            <a:ext cx="788894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600" b="1" dirty="0"/>
              <a:t>6 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0D723E2-1A57-37F7-BCBF-8FE3FD94A47E}"/>
              </a:ext>
            </a:extLst>
          </p:cNvPr>
          <p:cNvSpPr txBox="1"/>
          <p:nvPr/>
        </p:nvSpPr>
        <p:spPr>
          <a:xfrm>
            <a:off x="4461277" y="6320315"/>
            <a:ext cx="118029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0070C0"/>
                </a:solidFill>
              </a:rPr>
              <a:t>=1.667 </a:t>
            </a:r>
          </a:p>
        </p:txBody>
      </p:sp>
    </p:spTree>
    <p:extLst>
      <p:ext uri="{BB962C8B-B14F-4D97-AF65-F5344CB8AC3E}">
        <p14:creationId xmlns:p14="http://schemas.microsoft.com/office/powerpoint/2010/main" val="77853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3" grpId="0"/>
      <p:bldP spid="16" grpId="0"/>
      <p:bldP spid="20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116542" y="-67057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Sobreposição </a:t>
            </a:r>
            <a:r>
              <a:rPr lang="pt-PT" dirty="0" err="1"/>
              <a:t>fenótipica</a:t>
            </a:r>
            <a:endParaRPr lang="pt-PT" dirty="0"/>
          </a:p>
        </p:txBody>
      </p:sp>
      <p:pic>
        <p:nvPicPr>
          <p:cNvPr id="7" name="Picture 5" descr="GitHub - obophenotype/human-phenotype-ontology: Ontology for the  description of human clinical features · GitHub">
            <a:extLst>
              <a:ext uri="{FF2B5EF4-FFF2-40B4-BE49-F238E27FC236}">
                <a16:creationId xmlns:a16="http://schemas.microsoft.com/office/drawing/2014/main" id="{60F38E1B-C3EE-F7C4-C4CD-30192D894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624" y="90955"/>
            <a:ext cx="3272117" cy="122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6D5E43-575D-55AD-DDBA-17DD90DA667E}"/>
              </a:ext>
            </a:extLst>
          </p:cNvPr>
          <p:cNvSpPr txBox="1"/>
          <p:nvPr/>
        </p:nvSpPr>
        <p:spPr>
          <a:xfrm>
            <a:off x="220826" y="1492341"/>
            <a:ext cx="1148117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000" dirty="0"/>
              <a:t>No entanto, é importante ter em atenção:</a:t>
            </a:r>
          </a:p>
          <a:p>
            <a:pPr algn="just"/>
            <a:endParaRPr lang="pt-PT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/>
              <a:t>O valor de similaridade fenotípica deve ser interpretado com alguma cautela.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/>
              <a:t>Como os </a:t>
            </a:r>
            <a:r>
              <a:rPr lang="pt-PT" sz="2000" dirty="0" err="1"/>
              <a:t>Information</a:t>
            </a:r>
            <a:r>
              <a:rPr lang="pt-PT" sz="2000" dirty="0"/>
              <a:t> </a:t>
            </a:r>
            <a:r>
              <a:rPr lang="pt-PT" sz="2000" dirty="0" err="1"/>
              <a:t>Content</a:t>
            </a:r>
            <a:r>
              <a:rPr lang="pt-PT" sz="2000" dirty="0"/>
              <a:t> (IC) são calculados com base na frequência de anotação de cada termo HPO nas doenças conhecidas, </a:t>
            </a:r>
            <a:r>
              <a:rPr lang="pt-PT" sz="2000" b="1" dirty="0"/>
              <a:t>o score de similaridade não possui uma escala absoluta</a:t>
            </a:r>
            <a:r>
              <a:rPr lang="pt-PT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/>
              <a:t>Assim, </a:t>
            </a:r>
            <a:r>
              <a:rPr lang="pt-PT" sz="2000" b="1" dirty="0"/>
              <a:t>o mesmo score pode corresponder a diferentes níveis de sobreposição fenotípica</a:t>
            </a:r>
            <a:r>
              <a:rPr lang="pt-PT" sz="2000" dirty="0"/>
              <a:t>, dependendo do número de termos HPO, da sua especificidade e da frequência com que estes estão associados a outras doenças.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/>
              <a:t>O score deve, por isso, </a:t>
            </a:r>
            <a:r>
              <a:rPr lang="pt-PT" sz="2000" b="1" dirty="0"/>
              <a:t>ser utilizado sobretudo como uma medida relativa</a:t>
            </a:r>
            <a:r>
              <a:rPr lang="pt-PT" sz="2000" dirty="0"/>
              <a:t>, permitindo comparar diferentes doenças para um mesmo doente (por exemplo, a doença Y apresenta maior semelhança fenotípica do que a doença Z), e não como uma medida absoluta da qualidade da correspondência.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/>
              <a:t>Para complementar esta avaliação, algumas ferramentas calculam também um p-</a:t>
            </a:r>
            <a:r>
              <a:rPr lang="pt-PT" sz="2000" dirty="0" err="1"/>
              <a:t>value</a:t>
            </a:r>
            <a:r>
              <a:rPr lang="pt-PT" sz="2000" dirty="0"/>
              <a:t>, que estima a probabilidade de obter um score de similaridade igual ou superior por acaso.</a:t>
            </a:r>
          </a:p>
        </p:txBody>
      </p:sp>
    </p:spTree>
    <p:extLst>
      <p:ext uri="{BB962C8B-B14F-4D97-AF65-F5344CB8AC3E}">
        <p14:creationId xmlns:p14="http://schemas.microsoft.com/office/powerpoint/2010/main" val="80949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162841" y="-103420"/>
            <a:ext cx="11562314" cy="1064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Análise de trio e padrões de hereditariedade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6D5E43-575D-55AD-DDBA-17DD90DA667E}"/>
              </a:ext>
            </a:extLst>
          </p:cNvPr>
          <p:cNvSpPr txBox="1"/>
          <p:nvPr/>
        </p:nvSpPr>
        <p:spPr>
          <a:xfrm>
            <a:off x="105079" y="1199369"/>
            <a:ext cx="878427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análise em trio consiste na sequenciação simultânea do doente e dos seus progenitores.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informação genética dos pais é uma ferramenta valiosa para a interpretação das variantes identificadas no doente.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b="1" dirty="0"/>
              <a:t>A comparação dos genótipos permite avaliar se uma variante é herdada ou surgiu </a:t>
            </a:r>
            <a:r>
              <a:rPr lang="pt-PT" sz="2000" b="1" i="1" dirty="0"/>
              <a:t>de novo</a:t>
            </a:r>
            <a:r>
              <a:rPr lang="pt-PT" sz="2000" b="1" dirty="0"/>
              <a:t>, bem como verificar se é compatível com o padrão de hereditariedade esperado para a doença.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Esta abordagem facilita a priorização de variantes em diferentes modelos de hereditariedade, como doenças autossómicas dominantes, autossómicas recessivas, ligadas ao cromossoma X e variantes </a:t>
            </a:r>
            <a:r>
              <a:rPr lang="pt-PT" sz="2000" i="1" dirty="0"/>
              <a:t>de novo</a:t>
            </a:r>
            <a:r>
              <a:rPr lang="pt-PT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b="1" dirty="0"/>
              <a:t>A análise em trio aumenta significativamente a confiança na interpretação das variantes e a probabilidade de identificar a variante causal.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C50EA88-09AB-E864-B80C-5C9FE10CD78C}"/>
              </a:ext>
            </a:extLst>
          </p:cNvPr>
          <p:cNvGrpSpPr/>
          <p:nvPr/>
        </p:nvGrpSpPr>
        <p:grpSpPr>
          <a:xfrm>
            <a:off x="9167150" y="2395961"/>
            <a:ext cx="2545702" cy="2039073"/>
            <a:chOff x="8866208" y="1504710"/>
            <a:chExt cx="2545702" cy="2039073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D73FE3F8-EF67-8F2C-CF3D-998DC4FC2DB9}"/>
                </a:ext>
              </a:extLst>
            </p:cNvPr>
            <p:cNvSpPr/>
            <p:nvPr/>
          </p:nvSpPr>
          <p:spPr>
            <a:xfrm>
              <a:off x="8866208" y="1516284"/>
              <a:ext cx="763200" cy="763929"/>
            </a:xfrm>
            <a:prstGeom prst="rect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9FC4B5F-7A69-83CB-DDF1-71BDFB76C723}"/>
                </a:ext>
              </a:extLst>
            </p:cNvPr>
            <p:cNvSpPr/>
            <p:nvPr/>
          </p:nvSpPr>
          <p:spPr>
            <a:xfrm>
              <a:off x="10648710" y="1504710"/>
              <a:ext cx="763200" cy="763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cxnSp>
          <p:nvCxnSpPr>
            <p:cNvPr id="9" name="Conexão reta 8">
              <a:extLst>
                <a:ext uri="{FF2B5EF4-FFF2-40B4-BE49-F238E27FC236}">
                  <a16:creationId xmlns:a16="http://schemas.microsoft.com/office/drawing/2014/main" id="{164F4FF8-2A35-FC37-DD69-B11E241D55F9}"/>
                </a:ext>
              </a:extLst>
            </p:cNvPr>
            <p:cNvCxnSpPr>
              <a:stCxn id="3" idx="3"/>
              <a:endCxn id="5" idx="2"/>
            </p:cNvCxnSpPr>
            <p:nvPr/>
          </p:nvCxnSpPr>
          <p:spPr>
            <a:xfrm flipV="1">
              <a:off x="9629408" y="1886310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3BA82CEF-A054-6503-8266-E7EB124C7251}"/>
                </a:ext>
              </a:extLst>
            </p:cNvPr>
            <p:cNvSpPr/>
            <p:nvPr/>
          </p:nvSpPr>
          <p:spPr>
            <a:xfrm>
              <a:off x="9828835" y="2779854"/>
              <a:ext cx="763200" cy="76392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1" name="Conexão reta 10">
              <a:extLst>
                <a:ext uri="{FF2B5EF4-FFF2-40B4-BE49-F238E27FC236}">
                  <a16:creationId xmlns:a16="http://schemas.microsoft.com/office/drawing/2014/main" id="{718D4923-9FA0-CE21-E6D8-4E74E24ABFB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07218" y="2385951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093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174415" y="128073"/>
            <a:ext cx="11562314" cy="1017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Análise de trio e padrões de hereditariedade</a:t>
            </a:r>
          </a:p>
          <a:p>
            <a:r>
              <a:rPr lang="pt-PT" sz="3500" dirty="0"/>
              <a:t>Exemplos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AD68EFA5-1B1C-0B92-BF63-963CE639B377}"/>
              </a:ext>
            </a:extLst>
          </p:cNvPr>
          <p:cNvGrpSpPr/>
          <p:nvPr/>
        </p:nvGrpSpPr>
        <p:grpSpPr>
          <a:xfrm>
            <a:off x="532436" y="1400535"/>
            <a:ext cx="2951543" cy="2348602"/>
            <a:chOff x="532436" y="1400535"/>
            <a:chExt cx="2951543" cy="2348602"/>
          </a:xfrm>
        </p:grpSpPr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9C50EA88-09AB-E864-B80C-5C9FE10CD78C}"/>
                </a:ext>
              </a:extLst>
            </p:cNvPr>
            <p:cNvGrpSpPr/>
            <p:nvPr/>
          </p:nvGrpSpPr>
          <p:grpSpPr>
            <a:xfrm>
              <a:off x="532436" y="1400535"/>
              <a:ext cx="2545702" cy="2039073"/>
              <a:chOff x="8866208" y="1504710"/>
              <a:chExt cx="2545702" cy="2039073"/>
            </a:xfrm>
          </p:grpSpPr>
          <p:sp>
            <p:nvSpPr>
              <p:cNvPr id="3" name="Retângulo 2">
                <a:extLst>
                  <a:ext uri="{FF2B5EF4-FFF2-40B4-BE49-F238E27FC236}">
                    <a16:creationId xmlns:a16="http://schemas.microsoft.com/office/drawing/2014/main" id="{D73FE3F8-EF67-8F2C-CF3D-998DC4FC2DB9}"/>
                  </a:ext>
                </a:extLst>
              </p:cNvPr>
              <p:cNvSpPr/>
              <p:nvPr/>
            </p:nvSpPr>
            <p:spPr>
              <a:xfrm>
                <a:off x="8866208" y="1516284"/>
                <a:ext cx="763200" cy="763929"/>
              </a:xfrm>
              <a:prstGeom prst="rect">
                <a:avLst/>
              </a:prstGeom>
              <a:no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9FC4B5F-7A69-83CB-DDF1-71BDFB76C723}"/>
                  </a:ext>
                </a:extLst>
              </p:cNvPr>
              <p:cNvSpPr/>
              <p:nvPr/>
            </p:nvSpPr>
            <p:spPr>
              <a:xfrm>
                <a:off x="10648710" y="1504710"/>
                <a:ext cx="763200" cy="763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cxnSp>
            <p:nvCxnSpPr>
              <p:cNvPr id="9" name="Conexão reta 8">
                <a:extLst>
                  <a:ext uri="{FF2B5EF4-FFF2-40B4-BE49-F238E27FC236}">
                    <a16:creationId xmlns:a16="http://schemas.microsoft.com/office/drawing/2014/main" id="{164F4FF8-2A35-FC37-DD69-B11E241D55F9}"/>
                  </a:ext>
                </a:extLst>
              </p:cNvPr>
              <p:cNvCxnSpPr>
                <a:stCxn id="3" idx="3"/>
                <a:endCxn id="5" idx="2"/>
              </p:cNvCxnSpPr>
              <p:nvPr/>
            </p:nvCxnSpPr>
            <p:spPr>
              <a:xfrm flipV="1">
                <a:off x="9629408" y="1886310"/>
                <a:ext cx="1019302" cy="1193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3BA82CEF-A054-6503-8266-E7EB124C7251}"/>
                  </a:ext>
                </a:extLst>
              </p:cNvPr>
              <p:cNvSpPr/>
              <p:nvPr/>
            </p:nvSpPr>
            <p:spPr>
              <a:xfrm>
                <a:off x="9828835" y="2779854"/>
                <a:ext cx="763200" cy="763929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cxnSp>
            <p:nvCxnSpPr>
              <p:cNvPr id="11" name="Conexão reta 10">
                <a:extLst>
                  <a:ext uri="{FF2B5EF4-FFF2-40B4-BE49-F238E27FC236}">
                    <a16:creationId xmlns:a16="http://schemas.microsoft.com/office/drawing/2014/main" id="{718D4923-9FA0-CE21-E6D8-4E74E24ABFB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9707218" y="2385951"/>
                <a:ext cx="1019302" cy="1193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Conexão reta unidirecional 15">
              <a:extLst>
                <a:ext uri="{FF2B5EF4-FFF2-40B4-BE49-F238E27FC236}">
                  <a16:creationId xmlns:a16="http://schemas.microsoft.com/office/drawing/2014/main" id="{D444C8D9-B17A-3CF6-0405-702C11E582D0}"/>
                </a:ext>
              </a:extLst>
            </p:cNvPr>
            <p:cNvCxnSpPr/>
            <p:nvPr/>
          </p:nvCxnSpPr>
          <p:spPr>
            <a:xfrm>
              <a:off x="1064871" y="2465404"/>
              <a:ext cx="335666" cy="2893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B227E1A0-A11D-CD26-CF0B-68B7638DF7A7}"/>
                </a:ext>
              </a:extLst>
            </p:cNvPr>
            <p:cNvSpPr txBox="1"/>
            <p:nvPr/>
          </p:nvSpPr>
          <p:spPr>
            <a:xfrm>
              <a:off x="1632028" y="3379805"/>
              <a:ext cx="1018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b="1" dirty="0" err="1">
                  <a:solidFill>
                    <a:srgbClr val="C00000"/>
                  </a:solidFill>
                </a:rPr>
                <a:t>Mut</a:t>
              </a:r>
              <a:endParaRPr lang="pt-PT" b="1" dirty="0">
                <a:solidFill>
                  <a:srgbClr val="C00000"/>
                </a:solidFill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21684FFF-AFF2-BD42-C1BA-F9DA4A481C44}"/>
                </a:ext>
              </a:extLst>
            </p:cNvPr>
            <p:cNvSpPr/>
            <p:nvPr/>
          </p:nvSpPr>
          <p:spPr>
            <a:xfrm>
              <a:off x="1890531" y="2677609"/>
              <a:ext cx="381600" cy="76392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5D1AC501-CC50-F5ED-1162-827AA03A1339}"/>
                </a:ext>
              </a:extLst>
            </p:cNvPr>
            <p:cNvSpPr txBox="1"/>
            <p:nvPr/>
          </p:nvSpPr>
          <p:spPr>
            <a:xfrm>
              <a:off x="2201116" y="2733552"/>
              <a:ext cx="128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b="1" dirty="0">
                  <a:solidFill>
                    <a:srgbClr val="0070C0"/>
                  </a:solidFill>
                </a:rPr>
                <a:t>Afetado</a:t>
              </a:r>
            </a:p>
          </p:txBody>
        </p:sp>
      </p:grp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10C63A0-3989-120A-40AA-110F8B344509}"/>
              </a:ext>
            </a:extLst>
          </p:cNvPr>
          <p:cNvSpPr txBox="1"/>
          <p:nvPr/>
        </p:nvSpPr>
        <p:spPr>
          <a:xfrm>
            <a:off x="154326" y="3869800"/>
            <a:ext cx="367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>
                    <a:lumMod val="50000"/>
                  </a:schemeClr>
                </a:solidFill>
              </a:rPr>
              <a:t>Doença autossómica dominante</a:t>
            </a:r>
          </a:p>
        </p:txBody>
      </p:sp>
      <p:sp>
        <p:nvSpPr>
          <p:cNvPr id="24" name="Seta: Para Baixo 23">
            <a:extLst>
              <a:ext uri="{FF2B5EF4-FFF2-40B4-BE49-F238E27FC236}">
                <a16:creationId xmlns:a16="http://schemas.microsoft.com/office/drawing/2014/main" id="{36A8B0DA-3858-AF42-909C-2E3FB5210F4C}"/>
              </a:ext>
            </a:extLst>
          </p:cNvPr>
          <p:cNvSpPr/>
          <p:nvPr/>
        </p:nvSpPr>
        <p:spPr>
          <a:xfrm>
            <a:off x="1643605" y="4247909"/>
            <a:ext cx="567160" cy="405114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2969F84-C162-D051-B611-77B7C00A2FBF}"/>
              </a:ext>
            </a:extLst>
          </p:cNvPr>
          <p:cNvSpPr txBox="1"/>
          <p:nvPr/>
        </p:nvSpPr>
        <p:spPr>
          <a:xfrm>
            <a:off x="86807" y="4670383"/>
            <a:ext cx="3676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C00000"/>
                </a:solidFill>
              </a:rPr>
              <a:t>Variante </a:t>
            </a:r>
          </a:p>
          <a:p>
            <a:pPr algn="ctr"/>
            <a:r>
              <a:rPr lang="pt-PT" b="1" dirty="0">
                <a:solidFill>
                  <a:srgbClr val="C00000"/>
                </a:solidFill>
              </a:rPr>
              <a:t>causadora de doença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811D004C-AA81-5171-B83E-E89DF40AE3B8}"/>
              </a:ext>
            </a:extLst>
          </p:cNvPr>
          <p:cNvGrpSpPr/>
          <p:nvPr/>
        </p:nvGrpSpPr>
        <p:grpSpPr>
          <a:xfrm>
            <a:off x="4330864" y="1402464"/>
            <a:ext cx="2545702" cy="2039073"/>
            <a:chOff x="8866208" y="1504710"/>
            <a:chExt cx="2545702" cy="2039073"/>
          </a:xfrm>
        </p:grpSpPr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DAD13272-7280-EA63-E672-07A429B57EAE}"/>
                </a:ext>
              </a:extLst>
            </p:cNvPr>
            <p:cNvSpPr/>
            <p:nvPr/>
          </p:nvSpPr>
          <p:spPr>
            <a:xfrm>
              <a:off x="8866208" y="1516284"/>
              <a:ext cx="763200" cy="763929"/>
            </a:xfrm>
            <a:prstGeom prst="rect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3A059F-40A6-2516-BE73-3759DD20F3E7}"/>
                </a:ext>
              </a:extLst>
            </p:cNvPr>
            <p:cNvSpPr/>
            <p:nvPr/>
          </p:nvSpPr>
          <p:spPr>
            <a:xfrm>
              <a:off x="10648710" y="1504710"/>
              <a:ext cx="763200" cy="763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cxnSp>
          <p:nvCxnSpPr>
            <p:cNvPr id="30" name="Conexão reta 29">
              <a:extLst>
                <a:ext uri="{FF2B5EF4-FFF2-40B4-BE49-F238E27FC236}">
                  <a16:creationId xmlns:a16="http://schemas.microsoft.com/office/drawing/2014/main" id="{9A88A7ED-4EFD-969A-0FF9-612D55A44502}"/>
                </a:ext>
              </a:extLst>
            </p:cNvPr>
            <p:cNvCxnSpPr>
              <a:stCxn id="28" idx="3"/>
              <a:endCxn id="29" idx="2"/>
            </p:cNvCxnSpPr>
            <p:nvPr/>
          </p:nvCxnSpPr>
          <p:spPr>
            <a:xfrm flipV="1">
              <a:off x="9629408" y="1886310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E77D601F-11AA-7E33-2DEC-8E3CD30D1E32}"/>
                </a:ext>
              </a:extLst>
            </p:cNvPr>
            <p:cNvSpPr/>
            <p:nvPr/>
          </p:nvSpPr>
          <p:spPr>
            <a:xfrm>
              <a:off x="9828835" y="2779854"/>
              <a:ext cx="763200" cy="76392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32" name="Conexão reta 31">
              <a:extLst>
                <a:ext uri="{FF2B5EF4-FFF2-40B4-BE49-F238E27FC236}">
                  <a16:creationId xmlns:a16="http://schemas.microsoft.com/office/drawing/2014/main" id="{B5A5E2E9-059F-42BF-6558-3A95669BEBA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07218" y="2385951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" name="Conexão reta unidirecional 32">
            <a:extLst>
              <a:ext uri="{FF2B5EF4-FFF2-40B4-BE49-F238E27FC236}">
                <a16:creationId xmlns:a16="http://schemas.microsoft.com/office/drawing/2014/main" id="{8EA9DB5D-6191-5C2A-30FB-3E02237CB202}"/>
              </a:ext>
            </a:extLst>
          </p:cNvPr>
          <p:cNvCxnSpPr/>
          <p:nvPr/>
        </p:nvCxnSpPr>
        <p:spPr>
          <a:xfrm>
            <a:off x="4863299" y="2467333"/>
            <a:ext cx="335666" cy="289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F7EBCDD-7504-0920-AC76-EA8D5B404B89}"/>
              </a:ext>
            </a:extLst>
          </p:cNvPr>
          <p:cNvSpPr txBox="1"/>
          <p:nvPr/>
        </p:nvSpPr>
        <p:spPr>
          <a:xfrm>
            <a:off x="5430456" y="3381734"/>
            <a:ext cx="101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</a:t>
            </a:r>
            <a:endParaRPr lang="pt-PT" b="1" dirty="0">
              <a:solidFill>
                <a:srgbClr val="C00000"/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7768C3E-7207-82B0-6FAA-E2EE3BFC2549}"/>
              </a:ext>
            </a:extLst>
          </p:cNvPr>
          <p:cNvSpPr txBox="1"/>
          <p:nvPr/>
        </p:nvSpPr>
        <p:spPr>
          <a:xfrm>
            <a:off x="6369937" y="2122023"/>
            <a:ext cx="101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</a:t>
            </a:r>
            <a:endParaRPr lang="pt-PT" b="1" dirty="0">
              <a:solidFill>
                <a:srgbClr val="C00000"/>
              </a:solidFill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A7AC317-34A1-3613-0F36-9CC56DA01166}"/>
              </a:ext>
            </a:extLst>
          </p:cNvPr>
          <p:cNvSpPr/>
          <p:nvPr/>
        </p:nvSpPr>
        <p:spPr>
          <a:xfrm>
            <a:off x="5688959" y="2679538"/>
            <a:ext cx="381600" cy="763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Círculo Parcial 36">
            <a:extLst>
              <a:ext uri="{FF2B5EF4-FFF2-40B4-BE49-F238E27FC236}">
                <a16:creationId xmlns:a16="http://schemas.microsoft.com/office/drawing/2014/main" id="{B3FB34CD-9397-9F8F-5AC7-7CEBAC4ED4B4}"/>
              </a:ext>
            </a:extLst>
          </p:cNvPr>
          <p:cNvSpPr/>
          <p:nvPr/>
        </p:nvSpPr>
        <p:spPr>
          <a:xfrm>
            <a:off x="6113363" y="1402461"/>
            <a:ext cx="763200" cy="763200"/>
          </a:xfrm>
          <a:prstGeom prst="pie">
            <a:avLst>
              <a:gd name="adj1" fmla="val 5466896"/>
              <a:gd name="adj2" fmla="val 1620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CADD085-A7AC-EB3D-0DF3-3E913D874E3F}"/>
              </a:ext>
            </a:extLst>
          </p:cNvPr>
          <p:cNvSpPr txBox="1"/>
          <p:nvPr/>
        </p:nvSpPr>
        <p:spPr>
          <a:xfrm>
            <a:off x="5999544" y="2735481"/>
            <a:ext cx="12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0070C0"/>
                </a:solidFill>
              </a:rPr>
              <a:t>Afetado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7E9B314-ED63-83A0-6DD6-D894B5574BF5}"/>
              </a:ext>
            </a:extLst>
          </p:cNvPr>
          <p:cNvSpPr txBox="1"/>
          <p:nvPr/>
        </p:nvSpPr>
        <p:spPr>
          <a:xfrm>
            <a:off x="3952754" y="3871729"/>
            <a:ext cx="367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>
                    <a:lumMod val="50000"/>
                  </a:schemeClr>
                </a:solidFill>
              </a:rPr>
              <a:t>Doença autossómica dominante</a:t>
            </a:r>
          </a:p>
        </p:txBody>
      </p:sp>
      <p:sp>
        <p:nvSpPr>
          <p:cNvPr id="40" name="Seta: Para Baixo 39">
            <a:extLst>
              <a:ext uri="{FF2B5EF4-FFF2-40B4-BE49-F238E27FC236}">
                <a16:creationId xmlns:a16="http://schemas.microsoft.com/office/drawing/2014/main" id="{99FB01C6-1272-32A0-DDBA-9E960D0BEB6B}"/>
              </a:ext>
            </a:extLst>
          </p:cNvPr>
          <p:cNvSpPr/>
          <p:nvPr/>
        </p:nvSpPr>
        <p:spPr>
          <a:xfrm>
            <a:off x="5442033" y="4249838"/>
            <a:ext cx="567160" cy="405114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FEC83FC-FB97-1DBD-3C0A-F08E388E3EEB}"/>
              </a:ext>
            </a:extLst>
          </p:cNvPr>
          <p:cNvSpPr txBox="1"/>
          <p:nvPr/>
        </p:nvSpPr>
        <p:spPr>
          <a:xfrm>
            <a:off x="3885235" y="4672312"/>
            <a:ext cx="3676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00B050"/>
                </a:solidFill>
              </a:rPr>
              <a:t>Provavelmente não é a variante causadora de doença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8BA62EC-CE3D-9E69-6E4B-983EF309DD97}"/>
              </a:ext>
            </a:extLst>
          </p:cNvPr>
          <p:cNvSpPr txBox="1"/>
          <p:nvPr/>
        </p:nvSpPr>
        <p:spPr>
          <a:xfrm>
            <a:off x="4128304" y="5479657"/>
            <a:ext cx="36768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/>
              <a:t>No entanto não podemos excluir que:</a:t>
            </a:r>
          </a:p>
          <a:p>
            <a:pPr marL="285750" indent="-285750">
              <a:buFontTx/>
              <a:buChar char="-"/>
            </a:pPr>
            <a:r>
              <a:rPr lang="pt-PT" sz="1600" dirty="0" err="1"/>
              <a:t>Penetrância</a:t>
            </a:r>
            <a:r>
              <a:rPr lang="pt-PT" sz="1600" dirty="0"/>
              <a:t> incompleta</a:t>
            </a:r>
          </a:p>
          <a:p>
            <a:pPr marL="285750" indent="-285750">
              <a:buFontTx/>
              <a:buChar char="-"/>
            </a:pPr>
            <a:r>
              <a:rPr lang="pt-PT" sz="1600" dirty="0"/>
              <a:t>Expressão variável</a:t>
            </a:r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035303D5-DA51-AF7F-0021-9B560C52D5F5}"/>
              </a:ext>
            </a:extLst>
          </p:cNvPr>
          <p:cNvGrpSpPr/>
          <p:nvPr/>
        </p:nvGrpSpPr>
        <p:grpSpPr>
          <a:xfrm>
            <a:off x="8360786" y="1404390"/>
            <a:ext cx="2545702" cy="2039073"/>
            <a:chOff x="8866208" y="1504710"/>
            <a:chExt cx="2545702" cy="2039073"/>
          </a:xfrm>
        </p:grpSpPr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DFA8BD9A-9DF5-C6EB-6998-EF732B9AF8B5}"/>
                </a:ext>
              </a:extLst>
            </p:cNvPr>
            <p:cNvSpPr/>
            <p:nvPr/>
          </p:nvSpPr>
          <p:spPr>
            <a:xfrm>
              <a:off x="8866208" y="1516284"/>
              <a:ext cx="763200" cy="76392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5D5E2C6-9B8F-DDF0-9B39-88BC1E0201F3}"/>
                </a:ext>
              </a:extLst>
            </p:cNvPr>
            <p:cNvSpPr/>
            <p:nvPr/>
          </p:nvSpPr>
          <p:spPr>
            <a:xfrm>
              <a:off x="10648710" y="1504710"/>
              <a:ext cx="763200" cy="763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cxnSp>
          <p:nvCxnSpPr>
            <p:cNvPr id="46" name="Conexão reta 45">
              <a:extLst>
                <a:ext uri="{FF2B5EF4-FFF2-40B4-BE49-F238E27FC236}">
                  <a16:creationId xmlns:a16="http://schemas.microsoft.com/office/drawing/2014/main" id="{E9F9C2DC-C82E-BF33-115C-250C74DB1D18}"/>
                </a:ext>
              </a:extLst>
            </p:cNvPr>
            <p:cNvCxnSpPr>
              <a:stCxn id="44" idx="3"/>
              <a:endCxn id="45" idx="2"/>
            </p:cNvCxnSpPr>
            <p:nvPr/>
          </p:nvCxnSpPr>
          <p:spPr>
            <a:xfrm flipV="1">
              <a:off x="9629408" y="1886310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90AA64B1-FF8A-49E7-F3A4-9A9E073B36C2}"/>
                </a:ext>
              </a:extLst>
            </p:cNvPr>
            <p:cNvSpPr/>
            <p:nvPr/>
          </p:nvSpPr>
          <p:spPr>
            <a:xfrm>
              <a:off x="9828835" y="2779854"/>
              <a:ext cx="763200" cy="76392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48" name="Conexão reta 47">
              <a:extLst>
                <a:ext uri="{FF2B5EF4-FFF2-40B4-BE49-F238E27FC236}">
                  <a16:creationId xmlns:a16="http://schemas.microsoft.com/office/drawing/2014/main" id="{CC09C09E-739B-EE60-86F7-6E35576B3BF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07218" y="2385951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9" name="Conexão reta unidirecional 48">
            <a:extLst>
              <a:ext uri="{FF2B5EF4-FFF2-40B4-BE49-F238E27FC236}">
                <a16:creationId xmlns:a16="http://schemas.microsoft.com/office/drawing/2014/main" id="{8E8E74A1-C765-5C19-D4FA-13085E8563CC}"/>
              </a:ext>
            </a:extLst>
          </p:cNvPr>
          <p:cNvCxnSpPr/>
          <p:nvPr/>
        </p:nvCxnSpPr>
        <p:spPr>
          <a:xfrm>
            <a:off x="8893221" y="2469259"/>
            <a:ext cx="335666" cy="289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44C99B76-EEE5-306B-AA21-60FF0E13E818}"/>
              </a:ext>
            </a:extLst>
          </p:cNvPr>
          <p:cNvSpPr txBox="1"/>
          <p:nvPr/>
        </p:nvSpPr>
        <p:spPr>
          <a:xfrm>
            <a:off x="9460378" y="3383660"/>
            <a:ext cx="101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</a:t>
            </a:r>
            <a:endParaRPr lang="pt-PT" b="1" dirty="0">
              <a:solidFill>
                <a:srgbClr val="C00000"/>
              </a:solidFill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BF57DC5-AFBF-6555-69C8-CE97C08EDB2B}"/>
              </a:ext>
            </a:extLst>
          </p:cNvPr>
          <p:cNvSpPr txBox="1"/>
          <p:nvPr/>
        </p:nvSpPr>
        <p:spPr>
          <a:xfrm>
            <a:off x="10399859" y="2123949"/>
            <a:ext cx="101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</a:t>
            </a:r>
            <a:endParaRPr lang="pt-PT" b="1" dirty="0">
              <a:solidFill>
                <a:srgbClr val="C00000"/>
              </a:solidFill>
            </a:endParaRP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A2A82482-9FB6-FA5A-5F04-DF6BC368FD1A}"/>
              </a:ext>
            </a:extLst>
          </p:cNvPr>
          <p:cNvSpPr/>
          <p:nvPr/>
        </p:nvSpPr>
        <p:spPr>
          <a:xfrm>
            <a:off x="8353068" y="1420776"/>
            <a:ext cx="381600" cy="763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írculo Parcial 52">
            <a:extLst>
              <a:ext uri="{FF2B5EF4-FFF2-40B4-BE49-F238E27FC236}">
                <a16:creationId xmlns:a16="http://schemas.microsoft.com/office/drawing/2014/main" id="{E37F9382-7C17-FF66-B256-FDB945359078}"/>
              </a:ext>
            </a:extLst>
          </p:cNvPr>
          <p:cNvSpPr/>
          <p:nvPr/>
        </p:nvSpPr>
        <p:spPr>
          <a:xfrm>
            <a:off x="10143285" y="1404387"/>
            <a:ext cx="763200" cy="763200"/>
          </a:xfrm>
          <a:prstGeom prst="pie">
            <a:avLst>
              <a:gd name="adj1" fmla="val 5466896"/>
              <a:gd name="adj2" fmla="val 1620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A0F69DF7-3A3F-A7B4-12AC-FBAF161EB27C}"/>
              </a:ext>
            </a:extLst>
          </p:cNvPr>
          <p:cNvSpPr txBox="1"/>
          <p:nvPr/>
        </p:nvSpPr>
        <p:spPr>
          <a:xfrm>
            <a:off x="10029466" y="2737407"/>
            <a:ext cx="12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0070C0"/>
                </a:solidFill>
              </a:rPr>
              <a:t>Afetado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4581D2C-0E49-9A64-F5F1-E04CA79F2B81}"/>
              </a:ext>
            </a:extLst>
          </p:cNvPr>
          <p:cNvSpPr txBox="1"/>
          <p:nvPr/>
        </p:nvSpPr>
        <p:spPr>
          <a:xfrm>
            <a:off x="7982676" y="3873655"/>
            <a:ext cx="367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>
                    <a:lumMod val="50000"/>
                  </a:schemeClr>
                </a:solidFill>
              </a:rPr>
              <a:t>Doença autossómica recessiva</a:t>
            </a:r>
          </a:p>
        </p:txBody>
      </p:sp>
      <p:sp>
        <p:nvSpPr>
          <p:cNvPr id="56" name="Seta: Para Baixo 55">
            <a:extLst>
              <a:ext uri="{FF2B5EF4-FFF2-40B4-BE49-F238E27FC236}">
                <a16:creationId xmlns:a16="http://schemas.microsoft.com/office/drawing/2014/main" id="{24B1A8E8-882D-8D50-FE1A-6EB584A251DF}"/>
              </a:ext>
            </a:extLst>
          </p:cNvPr>
          <p:cNvSpPr/>
          <p:nvPr/>
        </p:nvSpPr>
        <p:spPr>
          <a:xfrm>
            <a:off x="9471955" y="4251764"/>
            <a:ext cx="567160" cy="405114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42A401AF-B21D-82D6-56A4-30237B977C59}"/>
              </a:ext>
            </a:extLst>
          </p:cNvPr>
          <p:cNvSpPr txBox="1"/>
          <p:nvPr/>
        </p:nvSpPr>
        <p:spPr>
          <a:xfrm>
            <a:off x="8073345" y="2135524"/>
            <a:ext cx="101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</a:t>
            </a:r>
            <a:endParaRPr lang="pt-PT" b="1" dirty="0">
              <a:solidFill>
                <a:srgbClr val="C0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CF9030BA-8E5D-8E8D-3748-B7AD754D06A7}"/>
              </a:ext>
            </a:extLst>
          </p:cNvPr>
          <p:cNvSpPr txBox="1"/>
          <p:nvPr/>
        </p:nvSpPr>
        <p:spPr>
          <a:xfrm>
            <a:off x="7971096" y="4683886"/>
            <a:ext cx="3676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C00000"/>
                </a:solidFill>
              </a:rPr>
              <a:t>Variante </a:t>
            </a:r>
          </a:p>
          <a:p>
            <a:pPr algn="ctr"/>
            <a:r>
              <a:rPr lang="pt-PT" b="1" dirty="0">
                <a:solidFill>
                  <a:srgbClr val="C00000"/>
                </a:solidFill>
              </a:rPr>
              <a:t>causadora de doença</a:t>
            </a:r>
          </a:p>
        </p:txBody>
      </p:sp>
    </p:spTree>
    <p:extLst>
      <p:ext uri="{BB962C8B-B14F-4D97-AF65-F5344CB8AC3E}">
        <p14:creationId xmlns:p14="http://schemas.microsoft.com/office/powerpoint/2010/main" val="285670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40" grpId="0" animBg="1"/>
      <p:bldP spid="41" grpId="0"/>
      <p:bldP spid="42" grpId="0"/>
      <p:bldP spid="56" grpId="0" animBg="1"/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E60E47-B916-6B67-BC96-158E5C18074A}"/>
              </a:ext>
            </a:extLst>
          </p:cNvPr>
          <p:cNvSpPr txBox="1">
            <a:spLocks/>
          </p:cNvSpPr>
          <p:nvPr/>
        </p:nvSpPr>
        <p:spPr>
          <a:xfrm>
            <a:off x="174415" y="128073"/>
            <a:ext cx="11562314" cy="1017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Análise de trio e padrões de hereditariedade</a:t>
            </a:r>
          </a:p>
          <a:p>
            <a:r>
              <a:rPr lang="pt-PT" sz="3500" dirty="0"/>
              <a:t>Exemplos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C50EA88-09AB-E864-B80C-5C9FE10CD78C}"/>
              </a:ext>
            </a:extLst>
          </p:cNvPr>
          <p:cNvGrpSpPr/>
          <p:nvPr/>
        </p:nvGrpSpPr>
        <p:grpSpPr>
          <a:xfrm>
            <a:off x="532436" y="1400535"/>
            <a:ext cx="2545702" cy="2039073"/>
            <a:chOff x="8866208" y="1504710"/>
            <a:chExt cx="2545702" cy="2039073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D73FE3F8-EF67-8F2C-CF3D-998DC4FC2DB9}"/>
                </a:ext>
              </a:extLst>
            </p:cNvPr>
            <p:cNvSpPr/>
            <p:nvPr/>
          </p:nvSpPr>
          <p:spPr>
            <a:xfrm>
              <a:off x="8866208" y="1516284"/>
              <a:ext cx="763200" cy="763929"/>
            </a:xfrm>
            <a:prstGeom prst="rect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9FC4B5F-7A69-83CB-DDF1-71BDFB76C723}"/>
                </a:ext>
              </a:extLst>
            </p:cNvPr>
            <p:cNvSpPr/>
            <p:nvPr/>
          </p:nvSpPr>
          <p:spPr>
            <a:xfrm>
              <a:off x="10648710" y="1504710"/>
              <a:ext cx="763200" cy="763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cxnSp>
          <p:nvCxnSpPr>
            <p:cNvPr id="9" name="Conexão reta 8">
              <a:extLst>
                <a:ext uri="{FF2B5EF4-FFF2-40B4-BE49-F238E27FC236}">
                  <a16:creationId xmlns:a16="http://schemas.microsoft.com/office/drawing/2014/main" id="{164F4FF8-2A35-FC37-DD69-B11E241D55F9}"/>
                </a:ext>
              </a:extLst>
            </p:cNvPr>
            <p:cNvCxnSpPr>
              <a:stCxn id="3" idx="3"/>
              <a:endCxn id="5" idx="2"/>
            </p:cNvCxnSpPr>
            <p:nvPr/>
          </p:nvCxnSpPr>
          <p:spPr>
            <a:xfrm flipV="1">
              <a:off x="9629408" y="1886310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3BA82CEF-A054-6503-8266-E7EB124C7251}"/>
                </a:ext>
              </a:extLst>
            </p:cNvPr>
            <p:cNvSpPr/>
            <p:nvPr/>
          </p:nvSpPr>
          <p:spPr>
            <a:xfrm>
              <a:off x="9828835" y="2779854"/>
              <a:ext cx="763200" cy="76392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1" name="Conexão reta 10">
              <a:extLst>
                <a:ext uri="{FF2B5EF4-FFF2-40B4-BE49-F238E27FC236}">
                  <a16:creationId xmlns:a16="http://schemas.microsoft.com/office/drawing/2014/main" id="{718D4923-9FA0-CE21-E6D8-4E74E24ABFB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07218" y="2385951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D444C8D9-B17A-3CF6-0405-702C11E582D0}"/>
              </a:ext>
            </a:extLst>
          </p:cNvPr>
          <p:cNvCxnSpPr/>
          <p:nvPr/>
        </p:nvCxnSpPr>
        <p:spPr>
          <a:xfrm>
            <a:off x="1064871" y="2465404"/>
            <a:ext cx="335666" cy="289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227E1A0-A11D-CD26-CF0B-68B7638DF7A7}"/>
              </a:ext>
            </a:extLst>
          </p:cNvPr>
          <p:cNvSpPr txBox="1"/>
          <p:nvPr/>
        </p:nvSpPr>
        <p:spPr>
          <a:xfrm>
            <a:off x="1632028" y="3379805"/>
            <a:ext cx="129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</a:t>
            </a:r>
            <a:r>
              <a:rPr lang="pt-PT" b="1" dirty="0">
                <a:solidFill>
                  <a:srgbClr val="C00000"/>
                </a:solidFill>
              </a:rPr>
              <a:t>/</a:t>
            </a:r>
            <a:r>
              <a:rPr lang="pt-PT" b="1" dirty="0" err="1">
                <a:solidFill>
                  <a:schemeClr val="accent2"/>
                </a:solidFill>
              </a:rPr>
              <a:t>Mut</a:t>
            </a:r>
            <a:endParaRPr lang="pt-PT" b="1" dirty="0">
              <a:solidFill>
                <a:schemeClr val="accent2"/>
              </a:solidFill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1684FFF-AFF2-BD42-C1BA-F9DA4A481C44}"/>
              </a:ext>
            </a:extLst>
          </p:cNvPr>
          <p:cNvSpPr/>
          <p:nvPr/>
        </p:nvSpPr>
        <p:spPr>
          <a:xfrm>
            <a:off x="1890531" y="2677609"/>
            <a:ext cx="381600" cy="7639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D1AC501-CC50-F5ED-1162-827AA03A1339}"/>
              </a:ext>
            </a:extLst>
          </p:cNvPr>
          <p:cNvSpPr txBox="1"/>
          <p:nvPr/>
        </p:nvSpPr>
        <p:spPr>
          <a:xfrm>
            <a:off x="2201116" y="2733552"/>
            <a:ext cx="12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0070C0"/>
                </a:solidFill>
              </a:rPr>
              <a:t>Afetado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10C63A0-3989-120A-40AA-110F8B344509}"/>
              </a:ext>
            </a:extLst>
          </p:cNvPr>
          <p:cNvSpPr txBox="1"/>
          <p:nvPr/>
        </p:nvSpPr>
        <p:spPr>
          <a:xfrm>
            <a:off x="154326" y="3869800"/>
            <a:ext cx="367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>
                    <a:lumMod val="50000"/>
                  </a:schemeClr>
                </a:solidFill>
              </a:rPr>
              <a:t>Doença autossómica recessiva</a:t>
            </a:r>
          </a:p>
        </p:txBody>
      </p:sp>
      <p:sp>
        <p:nvSpPr>
          <p:cNvPr id="24" name="Seta: Para Baixo 23">
            <a:extLst>
              <a:ext uri="{FF2B5EF4-FFF2-40B4-BE49-F238E27FC236}">
                <a16:creationId xmlns:a16="http://schemas.microsoft.com/office/drawing/2014/main" id="{36A8B0DA-3858-AF42-909C-2E3FB5210F4C}"/>
              </a:ext>
            </a:extLst>
          </p:cNvPr>
          <p:cNvSpPr/>
          <p:nvPr/>
        </p:nvSpPr>
        <p:spPr>
          <a:xfrm>
            <a:off x="1643605" y="4247909"/>
            <a:ext cx="567160" cy="405114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2969F84-C162-D051-B611-77B7C00A2FBF}"/>
              </a:ext>
            </a:extLst>
          </p:cNvPr>
          <p:cNvSpPr txBox="1"/>
          <p:nvPr/>
        </p:nvSpPr>
        <p:spPr>
          <a:xfrm>
            <a:off x="100209" y="4707961"/>
            <a:ext cx="3676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C00000"/>
                </a:solidFill>
              </a:rPr>
              <a:t>Combinação das mutações provavelmente causador de doença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811D004C-AA81-5171-B83E-E89DF40AE3B8}"/>
              </a:ext>
            </a:extLst>
          </p:cNvPr>
          <p:cNvGrpSpPr/>
          <p:nvPr/>
        </p:nvGrpSpPr>
        <p:grpSpPr>
          <a:xfrm>
            <a:off x="4330864" y="1402464"/>
            <a:ext cx="2545702" cy="2039073"/>
            <a:chOff x="8866208" y="1504710"/>
            <a:chExt cx="2545702" cy="2039073"/>
          </a:xfrm>
        </p:grpSpPr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DAD13272-7280-EA63-E672-07A429B57EAE}"/>
                </a:ext>
              </a:extLst>
            </p:cNvPr>
            <p:cNvSpPr/>
            <p:nvPr/>
          </p:nvSpPr>
          <p:spPr>
            <a:xfrm>
              <a:off x="8866208" y="1516284"/>
              <a:ext cx="763200" cy="763929"/>
            </a:xfrm>
            <a:prstGeom prst="rect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3A059F-40A6-2516-BE73-3759DD20F3E7}"/>
                </a:ext>
              </a:extLst>
            </p:cNvPr>
            <p:cNvSpPr/>
            <p:nvPr/>
          </p:nvSpPr>
          <p:spPr>
            <a:xfrm>
              <a:off x="10648710" y="1504710"/>
              <a:ext cx="763200" cy="763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cxnSp>
          <p:nvCxnSpPr>
            <p:cNvPr id="30" name="Conexão reta 29">
              <a:extLst>
                <a:ext uri="{FF2B5EF4-FFF2-40B4-BE49-F238E27FC236}">
                  <a16:creationId xmlns:a16="http://schemas.microsoft.com/office/drawing/2014/main" id="{9A88A7ED-4EFD-969A-0FF9-612D55A44502}"/>
                </a:ext>
              </a:extLst>
            </p:cNvPr>
            <p:cNvCxnSpPr>
              <a:stCxn id="28" idx="3"/>
              <a:endCxn id="29" idx="2"/>
            </p:cNvCxnSpPr>
            <p:nvPr/>
          </p:nvCxnSpPr>
          <p:spPr>
            <a:xfrm flipV="1">
              <a:off x="9629408" y="1886310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E77D601F-11AA-7E33-2DEC-8E3CD30D1E32}"/>
                </a:ext>
              </a:extLst>
            </p:cNvPr>
            <p:cNvSpPr/>
            <p:nvPr/>
          </p:nvSpPr>
          <p:spPr>
            <a:xfrm>
              <a:off x="9828835" y="2779854"/>
              <a:ext cx="763200" cy="76392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32" name="Conexão reta 31">
              <a:extLst>
                <a:ext uri="{FF2B5EF4-FFF2-40B4-BE49-F238E27FC236}">
                  <a16:creationId xmlns:a16="http://schemas.microsoft.com/office/drawing/2014/main" id="{B5A5E2E9-059F-42BF-6558-3A95669BEBA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07218" y="2385951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" name="Conexão reta unidirecional 32">
            <a:extLst>
              <a:ext uri="{FF2B5EF4-FFF2-40B4-BE49-F238E27FC236}">
                <a16:creationId xmlns:a16="http://schemas.microsoft.com/office/drawing/2014/main" id="{8EA9DB5D-6191-5C2A-30FB-3E02237CB202}"/>
              </a:ext>
            </a:extLst>
          </p:cNvPr>
          <p:cNvCxnSpPr/>
          <p:nvPr/>
        </p:nvCxnSpPr>
        <p:spPr>
          <a:xfrm>
            <a:off x="4863299" y="2467333"/>
            <a:ext cx="335666" cy="289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tângulo 35">
            <a:extLst>
              <a:ext uri="{FF2B5EF4-FFF2-40B4-BE49-F238E27FC236}">
                <a16:creationId xmlns:a16="http://schemas.microsoft.com/office/drawing/2014/main" id="{0A7AC317-34A1-3613-0F36-9CC56DA01166}"/>
              </a:ext>
            </a:extLst>
          </p:cNvPr>
          <p:cNvSpPr/>
          <p:nvPr/>
        </p:nvSpPr>
        <p:spPr>
          <a:xfrm>
            <a:off x="5688959" y="2679538"/>
            <a:ext cx="381600" cy="763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Círculo Parcial 36">
            <a:extLst>
              <a:ext uri="{FF2B5EF4-FFF2-40B4-BE49-F238E27FC236}">
                <a16:creationId xmlns:a16="http://schemas.microsoft.com/office/drawing/2014/main" id="{B3FB34CD-9397-9F8F-5AC7-7CEBAC4ED4B4}"/>
              </a:ext>
            </a:extLst>
          </p:cNvPr>
          <p:cNvSpPr/>
          <p:nvPr/>
        </p:nvSpPr>
        <p:spPr>
          <a:xfrm>
            <a:off x="6113363" y="1402461"/>
            <a:ext cx="763200" cy="763200"/>
          </a:xfrm>
          <a:prstGeom prst="pie">
            <a:avLst>
              <a:gd name="adj1" fmla="val 5466896"/>
              <a:gd name="adj2" fmla="val 1620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chemeClr val="tx1"/>
              </a:solidFill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CADD085-A7AC-EB3D-0DF3-3E913D874E3F}"/>
              </a:ext>
            </a:extLst>
          </p:cNvPr>
          <p:cNvSpPr txBox="1"/>
          <p:nvPr/>
        </p:nvSpPr>
        <p:spPr>
          <a:xfrm>
            <a:off x="5999544" y="2735481"/>
            <a:ext cx="12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0070C0"/>
                </a:solidFill>
              </a:rPr>
              <a:t>Afetado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7E9B314-ED63-83A0-6DD6-D894B5574BF5}"/>
              </a:ext>
            </a:extLst>
          </p:cNvPr>
          <p:cNvSpPr txBox="1"/>
          <p:nvPr/>
        </p:nvSpPr>
        <p:spPr>
          <a:xfrm>
            <a:off x="3952754" y="3871729"/>
            <a:ext cx="367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>
                    <a:lumMod val="50000"/>
                  </a:schemeClr>
                </a:solidFill>
              </a:rPr>
              <a:t>Doença autossómica recessiva</a:t>
            </a:r>
          </a:p>
        </p:txBody>
      </p:sp>
      <p:sp>
        <p:nvSpPr>
          <p:cNvPr id="40" name="Seta: Para Baixo 39">
            <a:extLst>
              <a:ext uri="{FF2B5EF4-FFF2-40B4-BE49-F238E27FC236}">
                <a16:creationId xmlns:a16="http://schemas.microsoft.com/office/drawing/2014/main" id="{99FB01C6-1272-32A0-DDBA-9E960D0BEB6B}"/>
              </a:ext>
            </a:extLst>
          </p:cNvPr>
          <p:cNvSpPr/>
          <p:nvPr/>
        </p:nvSpPr>
        <p:spPr>
          <a:xfrm>
            <a:off x="5442033" y="4249838"/>
            <a:ext cx="567160" cy="405114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FEC83FC-FB97-1DBD-3C0A-F08E388E3EEB}"/>
              </a:ext>
            </a:extLst>
          </p:cNvPr>
          <p:cNvSpPr txBox="1"/>
          <p:nvPr/>
        </p:nvSpPr>
        <p:spPr>
          <a:xfrm>
            <a:off x="3885235" y="4672312"/>
            <a:ext cx="3676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00B050"/>
                </a:solidFill>
              </a:rPr>
              <a:t>Provavelmente não é a variante causadora de doença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8BA62EC-CE3D-9E69-6E4B-983EF309DD97}"/>
              </a:ext>
            </a:extLst>
          </p:cNvPr>
          <p:cNvSpPr txBox="1"/>
          <p:nvPr/>
        </p:nvSpPr>
        <p:spPr>
          <a:xfrm>
            <a:off x="4128304" y="5479657"/>
            <a:ext cx="3086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Provavelmente as duas mutações estão em </a:t>
            </a:r>
            <a:r>
              <a:rPr lang="pt-PT" sz="1600" i="1" dirty="0" err="1"/>
              <a:t>cis</a:t>
            </a:r>
            <a:endParaRPr lang="pt-PT" sz="1600" i="1" dirty="0"/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035303D5-DA51-AF7F-0021-9B560C52D5F5}"/>
              </a:ext>
            </a:extLst>
          </p:cNvPr>
          <p:cNvGrpSpPr/>
          <p:nvPr/>
        </p:nvGrpSpPr>
        <p:grpSpPr>
          <a:xfrm>
            <a:off x="8360786" y="1404390"/>
            <a:ext cx="2545702" cy="2039073"/>
            <a:chOff x="8866208" y="1504710"/>
            <a:chExt cx="2545702" cy="2039073"/>
          </a:xfrm>
        </p:grpSpPr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DFA8BD9A-9DF5-C6EB-6998-EF732B9AF8B5}"/>
                </a:ext>
              </a:extLst>
            </p:cNvPr>
            <p:cNvSpPr/>
            <p:nvPr/>
          </p:nvSpPr>
          <p:spPr>
            <a:xfrm>
              <a:off x="8866208" y="1516284"/>
              <a:ext cx="763200" cy="763929"/>
            </a:xfrm>
            <a:prstGeom prst="rect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5D5E2C6-9B8F-DDF0-9B39-88BC1E0201F3}"/>
                </a:ext>
              </a:extLst>
            </p:cNvPr>
            <p:cNvSpPr/>
            <p:nvPr/>
          </p:nvSpPr>
          <p:spPr>
            <a:xfrm>
              <a:off x="10648710" y="1504710"/>
              <a:ext cx="763200" cy="763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cxnSp>
          <p:nvCxnSpPr>
            <p:cNvPr id="46" name="Conexão reta 45">
              <a:extLst>
                <a:ext uri="{FF2B5EF4-FFF2-40B4-BE49-F238E27FC236}">
                  <a16:creationId xmlns:a16="http://schemas.microsoft.com/office/drawing/2014/main" id="{E9F9C2DC-C82E-BF33-115C-250C74DB1D18}"/>
                </a:ext>
              </a:extLst>
            </p:cNvPr>
            <p:cNvCxnSpPr>
              <a:stCxn id="44" idx="3"/>
              <a:endCxn id="45" idx="2"/>
            </p:cNvCxnSpPr>
            <p:nvPr/>
          </p:nvCxnSpPr>
          <p:spPr>
            <a:xfrm flipV="1">
              <a:off x="9629408" y="1886310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90AA64B1-FF8A-49E7-F3A4-9A9E073B36C2}"/>
                </a:ext>
              </a:extLst>
            </p:cNvPr>
            <p:cNvSpPr/>
            <p:nvPr/>
          </p:nvSpPr>
          <p:spPr>
            <a:xfrm>
              <a:off x="9828835" y="2779854"/>
              <a:ext cx="763200" cy="76392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48" name="Conexão reta 47">
              <a:extLst>
                <a:ext uri="{FF2B5EF4-FFF2-40B4-BE49-F238E27FC236}">
                  <a16:creationId xmlns:a16="http://schemas.microsoft.com/office/drawing/2014/main" id="{CC09C09E-739B-EE60-86F7-6E35576B3BF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07218" y="2385951"/>
              <a:ext cx="1019302" cy="119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9" name="Conexão reta unidirecional 48">
            <a:extLst>
              <a:ext uri="{FF2B5EF4-FFF2-40B4-BE49-F238E27FC236}">
                <a16:creationId xmlns:a16="http://schemas.microsoft.com/office/drawing/2014/main" id="{8E8E74A1-C765-5C19-D4FA-13085E8563CC}"/>
              </a:ext>
            </a:extLst>
          </p:cNvPr>
          <p:cNvCxnSpPr/>
          <p:nvPr/>
        </p:nvCxnSpPr>
        <p:spPr>
          <a:xfrm>
            <a:off x="8893221" y="2469259"/>
            <a:ext cx="335666" cy="289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44C99B76-EEE5-306B-AA21-60FF0E13E818}"/>
              </a:ext>
            </a:extLst>
          </p:cNvPr>
          <p:cNvSpPr txBox="1"/>
          <p:nvPr/>
        </p:nvSpPr>
        <p:spPr>
          <a:xfrm>
            <a:off x="9460378" y="3383660"/>
            <a:ext cx="101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Mut_X</a:t>
            </a:r>
            <a:endParaRPr lang="pt-PT" b="1" dirty="0">
              <a:solidFill>
                <a:srgbClr val="C00000"/>
              </a:solidFill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BF57DC5-AFBF-6555-69C8-CE97C08EDB2B}"/>
              </a:ext>
            </a:extLst>
          </p:cNvPr>
          <p:cNvSpPr txBox="1"/>
          <p:nvPr/>
        </p:nvSpPr>
        <p:spPr>
          <a:xfrm>
            <a:off x="10399859" y="2123949"/>
            <a:ext cx="101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Mut_X</a:t>
            </a:r>
            <a:endParaRPr lang="pt-PT" b="1" dirty="0">
              <a:solidFill>
                <a:srgbClr val="C00000"/>
              </a:solidFill>
            </a:endParaRP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A2A82482-9FB6-FA5A-5F04-DF6BC368FD1A}"/>
              </a:ext>
            </a:extLst>
          </p:cNvPr>
          <p:cNvSpPr/>
          <p:nvPr/>
        </p:nvSpPr>
        <p:spPr>
          <a:xfrm>
            <a:off x="9317572" y="2685905"/>
            <a:ext cx="381600" cy="763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írculo Parcial 52">
            <a:extLst>
              <a:ext uri="{FF2B5EF4-FFF2-40B4-BE49-F238E27FC236}">
                <a16:creationId xmlns:a16="http://schemas.microsoft.com/office/drawing/2014/main" id="{E37F9382-7C17-FF66-B256-FDB945359078}"/>
              </a:ext>
            </a:extLst>
          </p:cNvPr>
          <p:cNvSpPr/>
          <p:nvPr/>
        </p:nvSpPr>
        <p:spPr>
          <a:xfrm>
            <a:off x="10143285" y="1404387"/>
            <a:ext cx="763200" cy="763200"/>
          </a:xfrm>
          <a:prstGeom prst="pie">
            <a:avLst>
              <a:gd name="adj1" fmla="val 5466896"/>
              <a:gd name="adj2" fmla="val 1620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A0F69DF7-3A3F-A7B4-12AC-FBAF161EB27C}"/>
              </a:ext>
            </a:extLst>
          </p:cNvPr>
          <p:cNvSpPr txBox="1"/>
          <p:nvPr/>
        </p:nvSpPr>
        <p:spPr>
          <a:xfrm>
            <a:off x="10029466" y="2737407"/>
            <a:ext cx="12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0070C0"/>
                </a:solidFill>
              </a:rPr>
              <a:t>Afetado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4581D2C-0E49-9A64-F5F1-E04CA79F2B81}"/>
              </a:ext>
            </a:extLst>
          </p:cNvPr>
          <p:cNvSpPr txBox="1"/>
          <p:nvPr/>
        </p:nvSpPr>
        <p:spPr>
          <a:xfrm>
            <a:off x="7982676" y="3873655"/>
            <a:ext cx="367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>
                    <a:lumMod val="50000"/>
                  </a:schemeClr>
                </a:solidFill>
              </a:rPr>
              <a:t>Doença recessiva ligada ao X</a:t>
            </a:r>
          </a:p>
        </p:txBody>
      </p:sp>
      <p:sp>
        <p:nvSpPr>
          <p:cNvPr id="56" name="Seta: Para Baixo 55">
            <a:extLst>
              <a:ext uri="{FF2B5EF4-FFF2-40B4-BE49-F238E27FC236}">
                <a16:creationId xmlns:a16="http://schemas.microsoft.com/office/drawing/2014/main" id="{24B1A8E8-882D-8D50-FE1A-6EB584A251DF}"/>
              </a:ext>
            </a:extLst>
          </p:cNvPr>
          <p:cNvSpPr/>
          <p:nvPr/>
        </p:nvSpPr>
        <p:spPr>
          <a:xfrm>
            <a:off x="9471955" y="4251764"/>
            <a:ext cx="567160" cy="405114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CF9030BA-8E5D-8E8D-3748-B7AD754D06A7}"/>
              </a:ext>
            </a:extLst>
          </p:cNvPr>
          <p:cNvSpPr txBox="1"/>
          <p:nvPr/>
        </p:nvSpPr>
        <p:spPr>
          <a:xfrm>
            <a:off x="7971096" y="4683886"/>
            <a:ext cx="3676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C00000"/>
                </a:solidFill>
              </a:rPr>
              <a:t>Variante </a:t>
            </a:r>
          </a:p>
          <a:p>
            <a:pPr algn="ctr"/>
            <a:r>
              <a:rPr lang="pt-PT" b="1" dirty="0">
                <a:solidFill>
                  <a:srgbClr val="C00000"/>
                </a:solidFill>
              </a:rPr>
              <a:t>causadora de doença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6F6E97F-38E2-0F7F-91BC-6B60ECDFE2E6}"/>
              </a:ext>
            </a:extLst>
          </p:cNvPr>
          <p:cNvSpPr/>
          <p:nvPr/>
        </p:nvSpPr>
        <p:spPr>
          <a:xfrm>
            <a:off x="903062" y="1414568"/>
            <a:ext cx="381600" cy="7639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írculo Parcial 3">
            <a:extLst>
              <a:ext uri="{FF2B5EF4-FFF2-40B4-BE49-F238E27FC236}">
                <a16:creationId xmlns:a16="http://schemas.microsoft.com/office/drawing/2014/main" id="{05B4129C-47F1-4662-B9B2-2BA62FA13A7F}"/>
              </a:ext>
            </a:extLst>
          </p:cNvPr>
          <p:cNvSpPr/>
          <p:nvPr/>
        </p:nvSpPr>
        <p:spPr>
          <a:xfrm>
            <a:off x="2332591" y="1404548"/>
            <a:ext cx="763200" cy="763200"/>
          </a:xfrm>
          <a:prstGeom prst="pie">
            <a:avLst>
              <a:gd name="adj1" fmla="val 5466896"/>
              <a:gd name="adj2" fmla="val 1620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0115041-54F5-FD6B-4124-927BA5D33192}"/>
              </a:ext>
            </a:extLst>
          </p:cNvPr>
          <p:cNvSpPr txBox="1"/>
          <p:nvPr/>
        </p:nvSpPr>
        <p:spPr>
          <a:xfrm>
            <a:off x="2573567" y="2141816"/>
            <a:ext cx="101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</a:t>
            </a:r>
            <a:endParaRPr lang="pt-PT" b="1" dirty="0">
              <a:solidFill>
                <a:srgbClr val="C000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F61DE8-4B9D-6EE3-7362-FDD0812CF775}"/>
              </a:ext>
            </a:extLst>
          </p:cNvPr>
          <p:cNvSpPr txBox="1"/>
          <p:nvPr/>
        </p:nvSpPr>
        <p:spPr>
          <a:xfrm>
            <a:off x="368987" y="2154342"/>
            <a:ext cx="101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chemeClr val="accent2"/>
                </a:solidFill>
              </a:rPr>
              <a:t>Mut</a:t>
            </a:r>
            <a:endParaRPr lang="pt-PT" b="1" dirty="0">
              <a:solidFill>
                <a:schemeClr val="accent2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EAAEA52-15D5-276C-8FB8-3F79030838CC}"/>
              </a:ext>
            </a:extLst>
          </p:cNvPr>
          <p:cNvSpPr txBox="1"/>
          <p:nvPr/>
        </p:nvSpPr>
        <p:spPr>
          <a:xfrm>
            <a:off x="360058" y="5707213"/>
            <a:ext cx="3059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No entanto é necessário confirmar que as mutações estão em </a:t>
            </a:r>
            <a:r>
              <a:rPr lang="pt-PT" sz="1600" i="1" dirty="0"/>
              <a:t>trans</a:t>
            </a:r>
          </a:p>
        </p:txBody>
      </p:sp>
      <p:sp>
        <p:nvSpPr>
          <p:cNvPr id="14" name="Círculo Parcial 13">
            <a:extLst>
              <a:ext uri="{FF2B5EF4-FFF2-40B4-BE49-F238E27FC236}">
                <a16:creationId xmlns:a16="http://schemas.microsoft.com/office/drawing/2014/main" id="{15A3543B-0302-1444-A677-6B76B44F66A2}"/>
              </a:ext>
            </a:extLst>
          </p:cNvPr>
          <p:cNvSpPr/>
          <p:nvPr/>
        </p:nvSpPr>
        <p:spPr>
          <a:xfrm>
            <a:off x="6115451" y="1404549"/>
            <a:ext cx="763200" cy="763200"/>
          </a:xfrm>
          <a:prstGeom prst="pie">
            <a:avLst>
              <a:gd name="adj1" fmla="val 5466896"/>
              <a:gd name="adj2" fmla="val 1095247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chemeClr val="tx1"/>
              </a:solidFill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31100F5-E68E-2DCE-53CF-33B7B251FC3C}"/>
              </a:ext>
            </a:extLst>
          </p:cNvPr>
          <p:cNvSpPr/>
          <p:nvPr/>
        </p:nvSpPr>
        <p:spPr>
          <a:xfrm>
            <a:off x="5295578" y="3068002"/>
            <a:ext cx="381600" cy="381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041A6C9-AE92-E1A7-FF01-DECA28E81B17}"/>
              </a:ext>
            </a:extLst>
          </p:cNvPr>
          <p:cNvSpPr txBox="1"/>
          <p:nvPr/>
        </p:nvSpPr>
        <p:spPr>
          <a:xfrm>
            <a:off x="5116351" y="3419471"/>
            <a:ext cx="129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</a:t>
            </a:r>
            <a:r>
              <a:rPr lang="pt-PT" b="1" dirty="0">
                <a:solidFill>
                  <a:srgbClr val="C00000"/>
                </a:solidFill>
              </a:rPr>
              <a:t>/</a:t>
            </a:r>
            <a:r>
              <a:rPr lang="pt-PT" b="1" dirty="0" err="1">
                <a:solidFill>
                  <a:schemeClr val="accent2"/>
                </a:solidFill>
              </a:rPr>
              <a:t>Mut</a:t>
            </a:r>
            <a:endParaRPr lang="pt-PT" b="1" dirty="0">
              <a:solidFill>
                <a:schemeClr val="accent2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A3C7CA6-8814-70C8-8D80-6E0A0916E374}"/>
              </a:ext>
            </a:extLst>
          </p:cNvPr>
          <p:cNvSpPr txBox="1"/>
          <p:nvPr/>
        </p:nvSpPr>
        <p:spPr>
          <a:xfrm>
            <a:off x="6045365" y="2143904"/>
            <a:ext cx="129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rgbClr val="C00000"/>
                </a:solidFill>
              </a:rPr>
              <a:t>Mut</a:t>
            </a:r>
            <a:r>
              <a:rPr lang="pt-PT" b="1" dirty="0">
                <a:solidFill>
                  <a:srgbClr val="C00000"/>
                </a:solidFill>
              </a:rPr>
              <a:t>/</a:t>
            </a:r>
            <a:r>
              <a:rPr lang="pt-PT" b="1" dirty="0" err="1">
                <a:solidFill>
                  <a:schemeClr val="accent2"/>
                </a:solidFill>
              </a:rPr>
              <a:t>Mut</a:t>
            </a:r>
            <a:endParaRPr lang="pt-PT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75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40" grpId="0" animBg="1"/>
      <p:bldP spid="41" grpId="0"/>
      <p:bldP spid="42" grpId="0"/>
      <p:bldP spid="56" grpId="0" animBg="1"/>
      <p:bldP spid="60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0590B-CF7E-AE32-D654-0BAF0920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9700"/>
            <a:ext cx="10515600" cy="1193800"/>
          </a:xfrm>
        </p:spPr>
        <p:txBody>
          <a:bodyPr/>
          <a:lstStyle/>
          <a:p>
            <a:r>
              <a:rPr lang="pt-PT" dirty="0"/>
              <a:t>Diretrizes e recomendações ACMG/AMP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A8D8D09-D9FA-78D8-3028-FE8374BA1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1169"/>
            <a:ext cx="12192000" cy="3347624"/>
          </a:xfrm>
        </p:spPr>
        <p:txBody>
          <a:bodyPr>
            <a:normAutofit/>
          </a:bodyPr>
          <a:lstStyle/>
          <a:p>
            <a:r>
              <a:rPr lang="pt-PT" sz="2000" dirty="0"/>
              <a:t>As diretrizes da ACMG/AMP fornecem um sistema padronizado para avaliar o potencial patogénico das variantes genéticas.</a:t>
            </a:r>
          </a:p>
          <a:p>
            <a:pPr>
              <a:spcAft>
                <a:spcPts val="1000"/>
              </a:spcAft>
            </a:pPr>
            <a:r>
              <a:rPr lang="pt-PT" sz="2000" dirty="0"/>
              <a:t>A classificação baseia-se na integração de múltiplas linhas de evidência, em vez de um único critério.</a:t>
            </a:r>
          </a:p>
          <a:p>
            <a:pPr>
              <a:spcBef>
                <a:spcPts val="0"/>
              </a:spcBef>
            </a:pPr>
            <a:r>
              <a:rPr lang="pt-PT" sz="2000" dirty="0"/>
              <a:t>As evidências podem ser provenientes de diferentes fontes,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PT" sz="2000" dirty="0"/>
              <a:t>    incluindo frequência populacional, dados funcionais,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PT" sz="2000" dirty="0"/>
              <a:t>    segregação familiar, literatura científica,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PT" sz="2000" dirty="0"/>
              <a:t>    bases de dados clínicas e predições bioinformáticas.</a:t>
            </a:r>
          </a:p>
          <a:p>
            <a:endParaRPr lang="pt-PT" sz="2000" dirty="0"/>
          </a:p>
          <a:p>
            <a:endParaRPr lang="pt-PT" sz="20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029EA24-2DC5-8C2E-5655-38D5FC2B5F9E}"/>
              </a:ext>
            </a:extLst>
          </p:cNvPr>
          <p:cNvSpPr txBox="1"/>
          <p:nvPr/>
        </p:nvSpPr>
        <p:spPr>
          <a:xfrm>
            <a:off x="50800" y="4493617"/>
            <a:ext cx="72263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pt-PT" sz="2000" dirty="0"/>
              <a:t>A combinação destas evidências permite classificar as variantes em cinco categorias: </a:t>
            </a:r>
            <a:r>
              <a:rPr lang="pt-PT" sz="2000" b="1" dirty="0"/>
              <a:t>Benigna, Provavelmente Benigna, Variante de Significado Incerto (VUS), Provavelmente Patogénica e Patogénica</a:t>
            </a:r>
            <a:r>
              <a:rPr lang="pt-PT" sz="2000" dirty="0"/>
              <a:t>.</a:t>
            </a:r>
          </a:p>
        </p:txBody>
      </p:sp>
      <p:graphicFrame>
        <p:nvGraphicFramePr>
          <p:cNvPr id="33" name="Diagrama 32">
            <a:extLst>
              <a:ext uri="{FF2B5EF4-FFF2-40B4-BE49-F238E27FC236}">
                <a16:creationId xmlns:a16="http://schemas.microsoft.com/office/drawing/2014/main" id="{A866BF74-D462-8EA9-294F-E4B9C5773B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9042794"/>
              </p:ext>
            </p:extLst>
          </p:nvPr>
        </p:nvGraphicFramePr>
        <p:xfrm>
          <a:off x="6565900" y="2425701"/>
          <a:ext cx="5626100" cy="4267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5" name="CaixaDeTexto 34">
            <a:extLst>
              <a:ext uri="{FF2B5EF4-FFF2-40B4-BE49-F238E27FC236}">
                <a16:creationId xmlns:a16="http://schemas.microsoft.com/office/drawing/2014/main" id="{A498CED4-C7AA-B9DE-1A12-B884853A9448}"/>
              </a:ext>
            </a:extLst>
          </p:cNvPr>
          <p:cNvSpPr txBox="1"/>
          <p:nvPr/>
        </p:nvSpPr>
        <p:spPr>
          <a:xfrm>
            <a:off x="25400" y="3343186"/>
            <a:ext cx="6858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pt-PT" sz="2000" dirty="0"/>
              <a:t>Cada evidência é ponderada de acordo com a sua força (</a:t>
            </a:r>
            <a:r>
              <a:rPr lang="pt-PT" sz="2000" dirty="0" err="1"/>
              <a:t>Supporting</a:t>
            </a:r>
            <a:r>
              <a:rPr lang="pt-PT" sz="2000" dirty="0"/>
              <a:t>, </a:t>
            </a:r>
            <a:r>
              <a:rPr lang="pt-PT" sz="2000" dirty="0" err="1"/>
              <a:t>Moderate</a:t>
            </a:r>
            <a:r>
              <a:rPr lang="pt-PT" sz="2000" dirty="0"/>
              <a:t>, </a:t>
            </a:r>
            <a:r>
              <a:rPr lang="pt-PT" sz="2000" dirty="0" err="1"/>
              <a:t>Strong</a:t>
            </a:r>
            <a:r>
              <a:rPr lang="pt-PT" sz="2000" dirty="0"/>
              <a:t> ou </a:t>
            </a:r>
            <a:r>
              <a:rPr lang="pt-PT" sz="2000" dirty="0" err="1"/>
              <a:t>Very</a:t>
            </a:r>
            <a:r>
              <a:rPr lang="pt-PT" sz="2000" dirty="0"/>
              <a:t> </a:t>
            </a:r>
            <a:r>
              <a:rPr lang="pt-PT" sz="2000" dirty="0" err="1"/>
              <a:t>Strong</a:t>
            </a:r>
            <a:r>
              <a:rPr lang="pt-PT" sz="2000" dirty="0"/>
              <a:t> para evidências de patogenicidade; </a:t>
            </a:r>
            <a:r>
              <a:rPr lang="pt-PT" sz="2000" dirty="0" err="1"/>
              <a:t>Supporting</a:t>
            </a:r>
            <a:r>
              <a:rPr lang="pt-PT" sz="2000" dirty="0"/>
              <a:t>, </a:t>
            </a:r>
            <a:r>
              <a:rPr lang="pt-PT" sz="2000" dirty="0" err="1"/>
              <a:t>Strong</a:t>
            </a:r>
            <a:r>
              <a:rPr lang="pt-PT" sz="2000" dirty="0"/>
              <a:t> ou Stand-</a:t>
            </a:r>
            <a:r>
              <a:rPr lang="pt-PT" sz="2000" dirty="0" err="1"/>
              <a:t>alone</a:t>
            </a:r>
            <a:r>
              <a:rPr lang="pt-PT" sz="2000" dirty="0"/>
              <a:t> para evidências de benignidade).</a:t>
            </a:r>
          </a:p>
        </p:txBody>
      </p:sp>
    </p:spTree>
    <p:extLst>
      <p:ext uri="{BB962C8B-B14F-4D97-AF65-F5344CB8AC3E}">
        <p14:creationId xmlns:p14="http://schemas.microsoft.com/office/powerpoint/2010/main" val="2559564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0590B-CF7E-AE32-D654-0BAF0920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-139700"/>
            <a:ext cx="10515600" cy="1193800"/>
          </a:xfrm>
        </p:spPr>
        <p:txBody>
          <a:bodyPr/>
          <a:lstStyle/>
          <a:p>
            <a:r>
              <a:rPr lang="pt-PT" dirty="0"/>
              <a:t>Critérios ACMG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6D457F3-F8AE-4362-5114-D0BC5E679A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9109949"/>
              </p:ext>
            </p:extLst>
          </p:nvPr>
        </p:nvGraphicFramePr>
        <p:xfrm>
          <a:off x="1663700" y="414866"/>
          <a:ext cx="8623300" cy="6151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5541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755ABB3E-B29F-9C4D-6614-28CCB353E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403" y="50800"/>
            <a:ext cx="8270097" cy="6726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72F60E8E-DA6D-8C35-341A-77BFF43E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400"/>
            <a:ext cx="3924300" cy="1193800"/>
          </a:xfrm>
        </p:spPr>
        <p:txBody>
          <a:bodyPr/>
          <a:lstStyle/>
          <a:p>
            <a:r>
              <a:rPr lang="pt-PT" dirty="0"/>
              <a:t>Critérios ACMG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D4F68F0-E3B8-0896-3891-EBC8609334A7}"/>
              </a:ext>
            </a:extLst>
          </p:cNvPr>
          <p:cNvSpPr txBox="1"/>
          <p:nvPr/>
        </p:nvSpPr>
        <p:spPr>
          <a:xfrm>
            <a:off x="6108700" y="-635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*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5BA7CAC-BAB5-E50C-B2C7-6A75BAA0E809}"/>
              </a:ext>
            </a:extLst>
          </p:cNvPr>
          <p:cNvSpPr txBox="1"/>
          <p:nvPr/>
        </p:nvSpPr>
        <p:spPr>
          <a:xfrm>
            <a:off x="152400" y="5735191"/>
            <a:ext cx="3924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/>
              <a:t>* BA1 – </a:t>
            </a:r>
            <a:r>
              <a:rPr lang="pt-PT" sz="1600" dirty="0" err="1"/>
              <a:t>Freq</a:t>
            </a:r>
            <a:r>
              <a:rPr lang="pt-PT" sz="1600" dirty="0"/>
              <a:t>. Alélica &gt;5% em </a:t>
            </a:r>
            <a:r>
              <a:rPr lang="pt-PT" sz="1600" dirty="0" err="1"/>
              <a:t>Exome</a:t>
            </a:r>
            <a:r>
              <a:rPr lang="pt-PT" sz="1600" dirty="0"/>
              <a:t> </a:t>
            </a:r>
            <a:r>
              <a:rPr lang="pt-PT" sz="1600" dirty="0" err="1"/>
              <a:t>Sequencing</a:t>
            </a:r>
            <a:r>
              <a:rPr lang="pt-PT" sz="1600" dirty="0"/>
              <a:t> </a:t>
            </a:r>
            <a:r>
              <a:rPr lang="pt-PT" sz="1600" dirty="0" err="1"/>
              <a:t>project</a:t>
            </a:r>
            <a:r>
              <a:rPr lang="pt-PT" sz="1600" dirty="0"/>
              <a:t>, 1000 </a:t>
            </a:r>
            <a:r>
              <a:rPr lang="pt-PT" sz="1600" dirty="0" err="1"/>
              <a:t>Genomes</a:t>
            </a:r>
            <a:r>
              <a:rPr lang="pt-PT" sz="1600" dirty="0"/>
              <a:t> </a:t>
            </a:r>
            <a:r>
              <a:rPr lang="pt-PT" sz="1600" dirty="0" err="1"/>
              <a:t>project</a:t>
            </a:r>
            <a:r>
              <a:rPr lang="pt-PT" sz="1600" dirty="0"/>
              <a:t>, ou </a:t>
            </a:r>
            <a:r>
              <a:rPr lang="pt-PT" sz="1600" dirty="0" err="1"/>
              <a:t>Exome</a:t>
            </a:r>
            <a:r>
              <a:rPr lang="pt-PT" sz="1600" dirty="0"/>
              <a:t> </a:t>
            </a:r>
            <a:r>
              <a:rPr lang="pt-PT" sz="1600" dirty="0" err="1"/>
              <a:t>Aggregation</a:t>
            </a:r>
            <a:r>
              <a:rPr lang="pt-PT" sz="1600" dirty="0"/>
              <a:t> Consortium</a:t>
            </a:r>
          </a:p>
        </p:txBody>
      </p:sp>
    </p:spTree>
    <p:extLst>
      <p:ext uri="{BB962C8B-B14F-4D97-AF65-F5344CB8AC3E}">
        <p14:creationId xmlns:p14="http://schemas.microsoft.com/office/powerpoint/2010/main" val="3777042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>
            <a:extLst>
              <a:ext uri="{FF2B5EF4-FFF2-40B4-BE49-F238E27FC236}">
                <a16:creationId xmlns:a16="http://schemas.microsoft.com/office/drawing/2014/main" id="{72F60E8E-DA6D-8C35-341A-77BFF43E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0" y="-101600"/>
            <a:ext cx="3924300" cy="1193800"/>
          </a:xfrm>
        </p:spPr>
        <p:txBody>
          <a:bodyPr/>
          <a:lstStyle/>
          <a:p>
            <a:r>
              <a:rPr lang="pt-PT" dirty="0"/>
              <a:t>Critérios ACMG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4F0062A-662D-958A-B064-BCBE36BCC9FF}"/>
              </a:ext>
            </a:extLst>
          </p:cNvPr>
          <p:cNvGrpSpPr/>
          <p:nvPr/>
        </p:nvGrpSpPr>
        <p:grpSpPr>
          <a:xfrm>
            <a:off x="203200" y="959991"/>
            <a:ext cx="7619839" cy="2986975"/>
            <a:chOff x="203200" y="959991"/>
            <a:chExt cx="7619839" cy="2986975"/>
          </a:xfrm>
        </p:grpSpPr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C5BA7CAC-BAB5-E50C-B2C7-6A75BAA0E809}"/>
                </a:ext>
              </a:extLst>
            </p:cNvPr>
            <p:cNvSpPr txBox="1"/>
            <p:nvPr/>
          </p:nvSpPr>
          <p:spPr>
            <a:xfrm>
              <a:off x="203200" y="972691"/>
              <a:ext cx="12319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b="1" dirty="0"/>
                <a:t>PVS1</a:t>
              </a:r>
              <a:r>
                <a:rPr lang="pt-PT" sz="2000" dirty="0"/>
                <a:t> +</a:t>
              </a:r>
            </a:p>
          </p:txBody>
        </p:sp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83AB3CC8-1433-90B3-72C9-94C252551D55}"/>
                </a:ext>
              </a:extLst>
            </p:cNvPr>
            <p:cNvSpPr txBox="1"/>
            <p:nvPr/>
          </p:nvSpPr>
          <p:spPr>
            <a:xfrm>
              <a:off x="1028700" y="959991"/>
              <a:ext cx="2006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/>
                <a:t>≥ 1 (PS1-PS4)</a:t>
              </a: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9009B32A-DB86-3FA8-8EC0-6F657A3846F1}"/>
                </a:ext>
              </a:extLst>
            </p:cNvPr>
            <p:cNvSpPr txBox="1"/>
            <p:nvPr/>
          </p:nvSpPr>
          <p:spPr>
            <a:xfrm>
              <a:off x="1041400" y="1391791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/>
                <a:t>≥ 2(PM1-PM6)</a:t>
              </a: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53A60F31-EB18-36A2-9A4C-27DB3E78A2B5}"/>
                </a:ext>
              </a:extLst>
            </p:cNvPr>
            <p:cNvSpPr txBox="1"/>
            <p:nvPr/>
          </p:nvSpPr>
          <p:spPr>
            <a:xfrm>
              <a:off x="1028700" y="1836291"/>
              <a:ext cx="3759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/>
                <a:t>1 (PM1-PM6) + 1 (PP1-PP5)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47CF8AD-C5E0-CAB9-CA3F-20C20D4740F6}"/>
                </a:ext>
              </a:extLst>
            </p:cNvPr>
            <p:cNvSpPr txBox="1"/>
            <p:nvPr/>
          </p:nvSpPr>
          <p:spPr>
            <a:xfrm>
              <a:off x="1054100" y="2268091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/>
                <a:t>≥ 2(PP1-PP5)</a:t>
              </a:r>
            </a:p>
          </p:txBody>
        </p:sp>
        <p:sp>
          <p:nvSpPr>
            <p:cNvPr id="6" name="Chaveta à direita 5">
              <a:extLst>
                <a:ext uri="{FF2B5EF4-FFF2-40B4-BE49-F238E27FC236}">
                  <a16:creationId xmlns:a16="http://schemas.microsoft.com/office/drawing/2014/main" id="{ADC92616-7A0A-18C0-8EFE-66EA7F701140}"/>
                </a:ext>
              </a:extLst>
            </p:cNvPr>
            <p:cNvSpPr/>
            <p:nvPr/>
          </p:nvSpPr>
          <p:spPr>
            <a:xfrm>
              <a:off x="5181439" y="990599"/>
              <a:ext cx="406400" cy="2956367"/>
            </a:xfrm>
            <a:prstGeom prst="rightBrace">
              <a:avLst>
                <a:gd name="adj1" fmla="val 8333"/>
                <a:gd name="adj2" fmla="val 50714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 sz="160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EB2484D2-2AA5-9634-9281-A26045DB3FED}"/>
                </a:ext>
              </a:extLst>
            </p:cNvPr>
            <p:cNvSpPr txBox="1"/>
            <p:nvPr/>
          </p:nvSpPr>
          <p:spPr>
            <a:xfrm>
              <a:off x="5537039" y="2307797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b="1" dirty="0">
                  <a:solidFill>
                    <a:srgbClr val="C00000"/>
                  </a:solidFill>
                </a:rPr>
                <a:t>Patogénico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083338BB-052D-FDA3-11C5-BE7BCF74C247}"/>
              </a:ext>
            </a:extLst>
          </p:cNvPr>
          <p:cNvGrpSpPr/>
          <p:nvPr/>
        </p:nvGrpSpPr>
        <p:grpSpPr>
          <a:xfrm>
            <a:off x="300038" y="4561968"/>
            <a:ext cx="6761162" cy="2038410"/>
            <a:chOff x="211138" y="2966591"/>
            <a:chExt cx="6761162" cy="2038410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C67EF47A-C0B6-9F24-E6C0-D8261C61B708}"/>
                </a:ext>
              </a:extLst>
            </p:cNvPr>
            <p:cNvGrpSpPr/>
            <p:nvPr/>
          </p:nvGrpSpPr>
          <p:grpSpPr>
            <a:xfrm>
              <a:off x="211138" y="2966591"/>
              <a:ext cx="6761162" cy="2011809"/>
              <a:chOff x="211138" y="959991"/>
              <a:chExt cx="6761162" cy="2011809"/>
            </a:xfrm>
          </p:grpSpPr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0DB6756-1C56-388A-B5FB-1BFE9DC15960}"/>
                  </a:ext>
                </a:extLst>
              </p:cNvPr>
              <p:cNvSpPr txBox="1"/>
              <p:nvPr/>
            </p:nvSpPr>
            <p:spPr>
              <a:xfrm>
                <a:off x="211138" y="959991"/>
                <a:ext cx="3040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2000" dirty="0"/>
                  <a:t>PBS1 + 1 (PM1-PM6)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465CEE5B-C2F2-3A5C-679C-8B0A2788B5D7}"/>
                  </a:ext>
                </a:extLst>
              </p:cNvPr>
              <p:cNvSpPr txBox="1"/>
              <p:nvPr/>
            </p:nvSpPr>
            <p:spPr>
              <a:xfrm>
                <a:off x="211138" y="1290191"/>
                <a:ext cx="46148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2000" dirty="0"/>
                  <a:t>1 (PS1-PS4) + 1or 2(PM1-PM6)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B4977EC-5776-7946-2550-436CD1F7827F}"/>
                  </a:ext>
                </a:extLst>
              </p:cNvPr>
              <p:cNvSpPr txBox="1"/>
              <p:nvPr/>
            </p:nvSpPr>
            <p:spPr>
              <a:xfrm>
                <a:off x="215900" y="1633091"/>
                <a:ext cx="4978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2000" dirty="0"/>
                  <a:t>1 (PS1-PS4) + ≥ 2 (PP1-PP5)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31A9050-6D78-62C7-AEC6-220281DA69C2}"/>
                  </a:ext>
                </a:extLst>
              </p:cNvPr>
              <p:cNvSpPr txBox="1"/>
              <p:nvPr/>
            </p:nvSpPr>
            <p:spPr>
              <a:xfrm>
                <a:off x="261938" y="1963291"/>
                <a:ext cx="2286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2000" dirty="0"/>
                  <a:t>≥ 3(PM1-PM6)</a:t>
                </a:r>
              </a:p>
            </p:txBody>
          </p:sp>
          <p:sp>
            <p:nvSpPr>
              <p:cNvPr id="15" name="Chaveta à direita 14">
                <a:extLst>
                  <a:ext uri="{FF2B5EF4-FFF2-40B4-BE49-F238E27FC236}">
                    <a16:creationId xmlns:a16="http://schemas.microsoft.com/office/drawing/2014/main" id="{3A9D814F-7C9D-343F-8ABF-695B7F5EA370}"/>
                  </a:ext>
                </a:extLst>
              </p:cNvPr>
              <p:cNvSpPr/>
              <p:nvPr/>
            </p:nvSpPr>
            <p:spPr>
              <a:xfrm>
                <a:off x="4178300" y="990600"/>
                <a:ext cx="406400" cy="1981200"/>
              </a:xfrm>
              <a:prstGeom prst="rightBrace">
                <a:avLst>
                  <a:gd name="adj1" fmla="val 8333"/>
                  <a:gd name="adj2" fmla="val 50714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PT" sz="1600"/>
              </a:p>
            </p:txBody>
          </p:sp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7620F11-AE70-35D5-B1CC-9FB514BDFE99}"/>
                  </a:ext>
                </a:extLst>
              </p:cNvPr>
              <p:cNvSpPr txBox="1"/>
              <p:nvPr/>
            </p:nvSpPr>
            <p:spPr>
              <a:xfrm>
                <a:off x="4533900" y="1772791"/>
                <a:ext cx="24384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2000" b="1" dirty="0">
                    <a:solidFill>
                      <a:schemeClr val="accent2"/>
                    </a:solidFill>
                  </a:rPr>
                  <a:t>Potencialmente</a:t>
                </a:r>
              </a:p>
              <a:p>
                <a:r>
                  <a:rPr lang="pt-PT" sz="2000" b="1" dirty="0">
                    <a:solidFill>
                      <a:schemeClr val="accent2"/>
                    </a:solidFill>
                  </a:rPr>
                  <a:t>Patogénico</a:t>
                </a:r>
              </a:p>
            </p:txBody>
          </p:sp>
        </p:grp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7676886A-7486-A5A1-30E7-901EC78FB3CF}"/>
                </a:ext>
              </a:extLst>
            </p:cNvPr>
            <p:cNvSpPr txBox="1"/>
            <p:nvPr/>
          </p:nvSpPr>
          <p:spPr>
            <a:xfrm>
              <a:off x="236538" y="4274691"/>
              <a:ext cx="42465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/>
                <a:t>2 (PM1-PM6) + ≥ 2 (PP1-PP5)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80511963-C5F9-6187-6434-38DF2590AD7A}"/>
                </a:ext>
              </a:extLst>
            </p:cNvPr>
            <p:cNvSpPr txBox="1"/>
            <p:nvPr/>
          </p:nvSpPr>
          <p:spPr>
            <a:xfrm>
              <a:off x="223838" y="4604891"/>
              <a:ext cx="42465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/>
                <a:t>1 (PM1-PM6) + ≥ 4 (PP1-PP5)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815A8114-8A1A-40F2-D6E9-7036D2650AC2}"/>
              </a:ext>
            </a:extLst>
          </p:cNvPr>
          <p:cNvGrpSpPr/>
          <p:nvPr/>
        </p:nvGrpSpPr>
        <p:grpSpPr>
          <a:xfrm>
            <a:off x="7950200" y="1252091"/>
            <a:ext cx="2908300" cy="856109"/>
            <a:chOff x="2489200" y="959991"/>
            <a:chExt cx="2908300" cy="856109"/>
          </a:xfrm>
        </p:grpSpPr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42941603-725A-D819-9E5B-4356215ABD51}"/>
                </a:ext>
              </a:extLst>
            </p:cNvPr>
            <p:cNvSpPr txBox="1"/>
            <p:nvPr/>
          </p:nvSpPr>
          <p:spPr>
            <a:xfrm>
              <a:off x="2489200" y="959991"/>
              <a:ext cx="2006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/>
                <a:t>1 BA1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846F8F50-95BF-6F5C-F364-0C9D30251E52}"/>
                </a:ext>
              </a:extLst>
            </p:cNvPr>
            <p:cNvSpPr txBox="1"/>
            <p:nvPr/>
          </p:nvSpPr>
          <p:spPr>
            <a:xfrm>
              <a:off x="2501900" y="1391791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/>
                <a:t>≥ 2(BS1-BS4)</a:t>
              </a:r>
            </a:p>
          </p:txBody>
        </p:sp>
        <p:sp>
          <p:nvSpPr>
            <p:cNvPr id="31" name="Chaveta à direita 30">
              <a:extLst>
                <a:ext uri="{FF2B5EF4-FFF2-40B4-BE49-F238E27FC236}">
                  <a16:creationId xmlns:a16="http://schemas.microsoft.com/office/drawing/2014/main" id="{27DA9782-8770-BF21-5C74-E751B1A42C44}"/>
                </a:ext>
              </a:extLst>
            </p:cNvPr>
            <p:cNvSpPr/>
            <p:nvPr/>
          </p:nvSpPr>
          <p:spPr>
            <a:xfrm>
              <a:off x="3873500" y="990600"/>
              <a:ext cx="406400" cy="825500"/>
            </a:xfrm>
            <a:prstGeom prst="rightBrace">
              <a:avLst>
                <a:gd name="adj1" fmla="val 8333"/>
                <a:gd name="adj2" fmla="val 50714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 sz="1600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72FF73A6-F629-63FA-5645-37AAE2B14477}"/>
                </a:ext>
              </a:extLst>
            </p:cNvPr>
            <p:cNvSpPr txBox="1"/>
            <p:nvPr/>
          </p:nvSpPr>
          <p:spPr>
            <a:xfrm>
              <a:off x="4254500" y="122669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b="1" dirty="0">
                  <a:solidFill>
                    <a:srgbClr val="00B050"/>
                  </a:solidFill>
                </a:rPr>
                <a:t>Benigno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3D87E8D7-FD31-3AE0-18BD-82EABD3B970A}"/>
              </a:ext>
            </a:extLst>
          </p:cNvPr>
          <p:cNvGrpSpPr/>
          <p:nvPr/>
        </p:nvGrpSpPr>
        <p:grpSpPr>
          <a:xfrm>
            <a:off x="6494040" y="3000945"/>
            <a:ext cx="5448300" cy="856109"/>
            <a:chOff x="1066800" y="959991"/>
            <a:chExt cx="5448300" cy="856109"/>
          </a:xfrm>
        </p:grpSpPr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942E5F1A-7FC8-73E2-0701-2717BC090819}"/>
                </a:ext>
              </a:extLst>
            </p:cNvPr>
            <p:cNvSpPr txBox="1"/>
            <p:nvPr/>
          </p:nvSpPr>
          <p:spPr>
            <a:xfrm>
              <a:off x="1066800" y="959991"/>
              <a:ext cx="330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/>
                <a:t>1 (BS1-BS4) + 1 (BP1-BP7)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1FA6B2F5-DD62-3B97-0AA4-C6E68606DC47}"/>
                </a:ext>
              </a:extLst>
            </p:cNvPr>
            <p:cNvSpPr txBox="1"/>
            <p:nvPr/>
          </p:nvSpPr>
          <p:spPr>
            <a:xfrm>
              <a:off x="2501900" y="1391791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/>
                <a:t>≥ 2(BP1-BP7)</a:t>
              </a:r>
            </a:p>
          </p:txBody>
        </p:sp>
        <p:sp>
          <p:nvSpPr>
            <p:cNvPr id="36" name="Chaveta à direita 35">
              <a:extLst>
                <a:ext uri="{FF2B5EF4-FFF2-40B4-BE49-F238E27FC236}">
                  <a16:creationId xmlns:a16="http://schemas.microsoft.com/office/drawing/2014/main" id="{95C3421E-3C57-E994-9F9A-5670F36711E8}"/>
                </a:ext>
              </a:extLst>
            </p:cNvPr>
            <p:cNvSpPr/>
            <p:nvPr/>
          </p:nvSpPr>
          <p:spPr>
            <a:xfrm>
              <a:off x="3873500" y="990600"/>
              <a:ext cx="406400" cy="825500"/>
            </a:xfrm>
            <a:prstGeom prst="rightBrace">
              <a:avLst>
                <a:gd name="adj1" fmla="val 8333"/>
                <a:gd name="adj2" fmla="val 50714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 sz="160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80E3FD39-BDC8-8AAB-B8B6-2E1C3FFC9897}"/>
                </a:ext>
              </a:extLst>
            </p:cNvPr>
            <p:cNvSpPr txBox="1"/>
            <p:nvPr/>
          </p:nvSpPr>
          <p:spPr>
            <a:xfrm>
              <a:off x="4254500" y="1074291"/>
              <a:ext cx="2260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b="1" dirty="0">
                  <a:solidFill>
                    <a:srgbClr val="92D050"/>
                  </a:solidFill>
                </a:rPr>
                <a:t>Potencialmente Benigno</a:t>
              </a: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2CD94E6-6F54-85E3-B56F-2ECA8BB41C80}"/>
              </a:ext>
            </a:extLst>
          </p:cNvPr>
          <p:cNvSpPr txBox="1"/>
          <p:nvPr/>
        </p:nvSpPr>
        <p:spPr>
          <a:xfrm>
            <a:off x="7090297" y="5006211"/>
            <a:ext cx="492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Quando os critérios apresentados não são atingidos ou existem critérios patogénicos e benignos contraditórios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84DF795-EDB9-E7D8-B154-DBD587DD1E84}"/>
              </a:ext>
            </a:extLst>
          </p:cNvPr>
          <p:cNvSpPr txBox="1"/>
          <p:nvPr/>
        </p:nvSpPr>
        <p:spPr>
          <a:xfrm>
            <a:off x="6925197" y="4581902"/>
            <a:ext cx="483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chemeClr val="bg1">
                    <a:lumMod val="65000"/>
                  </a:schemeClr>
                </a:solidFill>
              </a:rPr>
              <a:t>Variante de significância desconhecida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EFC018D5-5122-F81A-060F-4BD9CFA9D174}"/>
              </a:ext>
            </a:extLst>
          </p:cNvPr>
          <p:cNvSpPr/>
          <p:nvPr/>
        </p:nvSpPr>
        <p:spPr>
          <a:xfrm>
            <a:off x="6972621" y="4536311"/>
            <a:ext cx="4724400" cy="1651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33476D-BAA2-DB28-EDB2-746DA7CD823B}"/>
              </a:ext>
            </a:extLst>
          </p:cNvPr>
          <p:cNvSpPr txBox="1"/>
          <p:nvPr/>
        </p:nvSpPr>
        <p:spPr>
          <a:xfrm>
            <a:off x="300038" y="2559387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/>
              <a:t>≥ 2(PS1-PS4)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8704DB7-E095-7E3C-1839-2DC7E2AAEED6}"/>
              </a:ext>
            </a:extLst>
          </p:cNvPr>
          <p:cNvSpPr txBox="1"/>
          <p:nvPr/>
        </p:nvSpPr>
        <p:spPr>
          <a:xfrm>
            <a:off x="300038" y="2850683"/>
            <a:ext cx="1494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/>
              <a:t>1(PS1-PS4)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5F6C586-560C-9B41-6209-735DC55AE65D}"/>
              </a:ext>
            </a:extLst>
          </p:cNvPr>
          <p:cNvSpPr txBox="1"/>
          <p:nvPr/>
        </p:nvSpPr>
        <p:spPr>
          <a:xfrm>
            <a:off x="1609906" y="2873833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+ ≥ 3(PM1-PM6)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A8FA64F-9882-685F-5378-B1A792641AA5}"/>
              </a:ext>
            </a:extLst>
          </p:cNvPr>
          <p:cNvSpPr txBox="1"/>
          <p:nvPr/>
        </p:nvSpPr>
        <p:spPr>
          <a:xfrm>
            <a:off x="1611834" y="3228945"/>
            <a:ext cx="3596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+ 2 (PM1-PM6) + ≥ 2 (PP1-PP5)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428E8E9-8EAB-D044-855D-DFB6F9C39F47}"/>
              </a:ext>
            </a:extLst>
          </p:cNvPr>
          <p:cNvSpPr txBox="1"/>
          <p:nvPr/>
        </p:nvSpPr>
        <p:spPr>
          <a:xfrm>
            <a:off x="1613763" y="3554965"/>
            <a:ext cx="3596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+ 1 (PM1-PM6) + ≥ 4 (PP1-PP5)</a:t>
            </a:r>
          </a:p>
        </p:txBody>
      </p:sp>
    </p:spTree>
    <p:extLst>
      <p:ext uri="{BB962C8B-B14F-4D97-AF65-F5344CB8AC3E}">
        <p14:creationId xmlns:p14="http://schemas.microsoft.com/office/powerpoint/2010/main" val="620123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06E8F15-2EBB-8885-9CB5-F6663A03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438" y="-101600"/>
            <a:ext cx="9123362" cy="1193800"/>
          </a:xfrm>
        </p:spPr>
        <p:txBody>
          <a:bodyPr>
            <a:normAutofit/>
          </a:bodyPr>
          <a:lstStyle/>
          <a:p>
            <a:r>
              <a:rPr lang="pt-PT" dirty="0"/>
              <a:t>Aplicação dos critérios - Exemplo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9A8D533-4A7E-4E2E-64D5-5FCD64E2A71E}"/>
              </a:ext>
            </a:extLst>
          </p:cNvPr>
          <p:cNvSpPr txBox="1"/>
          <p:nvPr/>
        </p:nvSpPr>
        <p:spPr>
          <a:xfrm>
            <a:off x="4597400" y="857935"/>
            <a:ext cx="4927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Variante</a:t>
            </a:r>
          </a:p>
          <a:p>
            <a:r>
              <a:rPr lang="it-IT" dirty="0"/>
              <a:t>NM_000492.4:c.1521_1523delCTT</a:t>
            </a:r>
            <a:br>
              <a:rPr lang="it-IT" dirty="0"/>
            </a:br>
            <a:r>
              <a:rPr lang="it-IT" dirty="0"/>
              <a:t>p.Phe508del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Gene – </a:t>
            </a:r>
            <a:r>
              <a:rPr lang="it-IT" i="1" dirty="0"/>
              <a:t>CFTR </a:t>
            </a:r>
            <a:r>
              <a:rPr lang="it-IT" dirty="0"/>
              <a:t>– associado a fibrose quistica Autossomica Recessiva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4882B26-F195-B3CE-018F-10AF9C16C1D5}"/>
              </a:ext>
            </a:extLst>
          </p:cNvPr>
          <p:cNvSpPr txBox="1"/>
          <p:nvPr/>
        </p:nvSpPr>
        <p:spPr>
          <a:xfrm>
            <a:off x="300038" y="165100"/>
            <a:ext cx="345598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tabLst>
                <a:tab pos="1079500" algn="l"/>
              </a:tabLst>
            </a:pPr>
            <a:r>
              <a:rPr lang="pt-PT" b="1" dirty="0">
                <a:solidFill>
                  <a:schemeClr val="tx1"/>
                </a:solidFill>
              </a:rPr>
              <a:t>Existe na população?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FED7627-1D71-E36F-D2C8-59B413F5E1C6}"/>
              </a:ext>
            </a:extLst>
          </p:cNvPr>
          <p:cNvSpPr txBox="1"/>
          <p:nvPr/>
        </p:nvSpPr>
        <p:spPr>
          <a:xfrm>
            <a:off x="300038" y="1054100"/>
            <a:ext cx="347186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Qual é a consequência molecular?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46A4118-02ED-A77D-E99C-BC8BA5A0EDAD}"/>
              </a:ext>
            </a:extLst>
          </p:cNvPr>
          <p:cNvSpPr txBox="1"/>
          <p:nvPr/>
        </p:nvSpPr>
        <p:spPr>
          <a:xfrm>
            <a:off x="300038" y="2209800"/>
            <a:ext cx="347186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 gene está associado ao fenótipo?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B21CEB-09BB-618C-5859-F2455EB72461}"/>
              </a:ext>
            </a:extLst>
          </p:cNvPr>
          <p:cNvSpPr txBox="1"/>
          <p:nvPr/>
        </p:nvSpPr>
        <p:spPr>
          <a:xfrm>
            <a:off x="300037" y="3352800"/>
            <a:ext cx="3430587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Foi previamente descrito como variante patogénica?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13CE0A9-02B3-1760-BAD5-9D40ABC78DFB}"/>
              </a:ext>
            </a:extLst>
          </p:cNvPr>
          <p:cNvSpPr txBox="1"/>
          <p:nvPr/>
        </p:nvSpPr>
        <p:spPr>
          <a:xfrm>
            <a:off x="300038" y="4470400"/>
            <a:ext cx="3471862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Há segregação?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D123D8C-1BA0-F996-3EE9-54AF16F0463D}"/>
              </a:ext>
            </a:extLst>
          </p:cNvPr>
          <p:cNvSpPr txBox="1"/>
          <p:nvPr/>
        </p:nvSpPr>
        <p:spPr>
          <a:xfrm>
            <a:off x="300038" y="5359400"/>
            <a:ext cx="3471862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Existem estudos funcionais?</a:t>
            </a:r>
          </a:p>
        </p:txBody>
      </p:sp>
      <p:sp>
        <p:nvSpPr>
          <p:cNvPr id="15" name="Seta: Para Baixo 14">
            <a:extLst>
              <a:ext uri="{FF2B5EF4-FFF2-40B4-BE49-F238E27FC236}">
                <a16:creationId xmlns:a16="http://schemas.microsoft.com/office/drawing/2014/main" id="{708EF181-29C6-E6D6-7CED-40928C9A3F79}"/>
              </a:ext>
            </a:extLst>
          </p:cNvPr>
          <p:cNvSpPr/>
          <p:nvPr/>
        </p:nvSpPr>
        <p:spPr>
          <a:xfrm>
            <a:off x="1676400" y="596900"/>
            <a:ext cx="723900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4DED1D52-F277-48BD-D469-CFE616C15138}"/>
              </a:ext>
            </a:extLst>
          </p:cNvPr>
          <p:cNvSpPr/>
          <p:nvPr/>
        </p:nvSpPr>
        <p:spPr>
          <a:xfrm>
            <a:off x="1681163" y="1752600"/>
            <a:ext cx="723900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404004C8-FF36-640C-34A8-54AAB011CF49}"/>
              </a:ext>
            </a:extLst>
          </p:cNvPr>
          <p:cNvSpPr/>
          <p:nvPr/>
        </p:nvSpPr>
        <p:spPr>
          <a:xfrm>
            <a:off x="1676400" y="2895600"/>
            <a:ext cx="723900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5DD452E7-D7BB-FB19-6A26-D2DE4D4F0CEA}"/>
              </a:ext>
            </a:extLst>
          </p:cNvPr>
          <p:cNvSpPr/>
          <p:nvPr/>
        </p:nvSpPr>
        <p:spPr>
          <a:xfrm>
            <a:off x="1677988" y="4038600"/>
            <a:ext cx="723900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Seta: Para Baixo 18">
            <a:extLst>
              <a:ext uri="{FF2B5EF4-FFF2-40B4-BE49-F238E27FC236}">
                <a16:creationId xmlns:a16="http://schemas.microsoft.com/office/drawing/2014/main" id="{A36ECAED-D0D0-3D04-6D48-81840A61BAA1}"/>
              </a:ext>
            </a:extLst>
          </p:cNvPr>
          <p:cNvSpPr/>
          <p:nvPr/>
        </p:nvSpPr>
        <p:spPr>
          <a:xfrm>
            <a:off x="1676400" y="4902200"/>
            <a:ext cx="723900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3B2CD26E-BECB-D4CF-B30A-602E093B8632}"/>
              </a:ext>
            </a:extLst>
          </p:cNvPr>
          <p:cNvGrpSpPr/>
          <p:nvPr/>
        </p:nvGrpSpPr>
        <p:grpSpPr>
          <a:xfrm>
            <a:off x="9029700" y="956035"/>
            <a:ext cx="3162300" cy="1454055"/>
            <a:chOff x="532436" y="1400535"/>
            <a:chExt cx="4499715" cy="2088984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2DE42519-ADE4-70A4-9992-33C4E146E12F}"/>
                </a:ext>
              </a:extLst>
            </p:cNvPr>
            <p:cNvGrpSpPr/>
            <p:nvPr/>
          </p:nvGrpSpPr>
          <p:grpSpPr>
            <a:xfrm>
              <a:off x="532436" y="1400535"/>
              <a:ext cx="2545702" cy="2039073"/>
              <a:chOff x="8866208" y="1504710"/>
              <a:chExt cx="2545702" cy="2039073"/>
            </a:xfrm>
          </p:grpSpPr>
          <p:sp>
            <p:nvSpPr>
              <p:cNvPr id="27" name="Retângulo 26">
                <a:extLst>
                  <a:ext uri="{FF2B5EF4-FFF2-40B4-BE49-F238E27FC236}">
                    <a16:creationId xmlns:a16="http://schemas.microsoft.com/office/drawing/2014/main" id="{CE943803-F702-1D93-E627-6CE9258CE14C}"/>
                  </a:ext>
                </a:extLst>
              </p:cNvPr>
              <p:cNvSpPr/>
              <p:nvPr/>
            </p:nvSpPr>
            <p:spPr>
              <a:xfrm>
                <a:off x="8866208" y="1516284"/>
                <a:ext cx="763200" cy="763929"/>
              </a:xfrm>
              <a:prstGeom prst="rect">
                <a:avLst/>
              </a:prstGeom>
              <a:no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E5F7AC4-E6FF-E94B-E396-10E3D2643AA1}"/>
                  </a:ext>
                </a:extLst>
              </p:cNvPr>
              <p:cNvSpPr/>
              <p:nvPr/>
            </p:nvSpPr>
            <p:spPr>
              <a:xfrm>
                <a:off x="10648710" y="1504710"/>
                <a:ext cx="763200" cy="763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cxnSp>
            <p:nvCxnSpPr>
              <p:cNvPr id="29" name="Conexão reta 28">
                <a:extLst>
                  <a:ext uri="{FF2B5EF4-FFF2-40B4-BE49-F238E27FC236}">
                    <a16:creationId xmlns:a16="http://schemas.microsoft.com/office/drawing/2014/main" id="{8F977201-3546-7635-E783-D91FD640772A}"/>
                  </a:ext>
                </a:extLst>
              </p:cNvPr>
              <p:cNvCxnSpPr>
                <a:stCxn id="27" idx="3"/>
                <a:endCxn id="28" idx="2"/>
              </p:cNvCxnSpPr>
              <p:nvPr/>
            </p:nvCxnSpPr>
            <p:spPr>
              <a:xfrm flipV="1">
                <a:off x="9629408" y="1886310"/>
                <a:ext cx="1019302" cy="1193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Retângulo 29">
                <a:extLst>
                  <a:ext uri="{FF2B5EF4-FFF2-40B4-BE49-F238E27FC236}">
                    <a16:creationId xmlns:a16="http://schemas.microsoft.com/office/drawing/2014/main" id="{9196E282-59FC-C616-8E37-70B409523174}"/>
                  </a:ext>
                </a:extLst>
              </p:cNvPr>
              <p:cNvSpPr/>
              <p:nvPr/>
            </p:nvSpPr>
            <p:spPr>
              <a:xfrm>
                <a:off x="9828835" y="2779854"/>
                <a:ext cx="763200" cy="763929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cxnSp>
            <p:nvCxnSpPr>
              <p:cNvPr id="31" name="Conexão reta 30">
                <a:extLst>
                  <a:ext uri="{FF2B5EF4-FFF2-40B4-BE49-F238E27FC236}">
                    <a16:creationId xmlns:a16="http://schemas.microsoft.com/office/drawing/2014/main" id="{9D8C46FC-19E8-A557-E454-BCB0F298A1A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9707218" y="2385951"/>
                <a:ext cx="1019302" cy="1193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Conexão reta unidirecional 22">
              <a:extLst>
                <a:ext uri="{FF2B5EF4-FFF2-40B4-BE49-F238E27FC236}">
                  <a16:creationId xmlns:a16="http://schemas.microsoft.com/office/drawing/2014/main" id="{715B765C-7A0C-DA8E-2EE0-D8F015291B68}"/>
                </a:ext>
              </a:extLst>
            </p:cNvPr>
            <p:cNvCxnSpPr/>
            <p:nvPr/>
          </p:nvCxnSpPr>
          <p:spPr>
            <a:xfrm>
              <a:off x="1064871" y="2465404"/>
              <a:ext cx="335666" cy="2893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88992B23-DFF1-FE28-A747-1B1648671C50}"/>
                </a:ext>
              </a:extLst>
            </p:cNvPr>
            <p:cNvSpPr/>
            <p:nvPr/>
          </p:nvSpPr>
          <p:spPr>
            <a:xfrm>
              <a:off x="535195" y="1418663"/>
              <a:ext cx="381600" cy="76392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6F191E31-8FFB-492C-3976-0173E19BAD90}"/>
                </a:ext>
              </a:extLst>
            </p:cNvPr>
            <p:cNvSpPr txBox="1"/>
            <p:nvPr/>
          </p:nvSpPr>
          <p:spPr>
            <a:xfrm>
              <a:off x="2201114" y="2295658"/>
              <a:ext cx="2831037" cy="1193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b="1" dirty="0">
                  <a:solidFill>
                    <a:srgbClr val="0070C0"/>
                  </a:solidFill>
                </a:rPr>
                <a:t>Afetado com fenótipo de fibrose </a:t>
              </a:r>
              <a:r>
                <a:rPr lang="pt-PT" sz="1600" b="1" dirty="0" err="1">
                  <a:solidFill>
                    <a:srgbClr val="0070C0"/>
                  </a:solidFill>
                </a:rPr>
                <a:t>quística</a:t>
              </a:r>
              <a:endParaRPr lang="pt-PT" sz="16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32" name="Círculo Parcial 31">
            <a:extLst>
              <a:ext uri="{FF2B5EF4-FFF2-40B4-BE49-F238E27FC236}">
                <a16:creationId xmlns:a16="http://schemas.microsoft.com/office/drawing/2014/main" id="{87896F9D-DD21-A9A0-C7EC-1BB4AC8FF36E}"/>
              </a:ext>
            </a:extLst>
          </p:cNvPr>
          <p:cNvSpPr/>
          <p:nvPr/>
        </p:nvSpPr>
        <p:spPr>
          <a:xfrm>
            <a:off x="10282985" y="947187"/>
            <a:ext cx="536400" cy="532800"/>
          </a:xfrm>
          <a:prstGeom prst="pie">
            <a:avLst>
              <a:gd name="adj1" fmla="val 5466896"/>
              <a:gd name="adj2" fmla="val 1620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26B522B-C01E-B6A4-CE47-E657CFAFB8F3}"/>
              </a:ext>
            </a:extLst>
          </p:cNvPr>
          <p:cNvSpPr txBox="1"/>
          <p:nvPr/>
        </p:nvSpPr>
        <p:spPr>
          <a:xfrm>
            <a:off x="4616450" y="2609334"/>
            <a:ext cx="6692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Variante herdada de ambos os pais, confirmada em </a:t>
            </a:r>
            <a:r>
              <a:rPr lang="pt-PT" i="1" dirty="0"/>
              <a:t>trans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Variante que remove o aminoácido fenilalanina na posição 508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Não foi identificado na população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Foi identificado em indivíduos com fibrose </a:t>
            </a:r>
            <a:r>
              <a:rPr lang="pt-PT" dirty="0" err="1"/>
              <a:t>quística</a:t>
            </a:r>
            <a:r>
              <a:rPr lang="pt-PT" dirty="0"/>
              <a:t>, tanto em </a:t>
            </a:r>
            <a:r>
              <a:rPr lang="pt-PT" dirty="0" err="1"/>
              <a:t>homozigotia</a:t>
            </a:r>
            <a:r>
              <a:rPr lang="pt-PT" dirty="0"/>
              <a:t> como em </a:t>
            </a:r>
            <a:r>
              <a:rPr lang="pt-PT" dirty="0" err="1"/>
              <a:t>heterozigotia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Existem várias publicações e bases de dados que associam a mutação à doença fibrose </a:t>
            </a:r>
            <a:r>
              <a:rPr lang="pt-PT" dirty="0" err="1"/>
              <a:t>quística</a:t>
            </a:r>
            <a:r>
              <a:rPr lang="pt-PT" dirty="0"/>
              <a:t>, incluindo estudos funcionais.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DC75499-98BD-4D4A-3C43-7B879485CBB7}"/>
              </a:ext>
            </a:extLst>
          </p:cNvPr>
          <p:cNvSpPr txBox="1"/>
          <p:nvPr/>
        </p:nvSpPr>
        <p:spPr>
          <a:xfrm>
            <a:off x="3149599" y="247134"/>
            <a:ext cx="695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</a:rPr>
              <a:t>Não</a:t>
            </a:r>
          </a:p>
        </p:txBody>
      </p:sp>
      <p:cxnSp>
        <p:nvCxnSpPr>
          <p:cNvPr id="39" name="Conexão reta 38">
            <a:extLst>
              <a:ext uri="{FF2B5EF4-FFF2-40B4-BE49-F238E27FC236}">
                <a16:creationId xmlns:a16="http://schemas.microsoft.com/office/drawing/2014/main" id="{F61CF893-CE8B-44CB-7D2D-1956CC8A8371}"/>
              </a:ext>
            </a:extLst>
          </p:cNvPr>
          <p:cNvCxnSpPr/>
          <p:nvPr/>
        </p:nvCxnSpPr>
        <p:spPr>
          <a:xfrm>
            <a:off x="4978400" y="3454400"/>
            <a:ext cx="331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exão reta 39">
            <a:extLst>
              <a:ext uri="{FF2B5EF4-FFF2-40B4-BE49-F238E27FC236}">
                <a16:creationId xmlns:a16="http://schemas.microsoft.com/office/drawing/2014/main" id="{8AD0216E-A1F9-3466-208D-3E1BB71991F8}"/>
              </a:ext>
            </a:extLst>
          </p:cNvPr>
          <p:cNvCxnSpPr>
            <a:cxnSpLocks/>
          </p:cNvCxnSpPr>
          <p:nvPr/>
        </p:nvCxnSpPr>
        <p:spPr>
          <a:xfrm flipV="1">
            <a:off x="5003800" y="3187700"/>
            <a:ext cx="6096000" cy="12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53FC2C3A-4A96-D108-2DE7-8729FEBDD6D9}"/>
              </a:ext>
            </a:extLst>
          </p:cNvPr>
          <p:cNvSpPr txBox="1"/>
          <p:nvPr/>
        </p:nvSpPr>
        <p:spPr>
          <a:xfrm>
            <a:off x="2590799" y="1631434"/>
            <a:ext cx="2463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</a:rPr>
              <a:t>Proteina incompleta</a:t>
            </a:r>
          </a:p>
        </p:txBody>
      </p:sp>
      <p:cxnSp>
        <p:nvCxnSpPr>
          <p:cNvPr id="44" name="Conexão reta unidirecional 43">
            <a:extLst>
              <a:ext uri="{FF2B5EF4-FFF2-40B4-BE49-F238E27FC236}">
                <a16:creationId xmlns:a16="http://schemas.microsoft.com/office/drawing/2014/main" id="{58AB1073-376B-43D8-32B2-3274CF5EF5B2}"/>
              </a:ext>
            </a:extLst>
          </p:cNvPr>
          <p:cNvCxnSpPr>
            <a:stCxn id="42" idx="2"/>
          </p:cNvCxnSpPr>
          <p:nvPr/>
        </p:nvCxnSpPr>
        <p:spPr>
          <a:xfrm>
            <a:off x="3822700" y="2000766"/>
            <a:ext cx="1104900" cy="3117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A353330-825E-8FC2-F9E5-655654420175}"/>
              </a:ext>
            </a:extLst>
          </p:cNvPr>
          <p:cNvSpPr txBox="1"/>
          <p:nvPr/>
        </p:nvSpPr>
        <p:spPr>
          <a:xfrm>
            <a:off x="4737099" y="5162034"/>
            <a:ext cx="787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PM4</a:t>
            </a:r>
          </a:p>
        </p:txBody>
      </p:sp>
      <p:cxnSp>
        <p:nvCxnSpPr>
          <p:cNvPr id="46" name="Conexão reta 45">
            <a:extLst>
              <a:ext uri="{FF2B5EF4-FFF2-40B4-BE49-F238E27FC236}">
                <a16:creationId xmlns:a16="http://schemas.microsoft.com/office/drawing/2014/main" id="{401FFD33-A453-7D9D-FBA8-5B48655CAF47}"/>
              </a:ext>
            </a:extLst>
          </p:cNvPr>
          <p:cNvCxnSpPr>
            <a:cxnSpLocks/>
          </p:cNvCxnSpPr>
          <p:nvPr/>
        </p:nvCxnSpPr>
        <p:spPr>
          <a:xfrm>
            <a:off x="4940300" y="2260600"/>
            <a:ext cx="4241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exão reta 47">
            <a:extLst>
              <a:ext uri="{FF2B5EF4-FFF2-40B4-BE49-F238E27FC236}">
                <a16:creationId xmlns:a16="http://schemas.microsoft.com/office/drawing/2014/main" id="{10C97B22-16F5-7499-E097-D022935B4604}"/>
              </a:ext>
            </a:extLst>
          </p:cNvPr>
          <p:cNvCxnSpPr>
            <a:cxnSpLocks/>
          </p:cNvCxnSpPr>
          <p:nvPr/>
        </p:nvCxnSpPr>
        <p:spPr>
          <a:xfrm>
            <a:off x="4953000" y="2540000"/>
            <a:ext cx="23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Conexão reta 48">
            <a:extLst>
              <a:ext uri="{FF2B5EF4-FFF2-40B4-BE49-F238E27FC236}">
                <a16:creationId xmlns:a16="http://schemas.microsoft.com/office/drawing/2014/main" id="{ADC12DED-9750-BA07-9216-C9738FECFD99}"/>
              </a:ext>
            </a:extLst>
          </p:cNvPr>
          <p:cNvCxnSpPr>
            <a:cxnSpLocks/>
          </p:cNvCxnSpPr>
          <p:nvPr/>
        </p:nvCxnSpPr>
        <p:spPr>
          <a:xfrm>
            <a:off x="10274300" y="2362200"/>
            <a:ext cx="7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exão reta 49">
            <a:extLst>
              <a:ext uri="{FF2B5EF4-FFF2-40B4-BE49-F238E27FC236}">
                <a16:creationId xmlns:a16="http://schemas.microsoft.com/office/drawing/2014/main" id="{D74DCA99-4A29-C33C-1E5E-809497B96848}"/>
              </a:ext>
            </a:extLst>
          </p:cNvPr>
          <p:cNvCxnSpPr>
            <a:cxnSpLocks/>
          </p:cNvCxnSpPr>
          <p:nvPr/>
        </p:nvCxnSpPr>
        <p:spPr>
          <a:xfrm>
            <a:off x="10261600" y="2120900"/>
            <a:ext cx="172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EAAF1D8-B993-2EB5-3349-3B5A1AE12A84}"/>
              </a:ext>
            </a:extLst>
          </p:cNvPr>
          <p:cNvSpPr txBox="1"/>
          <p:nvPr/>
        </p:nvSpPr>
        <p:spPr>
          <a:xfrm>
            <a:off x="2997199" y="2533134"/>
            <a:ext cx="787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</a:rPr>
              <a:t>Sim</a:t>
            </a:r>
          </a:p>
        </p:txBody>
      </p:sp>
      <p:cxnSp>
        <p:nvCxnSpPr>
          <p:cNvPr id="52" name="Conexão reta unidirecional 51">
            <a:extLst>
              <a:ext uri="{FF2B5EF4-FFF2-40B4-BE49-F238E27FC236}">
                <a16:creationId xmlns:a16="http://schemas.microsoft.com/office/drawing/2014/main" id="{061B3660-2A95-ED8E-E7E2-D96BCFC9C443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3390900" y="2902466"/>
            <a:ext cx="2311400" cy="2266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33052EC-338B-7C8E-1971-3BEB8CBA92DC}"/>
              </a:ext>
            </a:extLst>
          </p:cNvPr>
          <p:cNvSpPr txBox="1"/>
          <p:nvPr/>
        </p:nvSpPr>
        <p:spPr>
          <a:xfrm>
            <a:off x="5422899" y="5162034"/>
            <a:ext cx="787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PP4</a:t>
            </a:r>
          </a:p>
        </p:txBody>
      </p:sp>
      <p:cxnSp>
        <p:nvCxnSpPr>
          <p:cNvPr id="56" name="Conexão reta 55">
            <a:extLst>
              <a:ext uri="{FF2B5EF4-FFF2-40B4-BE49-F238E27FC236}">
                <a16:creationId xmlns:a16="http://schemas.microsoft.com/office/drawing/2014/main" id="{7C9FB17C-2EBF-DD6D-9C73-C47BA8435CD2}"/>
              </a:ext>
            </a:extLst>
          </p:cNvPr>
          <p:cNvCxnSpPr>
            <a:cxnSpLocks/>
          </p:cNvCxnSpPr>
          <p:nvPr/>
        </p:nvCxnSpPr>
        <p:spPr>
          <a:xfrm flipV="1">
            <a:off x="5003800" y="4305300"/>
            <a:ext cx="6096000" cy="12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exão reta 56">
            <a:extLst>
              <a:ext uri="{FF2B5EF4-FFF2-40B4-BE49-F238E27FC236}">
                <a16:creationId xmlns:a16="http://schemas.microsoft.com/office/drawing/2014/main" id="{02855EA5-7507-BECF-4F7E-C3544A00A06A}"/>
              </a:ext>
            </a:extLst>
          </p:cNvPr>
          <p:cNvCxnSpPr>
            <a:cxnSpLocks/>
          </p:cNvCxnSpPr>
          <p:nvPr/>
        </p:nvCxnSpPr>
        <p:spPr>
          <a:xfrm flipV="1">
            <a:off x="4991100" y="4572000"/>
            <a:ext cx="3420000" cy="12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5BDD48D-9646-B254-0AF7-D1C9003D3FB3}"/>
              </a:ext>
            </a:extLst>
          </p:cNvPr>
          <p:cNvSpPr txBox="1"/>
          <p:nvPr/>
        </p:nvSpPr>
        <p:spPr>
          <a:xfrm>
            <a:off x="3149599" y="3676134"/>
            <a:ext cx="787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</a:rPr>
              <a:t>Sim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4625146-8E68-E100-A70B-4862946D8922}"/>
              </a:ext>
            </a:extLst>
          </p:cNvPr>
          <p:cNvSpPr txBox="1"/>
          <p:nvPr/>
        </p:nvSpPr>
        <p:spPr>
          <a:xfrm>
            <a:off x="6083299" y="5174734"/>
            <a:ext cx="787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PP5</a:t>
            </a:r>
          </a:p>
        </p:txBody>
      </p:sp>
      <p:cxnSp>
        <p:nvCxnSpPr>
          <p:cNvPr id="60" name="Conexão reta unidirecional 59">
            <a:extLst>
              <a:ext uri="{FF2B5EF4-FFF2-40B4-BE49-F238E27FC236}">
                <a16:creationId xmlns:a16="http://schemas.microsoft.com/office/drawing/2014/main" id="{F8C049D9-8C0F-6AC1-965B-D2251BAF0D02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3543300" y="4045466"/>
            <a:ext cx="2933700" cy="11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xão reta 63">
            <a:extLst>
              <a:ext uri="{FF2B5EF4-FFF2-40B4-BE49-F238E27FC236}">
                <a16:creationId xmlns:a16="http://schemas.microsoft.com/office/drawing/2014/main" id="{C86EDB10-6527-073D-9679-D5D0E7385062}"/>
              </a:ext>
            </a:extLst>
          </p:cNvPr>
          <p:cNvCxnSpPr/>
          <p:nvPr/>
        </p:nvCxnSpPr>
        <p:spPr>
          <a:xfrm>
            <a:off x="5016500" y="2895600"/>
            <a:ext cx="55499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11393D1D-5DD8-B640-14D2-B028CE0A0031}"/>
              </a:ext>
            </a:extLst>
          </p:cNvPr>
          <p:cNvSpPr txBox="1"/>
          <p:nvPr/>
        </p:nvSpPr>
        <p:spPr>
          <a:xfrm>
            <a:off x="3035299" y="4527034"/>
            <a:ext cx="787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</a:rPr>
              <a:t>Sim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A39FC048-F738-688E-4D56-CDAE1BB78BC2}"/>
              </a:ext>
            </a:extLst>
          </p:cNvPr>
          <p:cNvSpPr txBox="1"/>
          <p:nvPr/>
        </p:nvSpPr>
        <p:spPr>
          <a:xfrm>
            <a:off x="6718299" y="5187434"/>
            <a:ext cx="787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PM3</a:t>
            </a:r>
          </a:p>
        </p:txBody>
      </p:sp>
      <p:cxnSp>
        <p:nvCxnSpPr>
          <p:cNvPr id="67" name="Conexão reta unidirecional 66">
            <a:extLst>
              <a:ext uri="{FF2B5EF4-FFF2-40B4-BE49-F238E27FC236}">
                <a16:creationId xmlns:a16="http://schemas.microsoft.com/office/drawing/2014/main" id="{26D5D0CD-213E-B8F2-CD3C-D1363A0A0929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3581400" y="4724400"/>
            <a:ext cx="3530600" cy="463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exão reta 70">
            <a:extLst>
              <a:ext uri="{FF2B5EF4-FFF2-40B4-BE49-F238E27FC236}">
                <a16:creationId xmlns:a16="http://schemas.microsoft.com/office/drawing/2014/main" id="{221C7665-0B77-F0B8-CF85-935019F933DE}"/>
              </a:ext>
            </a:extLst>
          </p:cNvPr>
          <p:cNvCxnSpPr/>
          <p:nvPr/>
        </p:nvCxnSpPr>
        <p:spPr>
          <a:xfrm>
            <a:off x="9474200" y="4559300"/>
            <a:ext cx="787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Conexão reta 71">
            <a:extLst>
              <a:ext uri="{FF2B5EF4-FFF2-40B4-BE49-F238E27FC236}">
                <a16:creationId xmlns:a16="http://schemas.microsoft.com/office/drawing/2014/main" id="{1A46F876-4089-E4C5-8AB9-DF3BABC59034}"/>
              </a:ext>
            </a:extLst>
          </p:cNvPr>
          <p:cNvCxnSpPr/>
          <p:nvPr/>
        </p:nvCxnSpPr>
        <p:spPr>
          <a:xfrm>
            <a:off x="4991100" y="4826000"/>
            <a:ext cx="115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5EDEE7AF-CCA0-BB74-281E-2F4453F66387}"/>
              </a:ext>
            </a:extLst>
          </p:cNvPr>
          <p:cNvSpPr txBox="1"/>
          <p:nvPr/>
        </p:nvSpPr>
        <p:spPr>
          <a:xfrm>
            <a:off x="3162299" y="5682734"/>
            <a:ext cx="787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</a:rPr>
              <a:t>Sim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C586529D-C482-6637-0B7D-CCE1DFB63E4F}"/>
              </a:ext>
            </a:extLst>
          </p:cNvPr>
          <p:cNvSpPr txBox="1"/>
          <p:nvPr/>
        </p:nvSpPr>
        <p:spPr>
          <a:xfrm>
            <a:off x="7327899" y="5187434"/>
            <a:ext cx="787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PS3</a:t>
            </a:r>
          </a:p>
        </p:txBody>
      </p:sp>
      <p:cxnSp>
        <p:nvCxnSpPr>
          <p:cNvPr id="76" name="Conexão: Ângulo Reto 75">
            <a:extLst>
              <a:ext uri="{FF2B5EF4-FFF2-40B4-BE49-F238E27FC236}">
                <a16:creationId xmlns:a16="http://schemas.microsoft.com/office/drawing/2014/main" id="{6A7C414B-37E4-F073-5B71-B5934C1789A0}"/>
              </a:ext>
            </a:extLst>
          </p:cNvPr>
          <p:cNvCxnSpPr>
            <a:stCxn id="73" idx="2"/>
            <a:endCxn id="74" idx="2"/>
          </p:cNvCxnSpPr>
          <p:nvPr/>
        </p:nvCxnSpPr>
        <p:spPr>
          <a:xfrm rot="5400000" flipH="1" flipV="1">
            <a:off x="5391150" y="3721616"/>
            <a:ext cx="495300" cy="4165600"/>
          </a:xfrm>
          <a:prstGeom prst="bentConnector3">
            <a:avLst>
              <a:gd name="adj1" fmla="val -4615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63FD9490-FAD6-A816-519A-0EE150C7C1ED}"/>
              </a:ext>
            </a:extLst>
          </p:cNvPr>
          <p:cNvSpPr txBox="1"/>
          <p:nvPr/>
        </p:nvSpPr>
        <p:spPr>
          <a:xfrm>
            <a:off x="7962899" y="5149334"/>
            <a:ext cx="4229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1(PS1-PS4) + 2 (PM1-PM6) + 2 (PP1-PP5)</a:t>
            </a:r>
          </a:p>
        </p:txBody>
      </p:sp>
      <p:sp>
        <p:nvSpPr>
          <p:cNvPr id="78" name="Seta: Para Baixo 77">
            <a:extLst>
              <a:ext uri="{FF2B5EF4-FFF2-40B4-BE49-F238E27FC236}">
                <a16:creationId xmlns:a16="http://schemas.microsoft.com/office/drawing/2014/main" id="{CCA91B46-5B37-7256-AAAC-3E66E37C60D6}"/>
              </a:ext>
            </a:extLst>
          </p:cNvPr>
          <p:cNvSpPr/>
          <p:nvPr/>
        </p:nvSpPr>
        <p:spPr>
          <a:xfrm>
            <a:off x="9702800" y="5524500"/>
            <a:ext cx="723900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ED583D00-35BC-B964-57A7-67925C8133AA}"/>
              </a:ext>
            </a:extLst>
          </p:cNvPr>
          <p:cNvSpPr txBox="1"/>
          <p:nvPr/>
        </p:nvSpPr>
        <p:spPr>
          <a:xfrm>
            <a:off x="8991600" y="6038334"/>
            <a:ext cx="2171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solidFill>
                  <a:srgbClr val="C00000"/>
                </a:solidFill>
              </a:rPr>
              <a:t>Patogénico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17A0D3E1-EAE5-9432-FCF1-E88DC1D4D247}"/>
              </a:ext>
            </a:extLst>
          </p:cNvPr>
          <p:cNvSpPr/>
          <p:nvPr/>
        </p:nvSpPr>
        <p:spPr>
          <a:xfrm>
            <a:off x="8001000" y="5054600"/>
            <a:ext cx="4089400" cy="15621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9729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7" grpId="0"/>
      <p:bldP spid="42" grpId="0"/>
      <p:bldP spid="45" grpId="0"/>
      <p:bldP spid="51" grpId="0"/>
      <p:bldP spid="55" grpId="0"/>
      <p:bldP spid="58" grpId="0"/>
      <p:bldP spid="59" grpId="0"/>
      <p:bldP spid="65" grpId="0"/>
      <p:bldP spid="66" grpId="0"/>
      <p:bldP spid="73" grpId="0"/>
      <p:bldP spid="74" grpId="0"/>
      <p:bldP spid="77" grpId="0"/>
      <p:bldP spid="78" grpId="0" animBg="1"/>
      <p:bldP spid="79" grpId="0"/>
      <p:bldP spid="8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60E98-E476-1841-CE48-B45D1CF1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3" y="-218534"/>
            <a:ext cx="10515600" cy="1325563"/>
          </a:xfrm>
        </p:spPr>
        <p:txBody>
          <a:bodyPr/>
          <a:lstStyle/>
          <a:p>
            <a:r>
              <a:rPr lang="pt-PT" dirty="0"/>
              <a:t>Pode ser parcialmente automatizado com: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B9E19A-AD28-5C48-3718-16C1389F2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8" y="1773268"/>
            <a:ext cx="2124371" cy="76210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3C92A5D-E4F0-0DD4-576D-F3D323BC85BA}"/>
              </a:ext>
            </a:extLst>
          </p:cNvPr>
          <p:cNvSpPr txBox="1"/>
          <p:nvPr/>
        </p:nvSpPr>
        <p:spPr>
          <a:xfrm>
            <a:off x="764148" y="2530465"/>
            <a:ext cx="1070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 err="1">
                <a:hlinkClick r:id="rId3"/>
              </a:rPr>
              <a:t>VarChat</a:t>
            </a:r>
            <a:endParaRPr lang="pt-PT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9804308-35F1-A975-8426-A3BB02F87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867" y="1779830"/>
            <a:ext cx="1867874" cy="78728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03CF18-A845-D065-E6F9-34C1C36D8D41}"/>
              </a:ext>
            </a:extLst>
          </p:cNvPr>
          <p:cNvSpPr txBox="1"/>
          <p:nvPr/>
        </p:nvSpPr>
        <p:spPr>
          <a:xfrm>
            <a:off x="3021138" y="2530464"/>
            <a:ext cx="2991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 </a:t>
            </a:r>
            <a:r>
              <a:rPr lang="pt-PT" dirty="0">
                <a:hlinkClick r:id="rId5"/>
              </a:rPr>
              <a:t>https://wintervar.wglab.org/</a:t>
            </a:r>
            <a:r>
              <a:rPr lang="pt-PT" dirty="0"/>
              <a:t> 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C58536A-90F6-5CBA-3462-7AD015ECE1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048" y="1858771"/>
            <a:ext cx="1789091" cy="642561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1981FE2F-34DC-F021-6F3F-85D8C1A3CAA1}"/>
              </a:ext>
            </a:extLst>
          </p:cNvPr>
          <p:cNvSpPr txBox="1"/>
          <p:nvPr/>
        </p:nvSpPr>
        <p:spPr>
          <a:xfrm>
            <a:off x="6479741" y="2523887"/>
            <a:ext cx="217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hlinkClick r:id="rId7"/>
              </a:rPr>
              <a:t>https://genebe.net/</a:t>
            </a:r>
            <a:r>
              <a:rPr lang="pt-PT" dirty="0"/>
              <a:t> 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F463DFC3-3883-5AB8-2694-E6153FE7B9B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1034"/>
          <a:stretch/>
        </p:blipFill>
        <p:spPr>
          <a:xfrm>
            <a:off x="9561844" y="1908466"/>
            <a:ext cx="2483240" cy="781159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A8CDD9F8-B392-36DE-BAF0-F68B745EFDDB}"/>
              </a:ext>
            </a:extLst>
          </p:cNvPr>
          <p:cNvSpPr txBox="1"/>
          <p:nvPr/>
        </p:nvSpPr>
        <p:spPr>
          <a:xfrm>
            <a:off x="9707004" y="2734396"/>
            <a:ext cx="2484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9"/>
              </a:rPr>
              <a:t>VarSome</a:t>
            </a:r>
            <a:r>
              <a:rPr lang="en-US" dirty="0">
                <a:hlinkClick r:id="rId9"/>
              </a:rPr>
              <a:t> The Human Genomics Community</a:t>
            </a:r>
            <a:endParaRPr lang="pt-PT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DE32857-C2FF-9353-9001-25B7C131FD56}"/>
              </a:ext>
            </a:extLst>
          </p:cNvPr>
          <p:cNvSpPr txBox="1"/>
          <p:nvPr/>
        </p:nvSpPr>
        <p:spPr>
          <a:xfrm>
            <a:off x="4416358" y="4435808"/>
            <a:ext cx="647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Classificação automática baseada na informação disponível em bases de dados e publicações, sempre </a:t>
            </a:r>
            <a:r>
              <a:rPr lang="pt-PT" dirty="0" err="1"/>
              <a:t>customizavel</a:t>
            </a:r>
            <a:r>
              <a:rPr lang="pt-PT" dirty="0"/>
              <a:t> para incluir outros parâmetros como análise de trio/segregação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FF0BCFD-8900-C4BC-93FB-272B1C75EB13}"/>
              </a:ext>
            </a:extLst>
          </p:cNvPr>
          <p:cNvSpPr txBox="1"/>
          <p:nvPr/>
        </p:nvSpPr>
        <p:spPr>
          <a:xfrm>
            <a:off x="0" y="4147220"/>
            <a:ext cx="29409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Chat AI, onde podemos colocar a variante, e o chat nos faz um resumo dos recursos que estão disponíveis.</a:t>
            </a:r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F48315BF-5382-CD8D-DBDA-1DCE4D2F1EE9}"/>
              </a:ext>
            </a:extLst>
          </p:cNvPr>
          <p:cNvSpPr/>
          <p:nvPr/>
        </p:nvSpPr>
        <p:spPr>
          <a:xfrm>
            <a:off x="1212715" y="3041509"/>
            <a:ext cx="479898" cy="8949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015DAE81-7C81-ADDF-2D56-E052640CEB69}"/>
              </a:ext>
            </a:extLst>
          </p:cNvPr>
          <p:cNvSpPr/>
          <p:nvPr/>
        </p:nvSpPr>
        <p:spPr>
          <a:xfrm rot="20396371">
            <a:off x="5158903" y="3167969"/>
            <a:ext cx="479898" cy="8949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Seta: Para Baixo 23">
            <a:extLst>
              <a:ext uri="{FF2B5EF4-FFF2-40B4-BE49-F238E27FC236}">
                <a16:creationId xmlns:a16="http://schemas.microsoft.com/office/drawing/2014/main" id="{BC5F40F4-D1D2-7D45-5575-2B2B79AE46C6}"/>
              </a:ext>
            </a:extLst>
          </p:cNvPr>
          <p:cNvSpPr/>
          <p:nvPr/>
        </p:nvSpPr>
        <p:spPr>
          <a:xfrm rot="2198668">
            <a:off x="9604445" y="3437100"/>
            <a:ext cx="479898" cy="8949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Seta: Para Baixo 24">
            <a:extLst>
              <a:ext uri="{FF2B5EF4-FFF2-40B4-BE49-F238E27FC236}">
                <a16:creationId xmlns:a16="http://schemas.microsoft.com/office/drawing/2014/main" id="{DF237F9E-F08B-010B-D2AB-DE20990BA86E}"/>
              </a:ext>
            </a:extLst>
          </p:cNvPr>
          <p:cNvSpPr/>
          <p:nvPr/>
        </p:nvSpPr>
        <p:spPr>
          <a:xfrm>
            <a:off x="7153073" y="3331717"/>
            <a:ext cx="479898" cy="8949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7949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DDAAFCA-B763-1C67-A1CF-E1AE5D746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33" y="812800"/>
            <a:ext cx="9024079" cy="5803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4B06287-DA4C-29D3-02D3-EA2C4CD215E5}"/>
              </a:ext>
            </a:extLst>
          </p:cNvPr>
          <p:cNvSpPr txBox="1"/>
          <p:nvPr/>
        </p:nvSpPr>
        <p:spPr>
          <a:xfrm>
            <a:off x="2133600" y="279400"/>
            <a:ext cx="8750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/>
              <a:t>Em caso de Dúvida…</a:t>
            </a:r>
          </a:p>
        </p:txBody>
      </p:sp>
    </p:spTree>
    <p:extLst>
      <p:ext uri="{BB962C8B-B14F-4D97-AF65-F5344CB8AC3E}">
        <p14:creationId xmlns:p14="http://schemas.microsoft.com/office/powerpoint/2010/main" val="180794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D32F8-D14B-4CC5-8C9A-39D3B24A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Fim da sessão 3</a:t>
            </a:r>
          </a:p>
        </p:txBody>
      </p:sp>
    </p:spTree>
    <p:extLst>
      <p:ext uri="{BB962C8B-B14F-4D97-AF65-F5344CB8AC3E}">
        <p14:creationId xmlns:p14="http://schemas.microsoft.com/office/powerpoint/2010/main" val="393117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2494</Words>
  <Application>Microsoft Office PowerPoint</Application>
  <PresentationFormat>Ecrã Panorâmico</PresentationFormat>
  <Paragraphs>559</Paragraphs>
  <Slides>27</Slides>
  <Notes>0</Notes>
  <HiddenSlides>1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Tema do Office</vt:lpstr>
      <vt:lpstr>Interpretação de variantes genómicas</vt:lpstr>
      <vt:lpstr>Sessão 3</vt:lpstr>
      <vt:lpstr>Sobreposição fenótipica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Diretrizes e recomendações ACMG/AMP</vt:lpstr>
      <vt:lpstr>Critérios ACMG</vt:lpstr>
      <vt:lpstr>Critérios ACMG</vt:lpstr>
      <vt:lpstr>Critérios ACMG</vt:lpstr>
      <vt:lpstr>Aplicação dos critérios - Exemplo</vt:lpstr>
      <vt:lpstr>Pode ser parcialmente automatizado com:</vt:lpstr>
      <vt:lpstr>Apresentação do PowerPoint</vt:lpstr>
      <vt:lpstr>Fim da sessão 3</vt:lpstr>
    </vt:vector>
  </TitlesOfParts>
  <Company>INSA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Joana Fino</dc:creator>
  <cp:lastModifiedBy>Joana Fino</cp:lastModifiedBy>
  <cp:revision>16</cp:revision>
  <dcterms:created xsi:type="dcterms:W3CDTF">2026-07-10T13:33:26Z</dcterms:created>
  <dcterms:modified xsi:type="dcterms:W3CDTF">2026-07-14T15:01:32Z</dcterms:modified>
</cp:coreProperties>
</file>