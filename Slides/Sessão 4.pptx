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82" r:id="rId4"/>
    <p:sldId id="286" r:id="rId5"/>
    <p:sldId id="284" r:id="rId6"/>
    <p:sldId id="283" r:id="rId7"/>
    <p:sldId id="278" r:id="rId8"/>
    <p:sldId id="285" r:id="rId9"/>
    <p:sldId id="280" r:id="rId10"/>
    <p:sldId id="281" r:id="rId11"/>
    <p:sldId id="28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792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12880-B24B-DFC2-C410-4BB3F9D44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B6E7B5-15AB-906C-0DCC-124D0B264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EF5BF4-CB6B-76EB-C418-ABE2EC7E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0FA568A-BE07-F074-B42E-840C170B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CDFA68-5221-5F26-72B9-6C883BF6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4514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71C74-0BFB-52BF-BA0D-021EA9A1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97DF57C-7E55-6C63-44F5-96716ADB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0485DFA-1F71-399E-0D62-0908A044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3B016F-B037-DF51-732A-9A521D17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07443BE-4810-4B4E-F9F8-4C8583DF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408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98882-512C-43A8-155F-6C3E4DD6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A100ECE-7F41-5A8B-5261-E340BD60F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D8E069D-6E27-AAD6-C76D-807BBA7C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10B77D2-C2FC-5DC6-59D8-9B162AC5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3D1AE73-5099-E71F-96FD-B5184662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0126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EB62F-0E9D-6561-3DC6-C1B9CB97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4F1E0A7-C159-DB56-C4CD-4D16B100A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C837161-9435-9488-D5A3-127AF1B4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43DC81B-7F4A-1B87-7742-B6F63A44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81AACC4-0957-249A-334A-78AF2C98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9299D3C-7B91-6BBD-B816-34878D39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569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273AD-2090-B57C-37B3-F1D70B89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6E0031F-2867-D15E-3B07-72B4613D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D3B7BDA-2F98-FD8A-5C9B-AE234787C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9C26618-0A1F-A2F4-FC7A-BF45B125C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015E707-5B68-0F57-01A5-1ADD4FBF2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07E8E18-B910-DA1B-987E-4E35D1E5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69A6A40-BE7B-9DA8-CBC6-328D628E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B767D99-92E9-3EE5-FB9F-45CFB0C2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158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44DBF-1F27-3E4F-6AE0-638CE981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B0B9F9B7-5DFF-14F6-562D-1B048FBE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4C9B4D4-58AB-7026-9353-203F6F4A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39530FE-93B7-082D-64E2-E3BA50D7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774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F7328E5-AA9F-6F75-1EF5-3CC3472E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9EDEEF3-DFB6-3E88-C159-7FDA089A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244429-3998-B06D-998C-74E3E223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797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FCCCE-61DA-2661-E8DE-FE92A817B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D8C0E4B-79E3-33E7-B949-46E24C22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4C7FE8A-B1ED-E4A8-0BB2-928CAEC91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DFB2700-44DA-91B6-DCB0-B801ADBB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3DCC9A5-C213-B3AD-7F82-7924916D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798B2C9-696F-718C-3182-3905B2AF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479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8912-8F8C-CC15-BBED-6CA2F49BD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097CAD9-C760-A868-8A9D-1CDBF9D2A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EF9103C-09C2-D402-931E-563AC4056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6CE938A-74A7-E2F4-19CF-B5613073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96E4919-5F24-0C19-C37C-025A6582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EA04B8F-C8A3-9F5D-8230-0E5FF828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1673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852ED-94A4-B4A9-B022-3832CBD7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3FBCF4D-9AC1-B7A9-1321-218284DA7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0DAE6F3-4C34-877D-FE0C-9600ED1C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4A0A734-5D12-582A-068F-77B759C7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D4FEAEA-096E-87DB-F76D-E1924381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559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CB3E80-1DDC-DB24-5C5B-47E0057AE2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C11BE39-9405-615C-96BC-B706CC249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6FD686D-B723-DDF8-C6FD-8BAE12BD1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D6C6E0-556D-C8D2-640B-C69E7FBB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CC27E9D-1E78-8EB4-13B1-FF1BB3EE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7329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5AA6A7B-9F5D-668E-ADE0-598D45F2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694D1C2-1AEF-81C5-9C1A-2DAE40416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7A6DD31-FB6D-3102-BA50-EB5A1D8B2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B46C6-3D68-4597-861F-19FD5D5AB7E6}" type="datetimeFigureOut">
              <a:rPr lang="pt-PT" smtClean="0"/>
              <a:t>14/07/2026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B3DBC9-D529-D899-5202-786538790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2ACC275-5CAD-104E-7DBA-AC18AD304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D2A3B-384D-4CEF-8C23-C664BF00F64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5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clinvar" TargetMode="External"/><Relationship Id="rId2" Type="http://schemas.openxmlformats.org/officeDocument/2006/relationships/hyperlink" Target="https://gnomad.broadinstitut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mim.org/" TargetMode="External"/><Relationship Id="rId5" Type="http://schemas.openxmlformats.org/officeDocument/2006/relationships/hyperlink" Target="https://varchat.engenome.com/" TargetMode="External"/><Relationship Id="rId4" Type="http://schemas.openxmlformats.org/officeDocument/2006/relationships/hyperlink" Target="https://mobidetails.chu-montpellier.fr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clinvar" TargetMode="External"/><Relationship Id="rId7" Type="http://schemas.openxmlformats.org/officeDocument/2006/relationships/hyperlink" Target="https://omim.org/" TargetMode="External"/><Relationship Id="rId2" Type="http://schemas.openxmlformats.org/officeDocument/2006/relationships/hyperlink" Target="https://gnomad.broadinstitut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nebe.net/" TargetMode="External"/><Relationship Id="rId5" Type="http://schemas.openxmlformats.org/officeDocument/2006/relationships/hyperlink" Target="https://varchat.engenome.com/" TargetMode="External"/><Relationship Id="rId4" Type="http://schemas.openxmlformats.org/officeDocument/2006/relationships/hyperlink" Target="https://mobidetails.chu-montpellier.fr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736CF-99B3-4B9D-2135-5C426AA7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Interpretação</a:t>
            </a:r>
            <a:r>
              <a:rPr lang="en-GB" dirty="0"/>
              <a:t> de </a:t>
            </a:r>
            <a:r>
              <a:rPr lang="en-GB" dirty="0" err="1"/>
              <a:t>variantes</a:t>
            </a:r>
            <a:r>
              <a:rPr lang="en-GB" dirty="0"/>
              <a:t> </a:t>
            </a:r>
            <a:r>
              <a:rPr lang="en-GB" dirty="0" err="1"/>
              <a:t>genómicas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48FC219-148B-D940-1F6A-CB42A0C1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FC33-1B8E-4C1B-8D07-84B8EBAC733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4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757FC-07BD-BF2E-9227-0027ED3B0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Sessão</a:t>
            </a:r>
            <a:r>
              <a:rPr lang="en-GB" dirty="0"/>
              <a:t>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C3B287-B634-1547-022A-B1246031F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Casos Práticos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533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2C4CB-D0EB-24DD-68C8-92470FA5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Casos práticos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BF7CBF1-9BCC-7758-A612-CAEAD2B6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Nesta sessão vamos apenas classificar diferentes variantes, usando a informação disponível.</a:t>
            </a:r>
          </a:p>
          <a:p>
            <a:r>
              <a:rPr lang="pt-PT" dirty="0"/>
              <a:t>Podem, e devem usar toda a informação disponível online, tal como tudo o que foi apresentado nestas sessões</a:t>
            </a:r>
          </a:p>
          <a:p>
            <a:r>
              <a:rPr lang="pt-PT" dirty="0"/>
              <a:t>Para facilitar, disponibilizamos um quadro de organização da informação em </a:t>
            </a:r>
            <a:r>
              <a:rPr lang="pt-PT" dirty="0" err="1"/>
              <a:t>exel</a:t>
            </a:r>
            <a:r>
              <a:rPr lang="pt-PT" dirty="0"/>
              <a:t> – “ACMG_class.xlsx”</a:t>
            </a:r>
          </a:p>
        </p:txBody>
      </p:sp>
    </p:spTree>
    <p:extLst>
      <p:ext uri="{BB962C8B-B14F-4D97-AF65-F5344CB8AC3E}">
        <p14:creationId xmlns:p14="http://schemas.microsoft.com/office/powerpoint/2010/main" val="175429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68C8DE-A933-1B0E-E6B8-156C73D49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623" y="0"/>
            <a:ext cx="8467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1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E50E0-5E67-FD96-8FFB-9F0C50E0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30" y="48866"/>
            <a:ext cx="3995058" cy="1325563"/>
          </a:xfrm>
        </p:spPr>
        <p:txBody>
          <a:bodyPr/>
          <a:lstStyle/>
          <a:p>
            <a:r>
              <a:rPr lang="pt-PT" dirty="0"/>
              <a:t>Caso 1 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EE948BE-70F0-5C9B-C379-C775CB7E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55" y="1253266"/>
            <a:ext cx="3775051" cy="1838850"/>
          </a:xfrm>
        </p:spPr>
        <p:txBody>
          <a:bodyPr>
            <a:normAutofit/>
          </a:bodyPr>
          <a:lstStyle/>
          <a:p>
            <a:r>
              <a:rPr lang="nn-NO" sz="2400" dirty="0"/>
              <a:t>NM_005957.5:c.665C&gt;T</a:t>
            </a:r>
            <a:br>
              <a:rPr lang="nn-NO" sz="2400" dirty="0"/>
            </a:br>
            <a:r>
              <a:rPr lang="nn-NO" sz="2400" dirty="0"/>
              <a:t>p.Ala222Val</a:t>
            </a:r>
          </a:p>
          <a:p>
            <a:r>
              <a:rPr lang="pt-PT" sz="2400" dirty="0"/>
              <a:t>MTHFR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C7334B-BCAA-350A-658E-CF271DF17C62}"/>
              </a:ext>
            </a:extLst>
          </p:cNvPr>
          <p:cNvSpPr txBox="1"/>
          <p:nvPr/>
        </p:nvSpPr>
        <p:spPr>
          <a:xfrm>
            <a:off x="7016079" y="1127274"/>
            <a:ext cx="3124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Recursos uteis: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hlinkClick r:id="rId2"/>
              </a:rPr>
              <a:t>gnomAD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hlinkClick r:id="rId3"/>
              </a:rPr>
              <a:t>ClinVar</a:t>
            </a:r>
            <a:r>
              <a:rPr lang="pt-PT" dirty="0">
                <a:hlinkClick r:id="rId3"/>
              </a:rPr>
              <a:t> – </a:t>
            </a:r>
            <a:r>
              <a:rPr lang="pt-PT" dirty="0" err="1">
                <a:hlinkClick r:id="rId3"/>
              </a:rPr>
              <a:t>Home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hlinkClick r:id="rId4"/>
              </a:rPr>
              <a:t>Homepage – </a:t>
            </a:r>
            <a:r>
              <a:rPr lang="pt-PT" dirty="0" err="1">
                <a:hlinkClick r:id="rId4"/>
              </a:rPr>
              <a:t>MobiDetails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hlinkClick r:id="rId5"/>
              </a:rPr>
              <a:t>VarChat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hlinkClick r:id="rId6"/>
              </a:rPr>
              <a:t>https://omim.org/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2039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E50E0-5E67-FD96-8FFB-9F0C50E0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336144"/>
            <a:ext cx="6153293" cy="1325563"/>
          </a:xfrm>
        </p:spPr>
        <p:txBody>
          <a:bodyPr/>
          <a:lstStyle/>
          <a:p>
            <a:r>
              <a:rPr lang="pt-PT" dirty="0"/>
              <a:t>Caso 1 - Solução 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EE948BE-70F0-5C9B-C379-C775CB7E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55" y="668875"/>
            <a:ext cx="7116392" cy="953669"/>
          </a:xfrm>
        </p:spPr>
        <p:txBody>
          <a:bodyPr>
            <a:normAutofit/>
          </a:bodyPr>
          <a:lstStyle/>
          <a:p>
            <a:r>
              <a:rPr lang="nn-NO" sz="2000" dirty="0"/>
              <a:t>NM_005957.5:c.665C&gt;T p.Ala222Val</a:t>
            </a:r>
          </a:p>
          <a:p>
            <a:r>
              <a:rPr lang="pt-PT" sz="2000" dirty="0"/>
              <a:t>MTHFR (Substituição </a:t>
            </a:r>
            <a:r>
              <a:rPr lang="pt-PT" sz="2000" dirty="0" err="1"/>
              <a:t>Missense</a:t>
            </a:r>
            <a:r>
              <a:rPr lang="pt-PT" sz="2000" dirty="0"/>
              <a:t>)</a:t>
            </a:r>
          </a:p>
        </p:txBody>
      </p:sp>
      <p:graphicFrame>
        <p:nvGraphicFramePr>
          <p:cNvPr id="31" name="Tabela 30">
            <a:extLst>
              <a:ext uri="{FF2B5EF4-FFF2-40B4-BE49-F238E27FC236}">
                <a16:creationId xmlns:a16="http://schemas.microsoft.com/office/drawing/2014/main" id="{D756C20B-F04A-012D-A0A2-BF6CD64D9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17661"/>
              </p:ext>
            </p:extLst>
          </p:nvPr>
        </p:nvGraphicFramePr>
        <p:xfrm>
          <a:off x="230080" y="3035568"/>
          <a:ext cx="11670871" cy="3741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7869">
                  <a:extLst>
                    <a:ext uri="{9D8B030D-6E8A-4147-A177-3AD203B41FA5}">
                      <a16:colId xmlns:a16="http://schemas.microsoft.com/office/drawing/2014/main" val="3773570700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2718717793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2462189732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1593418644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3581732834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4046342598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3665850630"/>
                    </a:ext>
                  </a:extLst>
                </a:gridCol>
              </a:tblGrid>
              <a:tr h="19577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 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Benigno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Patogénico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57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>
                          <a:effectLst/>
                        </a:rPr>
                        <a:t> 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Corroborante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>
                          <a:effectLst/>
                        </a:rPr>
                        <a:t>Corroborante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Moderado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Muito 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658068"/>
                  </a:ext>
                </a:extLst>
              </a:tr>
              <a:tr h="399161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população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u="none" strike="noStrike" dirty="0" err="1">
                          <a:effectLst/>
                        </a:rPr>
                        <a:t>Freq</a:t>
                      </a:r>
                      <a:r>
                        <a:rPr lang="pt-PT" sz="1100" u="none" strike="noStrike" dirty="0">
                          <a:effectLst/>
                        </a:rPr>
                        <a:t>. do Alelo acima dos 5% </a:t>
                      </a:r>
                      <a:r>
                        <a:rPr lang="pt-PT" sz="11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BA1</a:t>
                      </a:r>
                      <a:r>
                        <a:rPr lang="pt-PT" sz="1100" u="none" strike="noStrike" dirty="0">
                          <a:effectLst/>
                        </a:rPr>
                        <a:t> 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02173"/>
                  </a:ext>
                </a:extLst>
              </a:tr>
              <a:tr h="495014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predição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3797"/>
                  </a:ext>
                </a:extLst>
              </a:tr>
              <a:tr h="446887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funcionais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357162"/>
                  </a:ext>
                </a:extLst>
              </a:tr>
              <a:tr h="53626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segregação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86103"/>
                  </a:ext>
                </a:extLst>
              </a:tr>
              <a:tr h="453762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novo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125395"/>
                  </a:ext>
                </a:extLst>
              </a:tr>
              <a:tr h="467513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alélicos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847192"/>
                  </a:ext>
                </a:extLst>
              </a:tr>
              <a:tr h="55689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Outros dados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678101"/>
                  </a:ext>
                </a:extLst>
              </a:tr>
            </a:tbl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934E9B84-882A-BE62-3CFB-924480702BA4}"/>
              </a:ext>
            </a:extLst>
          </p:cNvPr>
          <p:cNvSpPr txBox="1"/>
          <p:nvPr/>
        </p:nvSpPr>
        <p:spPr>
          <a:xfrm>
            <a:off x="111722" y="1406941"/>
            <a:ext cx="621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800" b="0" i="0" dirty="0">
                <a:solidFill>
                  <a:srgbClr val="000000"/>
                </a:solidFill>
                <a:effectLst/>
                <a:latin typeface="+mj-lt"/>
              </a:rPr>
              <a:t>Frequência no </a:t>
            </a:r>
            <a:r>
              <a:rPr lang="pt-PT" sz="1800" b="0" i="0" dirty="0" err="1">
                <a:solidFill>
                  <a:srgbClr val="000000"/>
                </a:solidFill>
                <a:effectLst/>
                <a:latin typeface="+mj-lt"/>
              </a:rPr>
              <a:t>Gnomad</a:t>
            </a:r>
            <a:r>
              <a:rPr lang="pt-PT" sz="1800" b="0" i="0" dirty="0">
                <a:solidFill>
                  <a:srgbClr val="000000"/>
                </a:solidFill>
                <a:effectLst/>
                <a:latin typeface="+mj-lt"/>
              </a:rPr>
              <a:t> de 31.82%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F36117D-8640-BA3B-F9BE-45F0EA0BA5E7}"/>
              </a:ext>
            </a:extLst>
          </p:cNvPr>
          <p:cNvSpPr txBox="1"/>
          <p:nvPr/>
        </p:nvSpPr>
        <p:spPr>
          <a:xfrm>
            <a:off x="119744" y="1765595"/>
            <a:ext cx="621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800" b="0" i="0" dirty="0">
                <a:solidFill>
                  <a:srgbClr val="000000"/>
                </a:solidFill>
                <a:effectLst/>
                <a:latin typeface="+mj-lt"/>
              </a:rPr>
              <a:t>CADD: 27.3; REVEL: 0.842 (contraditório)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5EDA8C0-DB0F-E5EA-D7EF-043870D3B27A}"/>
              </a:ext>
            </a:extLst>
          </p:cNvPr>
          <p:cNvSpPr txBox="1"/>
          <p:nvPr/>
        </p:nvSpPr>
        <p:spPr>
          <a:xfrm>
            <a:off x="137504" y="2081610"/>
            <a:ext cx="11729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dirty="0">
                <a:effectLst/>
                <a:latin typeface="Roboto" panose="02000000000000000000" pitchFamily="2" charset="0"/>
              </a:rPr>
              <a:t>Com impacto funcional bem documentado na atividade enzimática e na estabilidade da proteína. Tem sido extensivamente estudada como um fator de suscetibilidade de baixa </a:t>
            </a:r>
            <a:r>
              <a:rPr lang="pt-PT" sz="1200" b="0" dirty="0" err="1">
                <a:effectLst/>
                <a:latin typeface="Roboto" panose="02000000000000000000" pitchFamily="2" charset="0"/>
              </a:rPr>
              <a:t>penetrância</a:t>
            </a:r>
            <a:r>
              <a:rPr lang="pt-PT" sz="1200" b="0" dirty="0">
                <a:effectLst/>
                <a:latin typeface="Roboto" panose="02000000000000000000" pitchFamily="2" charset="0"/>
              </a:rPr>
              <a:t> em múltiplas características complexas, apresentando associações tanto de aumento de risco quanto potencialmente protetoras, dependendo do fenótipo e do contexto populacional. </a:t>
            </a:r>
            <a:r>
              <a:rPr lang="pt-PT" sz="1200" b="0" i="0" dirty="0">
                <a:solidFill>
                  <a:srgbClr val="000000"/>
                </a:solidFill>
                <a:effectLst/>
                <a:latin typeface="+mj-lt"/>
              </a:rPr>
              <a:t>(contraditório)</a:t>
            </a:r>
            <a:endParaRPr lang="pt-PT" sz="12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BF7A1F8-5EB6-4313-BEA2-9CDF9224C570}"/>
              </a:ext>
            </a:extLst>
          </p:cNvPr>
          <p:cNvSpPr txBox="1"/>
          <p:nvPr/>
        </p:nvSpPr>
        <p:spPr>
          <a:xfrm>
            <a:off x="120890" y="2660515"/>
            <a:ext cx="621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800" b="0" i="0" dirty="0">
                <a:solidFill>
                  <a:srgbClr val="000000"/>
                </a:solidFill>
                <a:effectLst/>
                <a:latin typeface="+mj-lt"/>
              </a:rPr>
              <a:t>Sem dados de segregação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5A1F9479-C6E7-D6DA-A543-F56795AB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704" y="134540"/>
            <a:ext cx="4384271" cy="1922741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42CF8E49-4F7A-2AEA-B65A-76CD87D2B175}"/>
              </a:ext>
            </a:extLst>
          </p:cNvPr>
          <p:cNvSpPr txBox="1"/>
          <p:nvPr/>
        </p:nvSpPr>
        <p:spPr>
          <a:xfrm>
            <a:off x="3850056" y="4264072"/>
            <a:ext cx="4679581" cy="646331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/>
              <a:t>BA1 - </a:t>
            </a:r>
            <a:r>
              <a:rPr lang="pt-PT" sz="3600" b="1" dirty="0">
                <a:solidFill>
                  <a:srgbClr val="00B050"/>
                </a:solidFill>
              </a:rPr>
              <a:t>Benigno</a:t>
            </a:r>
          </a:p>
        </p:txBody>
      </p:sp>
    </p:spTree>
    <p:extLst>
      <p:ext uri="{BB962C8B-B14F-4D97-AF65-F5344CB8AC3E}">
        <p14:creationId xmlns:p14="http://schemas.microsoft.com/office/powerpoint/2010/main" val="204141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3" grpId="0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A3EE5-39BB-AD4B-7154-51EB9657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Caso 2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B7CCAED-152B-D00D-4E6F-62D74180D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NM_007294.4:c.68_69delAG</a:t>
            </a:r>
            <a:br>
              <a:rPr lang="pt-PT" dirty="0"/>
            </a:br>
            <a:r>
              <a:rPr lang="pt-PT" dirty="0"/>
              <a:t>p.Glu23ValfsTer17</a:t>
            </a:r>
          </a:p>
          <a:p>
            <a:r>
              <a:rPr lang="pt-PT" dirty="0"/>
              <a:t>BRCA1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4153B6B-2781-88F7-3CC9-3CC276847BFD}"/>
              </a:ext>
            </a:extLst>
          </p:cNvPr>
          <p:cNvGrpSpPr/>
          <p:nvPr/>
        </p:nvGrpSpPr>
        <p:grpSpPr>
          <a:xfrm>
            <a:off x="1068701" y="4109359"/>
            <a:ext cx="2951543" cy="2348602"/>
            <a:chOff x="532436" y="1400535"/>
            <a:chExt cx="2951543" cy="2348602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3CE5FBE5-517C-0393-67C2-7A63157C443C}"/>
                </a:ext>
              </a:extLst>
            </p:cNvPr>
            <p:cNvGrpSpPr/>
            <p:nvPr/>
          </p:nvGrpSpPr>
          <p:grpSpPr>
            <a:xfrm>
              <a:off x="532436" y="1400535"/>
              <a:ext cx="2545702" cy="2039073"/>
              <a:chOff x="8866208" y="1504710"/>
              <a:chExt cx="2545702" cy="2039073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947B4D9F-D6F8-C8A4-1E23-31559F6A82A8}"/>
                  </a:ext>
                </a:extLst>
              </p:cNvPr>
              <p:cNvSpPr/>
              <p:nvPr/>
            </p:nvSpPr>
            <p:spPr>
              <a:xfrm>
                <a:off x="8866208" y="1516284"/>
                <a:ext cx="763200" cy="763929"/>
              </a:xfrm>
              <a:prstGeom prst="rect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4265CC8-BB3E-7618-9257-EB861DE2F77E}"/>
                  </a:ext>
                </a:extLst>
              </p:cNvPr>
              <p:cNvSpPr/>
              <p:nvPr/>
            </p:nvSpPr>
            <p:spPr>
              <a:xfrm>
                <a:off x="10648710" y="1504710"/>
                <a:ext cx="763200" cy="763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cxnSp>
            <p:nvCxnSpPr>
              <p:cNvPr id="12" name="Conexão reta 11">
                <a:extLst>
                  <a:ext uri="{FF2B5EF4-FFF2-40B4-BE49-F238E27FC236}">
                    <a16:creationId xmlns:a16="http://schemas.microsoft.com/office/drawing/2014/main" id="{F99C6B5C-78A3-CCC1-D472-229171B95ECB}"/>
                  </a:ext>
                </a:extLst>
              </p:cNvPr>
              <p:cNvCxnSpPr>
                <a:stCxn id="10" idx="3"/>
                <a:endCxn id="11" idx="2"/>
              </p:cNvCxnSpPr>
              <p:nvPr/>
            </p:nvCxnSpPr>
            <p:spPr>
              <a:xfrm flipV="1">
                <a:off x="9629408" y="1886310"/>
                <a:ext cx="1019302" cy="119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3691E47E-C505-B0C5-BFCA-85733F0AE6B3}"/>
                  </a:ext>
                </a:extLst>
              </p:cNvPr>
              <p:cNvSpPr/>
              <p:nvPr/>
            </p:nvSpPr>
            <p:spPr>
              <a:xfrm>
                <a:off x="9828835" y="2779854"/>
                <a:ext cx="763200" cy="763929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cxnSp>
            <p:nvCxnSpPr>
              <p:cNvPr id="14" name="Conexão reta 13">
                <a:extLst>
                  <a:ext uri="{FF2B5EF4-FFF2-40B4-BE49-F238E27FC236}">
                    <a16:creationId xmlns:a16="http://schemas.microsoft.com/office/drawing/2014/main" id="{E938BA1F-2526-E3B1-4464-74D6AEB71DE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9707218" y="2385951"/>
                <a:ext cx="1019302" cy="1193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exão reta unidirecional 5">
              <a:extLst>
                <a:ext uri="{FF2B5EF4-FFF2-40B4-BE49-F238E27FC236}">
                  <a16:creationId xmlns:a16="http://schemas.microsoft.com/office/drawing/2014/main" id="{E2381836-EE83-8B15-A9C3-7F03AEDF8296}"/>
                </a:ext>
              </a:extLst>
            </p:cNvPr>
            <p:cNvCxnSpPr/>
            <p:nvPr/>
          </p:nvCxnSpPr>
          <p:spPr>
            <a:xfrm>
              <a:off x="1064871" y="2465404"/>
              <a:ext cx="335666" cy="2893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E34F9EF-CF52-9EE6-92F4-A0609A39F112}"/>
                </a:ext>
              </a:extLst>
            </p:cNvPr>
            <p:cNvSpPr txBox="1"/>
            <p:nvPr/>
          </p:nvSpPr>
          <p:spPr>
            <a:xfrm>
              <a:off x="1632028" y="3379805"/>
              <a:ext cx="1018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b="1" dirty="0" err="1">
                  <a:solidFill>
                    <a:srgbClr val="C00000"/>
                  </a:solidFill>
                </a:rPr>
                <a:t>Mut</a:t>
              </a:r>
              <a:endParaRPr lang="pt-PT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6EA85BE0-2AC5-F8C1-2FB6-A36222C420F6}"/>
                </a:ext>
              </a:extLst>
            </p:cNvPr>
            <p:cNvSpPr/>
            <p:nvPr/>
          </p:nvSpPr>
          <p:spPr>
            <a:xfrm>
              <a:off x="1890531" y="2677609"/>
              <a:ext cx="381600" cy="76392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442A5F7-B479-35A8-395D-B46327D9C79B}"/>
                </a:ext>
              </a:extLst>
            </p:cNvPr>
            <p:cNvSpPr txBox="1"/>
            <p:nvPr/>
          </p:nvSpPr>
          <p:spPr>
            <a:xfrm>
              <a:off x="2201116" y="2733552"/>
              <a:ext cx="128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b="1" dirty="0">
                  <a:solidFill>
                    <a:srgbClr val="0070C0"/>
                  </a:solidFill>
                </a:rPr>
                <a:t>Afetado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488FFEA-9E43-A175-9022-1AE92C9A09E4}"/>
              </a:ext>
            </a:extLst>
          </p:cNvPr>
          <p:cNvSpPr txBox="1"/>
          <p:nvPr/>
        </p:nvSpPr>
        <p:spPr>
          <a:xfrm>
            <a:off x="7016079" y="1127274"/>
            <a:ext cx="3124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Recursos uteis: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hlinkClick r:id="rId2"/>
              </a:rPr>
              <a:t>gnomAD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hlinkClick r:id="rId3"/>
              </a:rPr>
              <a:t>ClinVar</a:t>
            </a:r>
            <a:r>
              <a:rPr lang="pt-PT" dirty="0">
                <a:hlinkClick r:id="rId3"/>
              </a:rPr>
              <a:t> – </a:t>
            </a:r>
            <a:r>
              <a:rPr lang="pt-PT" dirty="0" err="1">
                <a:hlinkClick r:id="rId3"/>
              </a:rPr>
              <a:t>Home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hlinkClick r:id="rId4"/>
              </a:rPr>
              <a:t>Homepage – </a:t>
            </a:r>
            <a:r>
              <a:rPr lang="pt-PT" dirty="0" err="1">
                <a:hlinkClick r:id="rId4"/>
              </a:rPr>
              <a:t>MobiDetails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hlinkClick r:id="rId5"/>
              </a:rPr>
              <a:t>VarChat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hlinkClick r:id="rId6"/>
              </a:rPr>
              <a:t>https://genebe.net/</a:t>
            </a:r>
            <a:r>
              <a:rPr lang="pt-PT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hlinkClick r:id="rId7"/>
              </a:rPr>
              <a:t>https://omim.org/</a:t>
            </a:r>
            <a:r>
              <a:rPr lang="pt-P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718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A3EE5-39BB-AD4B-7154-51EB9657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3019"/>
            <a:ext cx="10515600" cy="1325563"/>
          </a:xfrm>
        </p:spPr>
        <p:txBody>
          <a:bodyPr/>
          <a:lstStyle/>
          <a:p>
            <a:r>
              <a:rPr lang="pt-PT" dirty="0"/>
              <a:t>Caso 2 - Solução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B7CCAED-152B-D00D-4E6F-62D74180D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3" y="608717"/>
            <a:ext cx="4173813" cy="1330086"/>
          </a:xfrm>
        </p:spPr>
        <p:txBody>
          <a:bodyPr>
            <a:normAutofit/>
          </a:bodyPr>
          <a:lstStyle/>
          <a:p>
            <a:r>
              <a:rPr lang="pt-PT" sz="2000" dirty="0"/>
              <a:t>NM_007294.4:c.68_69delAG</a:t>
            </a:r>
            <a:br>
              <a:rPr lang="pt-PT" sz="2000" dirty="0"/>
            </a:br>
            <a:r>
              <a:rPr lang="pt-PT" sz="2000" dirty="0"/>
              <a:t>p.Glu23ValfsTer17</a:t>
            </a:r>
          </a:p>
          <a:p>
            <a:r>
              <a:rPr lang="pt-PT" sz="2000" dirty="0"/>
              <a:t>BRCA1 (</a:t>
            </a:r>
            <a:r>
              <a:rPr lang="pt-PT" sz="2000" dirty="0" err="1"/>
              <a:t>Frameshift</a:t>
            </a:r>
            <a:r>
              <a:rPr lang="pt-PT" sz="2000" dirty="0"/>
              <a:t>)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A9B589-513B-0B20-6E4C-6E55985C0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541" y="199870"/>
            <a:ext cx="1778343" cy="1477675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50C1BBB-2C7B-7973-A2E8-5B206A486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21437"/>
              </p:ext>
            </p:extLst>
          </p:nvPr>
        </p:nvGraphicFramePr>
        <p:xfrm>
          <a:off x="181954" y="2561180"/>
          <a:ext cx="11670871" cy="380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7869">
                  <a:extLst>
                    <a:ext uri="{9D8B030D-6E8A-4147-A177-3AD203B41FA5}">
                      <a16:colId xmlns:a16="http://schemas.microsoft.com/office/drawing/2014/main" val="3773570700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2718717793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2462189732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1593418644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3581732834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4046342598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3665850630"/>
                    </a:ext>
                  </a:extLst>
                </a:gridCol>
              </a:tblGrid>
              <a:tr h="19577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 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Benigno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Patogénico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57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 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Corroborante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>
                          <a:effectLst/>
                        </a:rPr>
                        <a:t>Corroborante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Moderado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Muito 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658068"/>
                  </a:ext>
                </a:extLst>
              </a:tr>
              <a:tr h="399161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população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PT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02173"/>
                  </a:ext>
                </a:extLst>
              </a:tr>
              <a:tr h="495014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predição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Frameshift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num gene </a:t>
                      </a:r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LoF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PVS1</a:t>
                      </a: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3797"/>
                  </a:ext>
                </a:extLst>
              </a:tr>
              <a:tr h="446887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funcionais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sym typeface="Symbol" panose="05050102010706020507" pitchFamily="18" charset="2"/>
                        </a:rPr>
                        <a:t>Estudos funcionais suportam o efeito patogénico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  <a:sym typeface="Symbol" panose="05050102010706020507" pitchFamily="18" charset="2"/>
                        </a:rPr>
                        <a:t>PS3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357162"/>
                  </a:ext>
                </a:extLst>
              </a:tr>
              <a:tr h="53626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segregação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86103"/>
                  </a:ext>
                </a:extLst>
              </a:tr>
              <a:tr h="453762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novo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0" u="none" strike="noStrike" dirty="0">
                          <a:effectLst/>
                          <a:sym typeface="Symbol" panose="05050102010706020507" pitchFamily="18" charset="2"/>
                        </a:rPr>
                        <a:t>De novo </a:t>
                      </a:r>
                      <a:r>
                        <a:rPr lang="pt-PT" sz="1100" b="1" u="none" strike="noStrike" dirty="0">
                          <a:effectLst/>
                          <a:highlight>
                            <a:srgbClr val="FFFF00"/>
                          </a:highlight>
                          <a:sym typeface="Symbol" panose="05050102010706020507" pitchFamily="18" charset="2"/>
                        </a:rPr>
                        <a:t>PS2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125395"/>
                  </a:ext>
                </a:extLst>
              </a:tr>
              <a:tr h="467513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alélicos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847192"/>
                  </a:ext>
                </a:extLst>
              </a:tr>
              <a:tr h="55689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Outros dados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0" u="none" strike="noStrike" dirty="0">
                          <a:effectLst/>
                        </a:rPr>
                        <a:t> </a:t>
                      </a:r>
                      <a:r>
                        <a:rPr lang="pt-PT" sz="1100" b="0" u="none" strike="noStrike" dirty="0">
                          <a:effectLst/>
                          <a:sym typeface="Symbol" panose="05050102010706020507" pitchFamily="18" charset="2"/>
                        </a:rPr>
                        <a:t>Estudos confirmam a associação </a:t>
                      </a:r>
                      <a:r>
                        <a:rPr lang="pt-PT" sz="1100" b="1" u="none" strike="noStrike" dirty="0">
                          <a:effectLst/>
                          <a:highlight>
                            <a:srgbClr val="FFFF00"/>
                          </a:highlight>
                          <a:sym typeface="Symbol" panose="05050102010706020507" pitchFamily="18" charset="2"/>
                        </a:rPr>
                        <a:t>PP5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67810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1C0D343-95DA-4224-9636-E45FECB60BE9}"/>
              </a:ext>
            </a:extLst>
          </p:cNvPr>
          <p:cNvSpPr txBox="1"/>
          <p:nvPr/>
        </p:nvSpPr>
        <p:spPr>
          <a:xfrm>
            <a:off x="89377" y="1578821"/>
            <a:ext cx="6435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rgbClr val="000000"/>
                </a:solidFill>
                <a:latin typeface="+mj-lt"/>
              </a:rPr>
              <a:t>Perda de função é um mecanismo conhecido neste gene [1] CADD=28.5 </a:t>
            </a:r>
            <a:endParaRPr lang="pt-PT" sz="1400" i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F282EC-BB6F-55E7-7233-1C61836EC4F7}"/>
              </a:ext>
            </a:extLst>
          </p:cNvPr>
          <p:cNvSpPr txBox="1"/>
          <p:nvPr/>
        </p:nvSpPr>
        <p:spPr>
          <a:xfrm>
            <a:off x="89379" y="1779347"/>
            <a:ext cx="6218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0" i="0" dirty="0">
                <a:solidFill>
                  <a:srgbClr val="000000"/>
                </a:solidFill>
                <a:effectLst/>
                <a:latin typeface="+mj-lt"/>
              </a:rPr>
              <a:t>Frequência no </a:t>
            </a:r>
            <a:r>
              <a:rPr lang="pt-PT" sz="1400" b="0" i="0" dirty="0" err="1">
                <a:solidFill>
                  <a:srgbClr val="000000"/>
                </a:solidFill>
                <a:effectLst/>
                <a:latin typeface="+mj-lt"/>
              </a:rPr>
              <a:t>Gnomad</a:t>
            </a:r>
            <a:r>
              <a:rPr lang="pt-PT" sz="1400" b="0" i="0" dirty="0">
                <a:solidFill>
                  <a:srgbClr val="000000"/>
                </a:solidFill>
                <a:effectLst/>
                <a:latin typeface="+mj-lt"/>
              </a:rPr>
              <a:t> de </a:t>
            </a:r>
            <a:r>
              <a:rPr lang="pt-PT" sz="1400" dirty="0"/>
              <a:t>0.01185%</a:t>
            </a:r>
            <a:endParaRPr lang="pt-PT" sz="1400" i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8BBC93-BD89-B091-B1D3-17A4D0B348DD}"/>
              </a:ext>
            </a:extLst>
          </p:cNvPr>
          <p:cNvSpPr txBox="1"/>
          <p:nvPr/>
        </p:nvSpPr>
        <p:spPr>
          <a:xfrm>
            <a:off x="63596" y="6317270"/>
            <a:ext cx="121284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900" b="0" i="0" dirty="0">
                <a:effectLst/>
                <a:latin typeface="Aptos" panose="020B0004020202020204" pitchFamily="34" charset="0"/>
              </a:rPr>
              <a:t>[1] Gomes R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et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al. (2020). "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Haplotypic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characterization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of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BRCA1 c.5266dupC,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the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prevailing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mutation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in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Brazilian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hereditary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breast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/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ovarian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cancer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."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Genetics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and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 molecular </a:t>
            </a:r>
            <a:r>
              <a:rPr lang="pt-PT" sz="900" b="0" i="0" dirty="0" err="1">
                <a:effectLst/>
                <a:latin typeface="Aptos" panose="020B0004020202020204" pitchFamily="34" charset="0"/>
              </a:rPr>
              <a:t>biology</a:t>
            </a:r>
            <a:r>
              <a:rPr lang="pt-PT" sz="900" b="0" i="0" dirty="0">
                <a:effectLst/>
                <a:latin typeface="Aptos" panose="020B0004020202020204" pitchFamily="34" charset="0"/>
              </a:rPr>
              <a:t>, 43(2)</a:t>
            </a:r>
            <a:r>
              <a:rPr lang="en-US" sz="900" b="0" i="0" dirty="0">
                <a:effectLst/>
                <a:latin typeface="Aptos" panose="020B0004020202020204" pitchFamily="34" charset="0"/>
              </a:rPr>
              <a:t>; </a:t>
            </a:r>
            <a:r>
              <a:rPr lang="en-US" sz="900" b="0" i="0" dirty="0" err="1">
                <a:effectLst/>
                <a:latin typeface="Aptos" panose="020B0004020202020204" pitchFamily="34" charset="0"/>
              </a:rPr>
              <a:t>Kharel</a:t>
            </a:r>
            <a:r>
              <a:rPr lang="en-US" sz="900" b="0" i="0" dirty="0">
                <a:effectLst/>
                <a:latin typeface="Aptos" panose="020B0004020202020204" pitchFamily="34" charset="0"/>
              </a:rPr>
              <a:t> S et al. (2022). "BRCA1/BRCA2 mutation spectrum analysis in South Asia: a systematic review." The Journal of international medical research, 50(1). [2]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Bouwman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P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et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al. (2013). “A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high-throughput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functional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complementation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assay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for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classification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of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BRCA1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missense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variants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.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Cancer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Discov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.” 3(10);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Bouwman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P,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et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al. (2020). “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Functional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Categorization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of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pt-PT" sz="900" b="0" i="1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BRCA1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Variants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of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Uncertain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Clinical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Significance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in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Homologous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Recombination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Repair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Complementation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Assays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.”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Clin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Cancer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pt-PT" sz="900" b="0" i="0" dirty="0" err="1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Res</a:t>
            </a:r>
            <a:r>
              <a:rPr lang="pt-PT" sz="900" b="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. 26(17)</a:t>
            </a:r>
            <a:endParaRPr lang="pt-PT" sz="900" dirty="0">
              <a:latin typeface="Aptos" panose="020B00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A31D563-143E-FD21-0BDB-9621DA0DB9A4}"/>
              </a:ext>
            </a:extLst>
          </p:cNvPr>
          <p:cNvSpPr txBox="1"/>
          <p:nvPr/>
        </p:nvSpPr>
        <p:spPr>
          <a:xfrm>
            <a:off x="90524" y="1972998"/>
            <a:ext cx="6218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b="0" i="0" dirty="0">
                <a:solidFill>
                  <a:srgbClr val="000000"/>
                </a:solidFill>
                <a:effectLst/>
                <a:latin typeface="+mj-lt"/>
              </a:rPr>
              <a:t>Estudos funcionais suportam o efeito patogénico da variante [2]  </a:t>
            </a:r>
            <a:endParaRPr lang="pt-PT" sz="1400" i="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6A4F8F0-09E6-7ECE-97BC-E65A00A52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01" y="0"/>
            <a:ext cx="5346081" cy="255922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A85A08-F3FD-17B8-4BC7-6D292B40EE8D}"/>
              </a:ext>
            </a:extLst>
          </p:cNvPr>
          <p:cNvSpPr txBox="1"/>
          <p:nvPr/>
        </p:nvSpPr>
        <p:spPr>
          <a:xfrm>
            <a:off x="76774" y="2165503"/>
            <a:ext cx="6218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>
                <a:solidFill>
                  <a:srgbClr val="000000"/>
                </a:solidFill>
                <a:latin typeface="+mj-lt"/>
              </a:rPr>
              <a:t>Classificado no </a:t>
            </a:r>
            <a:r>
              <a:rPr lang="pt-PT" sz="1400" dirty="0" err="1">
                <a:solidFill>
                  <a:srgbClr val="000000"/>
                </a:solidFill>
                <a:latin typeface="+mj-lt"/>
              </a:rPr>
              <a:t>ClinVar</a:t>
            </a:r>
            <a:r>
              <a:rPr lang="pt-PT" sz="1400" dirty="0">
                <a:solidFill>
                  <a:srgbClr val="000000"/>
                </a:solidFill>
                <a:latin typeface="+mj-lt"/>
              </a:rPr>
              <a:t> como patogénico em vários casos</a:t>
            </a:r>
            <a:endParaRPr lang="pt-PT" sz="1400" i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3C577C-7728-6B09-A55F-663BEE03D37F}"/>
              </a:ext>
            </a:extLst>
          </p:cNvPr>
          <p:cNvSpPr txBox="1"/>
          <p:nvPr/>
        </p:nvSpPr>
        <p:spPr>
          <a:xfrm>
            <a:off x="2520877" y="3789684"/>
            <a:ext cx="7150245" cy="1200329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/>
              <a:t>PVS1 + PS3 + PS2 + PP5  </a:t>
            </a:r>
            <a:r>
              <a:rPr lang="pt-PT" sz="3600" b="1" dirty="0">
                <a:solidFill>
                  <a:srgbClr val="C00000"/>
                </a:solidFill>
              </a:rPr>
              <a:t>Patogénico</a:t>
            </a:r>
          </a:p>
        </p:txBody>
      </p:sp>
    </p:spTree>
    <p:extLst>
      <p:ext uri="{BB962C8B-B14F-4D97-AF65-F5344CB8AC3E}">
        <p14:creationId xmlns:p14="http://schemas.microsoft.com/office/powerpoint/2010/main" val="61300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54A0A-5CD4-6359-68D6-2A406F8A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Caso 3</a:t>
            </a:r>
          </a:p>
        </p:txBody>
      </p:sp>
      <p:sp>
        <p:nvSpPr>
          <p:cNvPr id="21" name="Marcador de Posição de Conteúdo 2">
            <a:extLst>
              <a:ext uri="{FF2B5EF4-FFF2-40B4-BE49-F238E27FC236}">
                <a16:creationId xmlns:a16="http://schemas.microsoft.com/office/drawing/2014/main" id="{2CA50EF0-14A1-F696-C2E4-BC5E1A3B2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PT" dirty="0"/>
              <a:t>Neste caso é disponibilizado o resultado do </a:t>
            </a:r>
            <a:r>
              <a:rPr lang="pt-PT" dirty="0" err="1"/>
              <a:t>exomiser</a:t>
            </a:r>
            <a:r>
              <a:rPr lang="pt-PT" dirty="0"/>
              <a:t>, com a priorização das variantes</a:t>
            </a:r>
          </a:p>
          <a:p>
            <a:r>
              <a:rPr lang="pt-PT" dirty="0"/>
              <a:t>A tarefa é identificar, através destes resultados, qual será a variante patogénica, e classifica-la</a:t>
            </a:r>
          </a:p>
          <a:p>
            <a:endParaRPr lang="pt-PT" dirty="0"/>
          </a:p>
          <a:p>
            <a:r>
              <a:rPr lang="pt-PT" dirty="0"/>
              <a:t>O ficheiro é Caso3_exomiser.html</a:t>
            </a:r>
          </a:p>
          <a:p>
            <a:endParaRPr lang="pt-PT" dirty="0"/>
          </a:p>
          <a:p>
            <a:r>
              <a:rPr lang="pt-PT" dirty="0"/>
              <a:t>Não existe informação genómica dos casos</a:t>
            </a:r>
          </a:p>
        </p:txBody>
      </p:sp>
    </p:spTree>
    <p:extLst>
      <p:ext uri="{BB962C8B-B14F-4D97-AF65-F5344CB8AC3E}">
        <p14:creationId xmlns:p14="http://schemas.microsoft.com/office/powerpoint/2010/main" val="287331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54A0A-5CD4-6359-68D6-2A406F8A1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512"/>
            <a:ext cx="10515600" cy="1325563"/>
          </a:xfrm>
        </p:spPr>
        <p:txBody>
          <a:bodyPr/>
          <a:lstStyle/>
          <a:p>
            <a:r>
              <a:rPr lang="pt-PT" dirty="0"/>
              <a:t>Caso 3 - Solução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BDBCB75-FEC6-9401-DD5E-89D8966D3B82}"/>
              </a:ext>
            </a:extLst>
          </p:cNvPr>
          <p:cNvSpPr txBox="1">
            <a:spLocks/>
          </p:cNvSpPr>
          <p:nvPr/>
        </p:nvSpPr>
        <p:spPr>
          <a:xfrm>
            <a:off x="158703" y="905494"/>
            <a:ext cx="5423950" cy="1631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NM_197968.4:c.2895_2896del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ZMYM2 (</a:t>
            </a:r>
            <a:r>
              <a:rPr lang="pt-PT" dirty="0" err="1"/>
              <a:t>frameshift</a:t>
            </a:r>
            <a:r>
              <a:rPr lang="pt-PT" dirty="0"/>
              <a:t>)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AF2456F-2EED-C6B3-7A0C-FE0B501AF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2" y="2083994"/>
            <a:ext cx="6407677" cy="20812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8D21F13-9F22-8F0B-9584-AE0D3A94E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79" y="4368847"/>
            <a:ext cx="6497053" cy="2188948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1759AEB-7883-921F-ECFC-1C5DF3611153}"/>
              </a:ext>
            </a:extLst>
          </p:cNvPr>
          <p:cNvGrpSpPr/>
          <p:nvPr/>
        </p:nvGrpSpPr>
        <p:grpSpPr>
          <a:xfrm>
            <a:off x="6642578" y="3833883"/>
            <a:ext cx="4639605" cy="2002510"/>
            <a:chOff x="6642578" y="3833883"/>
            <a:chExt cx="6447779" cy="2002510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D4D5CC72-5A17-4B07-DA78-F0CB3ACBC2FC}"/>
                </a:ext>
              </a:extLst>
            </p:cNvPr>
            <p:cNvSpPr txBox="1"/>
            <p:nvPr/>
          </p:nvSpPr>
          <p:spPr>
            <a:xfrm>
              <a:off x="6655181" y="3833883"/>
              <a:ext cx="64351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sz="1400" dirty="0">
                  <a:solidFill>
                    <a:srgbClr val="000000"/>
                  </a:solidFill>
                  <a:latin typeface="+mj-lt"/>
                </a:rPr>
                <a:t>Perda de função é um mecanismo conhecido neste gene </a:t>
              </a:r>
              <a:endParaRPr lang="pt-PT" sz="1400" i="0" dirty="0">
                <a:solidFill>
                  <a:srgbClr val="000000"/>
                </a:solidFill>
                <a:effectLst/>
                <a:latin typeface="+mj-lt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5C3F83D-36EC-805B-376D-3DDB2F083E51}"/>
                </a:ext>
              </a:extLst>
            </p:cNvPr>
            <p:cNvSpPr txBox="1"/>
            <p:nvPr/>
          </p:nvSpPr>
          <p:spPr>
            <a:xfrm>
              <a:off x="6655183" y="4130659"/>
              <a:ext cx="62186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sz="1400" dirty="0">
                  <a:solidFill>
                    <a:srgbClr val="000000"/>
                  </a:solidFill>
                  <a:latin typeface="+mj-lt"/>
                </a:rPr>
                <a:t>Ausente de base de dados populacionais</a:t>
              </a:r>
              <a:endParaRPr lang="pt-PT" sz="1400" i="0" dirty="0">
                <a:solidFill>
                  <a:srgbClr val="000000"/>
                </a:solidFill>
                <a:effectLst/>
                <a:latin typeface="+mj-lt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CAB6DB2E-3EE4-1A55-6CEB-F2DA120D07DE}"/>
                </a:ext>
              </a:extLst>
            </p:cNvPr>
            <p:cNvSpPr txBox="1"/>
            <p:nvPr/>
          </p:nvSpPr>
          <p:spPr>
            <a:xfrm>
              <a:off x="6656328" y="4427441"/>
              <a:ext cx="62186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sz="1400" b="0" i="0" dirty="0">
                  <a:solidFill>
                    <a:srgbClr val="000000"/>
                  </a:solidFill>
                  <a:effectLst/>
                  <a:latin typeface="+mj-lt"/>
                </a:rPr>
                <a:t>Estudos funcionais suportam o efeito patogénico da variante [2]  </a:t>
              </a:r>
              <a:endParaRPr lang="pt-PT" sz="1400" i="0" dirty="0">
                <a:solidFill>
                  <a:srgbClr val="000000"/>
                </a:solidFill>
                <a:effectLst/>
                <a:latin typeface="+mj-lt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3A12E26-736B-78CA-F53D-DCFB1E9B302B}"/>
                </a:ext>
              </a:extLst>
            </p:cNvPr>
            <p:cNvSpPr txBox="1"/>
            <p:nvPr/>
          </p:nvSpPr>
          <p:spPr>
            <a:xfrm>
              <a:off x="6642578" y="4922455"/>
              <a:ext cx="62186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sz="1400" dirty="0">
                  <a:solidFill>
                    <a:srgbClr val="000000"/>
                  </a:solidFill>
                  <a:latin typeface="+mj-lt"/>
                </a:rPr>
                <a:t>Classificado no </a:t>
              </a:r>
              <a:r>
                <a:rPr lang="pt-PT" sz="1400" dirty="0" err="1">
                  <a:solidFill>
                    <a:srgbClr val="000000"/>
                  </a:solidFill>
                  <a:latin typeface="+mj-lt"/>
                </a:rPr>
                <a:t>ClinVar</a:t>
              </a:r>
              <a:r>
                <a:rPr lang="pt-PT" sz="1400" dirty="0">
                  <a:solidFill>
                    <a:srgbClr val="000000"/>
                  </a:solidFill>
                  <a:latin typeface="+mj-lt"/>
                </a:rPr>
                <a:t> como potencialmente patogénico em mais um caso</a:t>
              </a:r>
              <a:endParaRPr lang="pt-PT" sz="1400" i="0" dirty="0">
                <a:solidFill>
                  <a:srgbClr val="000000"/>
                </a:solidFill>
                <a:effectLst/>
                <a:latin typeface="+mj-lt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168B0EA-1655-CD2C-14C0-787A132D335C}"/>
                </a:ext>
              </a:extLst>
            </p:cNvPr>
            <p:cNvSpPr txBox="1"/>
            <p:nvPr/>
          </p:nvSpPr>
          <p:spPr>
            <a:xfrm>
              <a:off x="6647161" y="5528616"/>
              <a:ext cx="62186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sz="1400" dirty="0">
                  <a:solidFill>
                    <a:srgbClr val="000000"/>
                  </a:solidFill>
                  <a:latin typeface="+mj-lt"/>
                </a:rPr>
                <a:t>Com sobreposição </a:t>
              </a:r>
              <a:r>
                <a:rPr lang="pt-PT" sz="1400" dirty="0" err="1">
                  <a:solidFill>
                    <a:srgbClr val="000000"/>
                  </a:solidFill>
                  <a:latin typeface="+mj-lt"/>
                </a:rPr>
                <a:t>fenotipica</a:t>
              </a:r>
              <a:endParaRPr lang="pt-PT" sz="1400" i="0" dirty="0">
                <a:solidFill>
                  <a:srgbClr val="000000"/>
                </a:solidFill>
                <a:effectLst/>
                <a:latin typeface="+mj-lt"/>
              </a:endParaRPr>
            </a:p>
          </p:txBody>
        </p:sp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53253D37-16B9-565C-9FB2-C5EE7166C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5" y="0"/>
            <a:ext cx="6953106" cy="215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245819F-94E2-555A-6930-1E903B54B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04222"/>
              </p:ext>
            </p:extLst>
          </p:nvPr>
        </p:nvGraphicFramePr>
        <p:xfrm>
          <a:off x="181954" y="1138017"/>
          <a:ext cx="11670871" cy="38649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7869">
                  <a:extLst>
                    <a:ext uri="{9D8B030D-6E8A-4147-A177-3AD203B41FA5}">
                      <a16:colId xmlns:a16="http://schemas.microsoft.com/office/drawing/2014/main" val="3773570700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2718717793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2462189732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1593418644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3581732834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4046342598"/>
                    </a:ext>
                  </a:extLst>
                </a:gridCol>
                <a:gridCol w="1632167">
                  <a:extLst>
                    <a:ext uri="{9D8B030D-6E8A-4147-A177-3AD203B41FA5}">
                      <a16:colId xmlns:a16="http://schemas.microsoft.com/office/drawing/2014/main" val="3665850630"/>
                    </a:ext>
                  </a:extLst>
                </a:gridCol>
              </a:tblGrid>
              <a:tr h="19577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 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Benigno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Patogénico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57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 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Corroborante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>
                          <a:effectLst/>
                        </a:rPr>
                        <a:t>Corroborante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Moderado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u="none" strike="noStrike" dirty="0">
                          <a:effectLst/>
                        </a:rPr>
                        <a:t>Muito forte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658068"/>
                  </a:ext>
                </a:extLst>
              </a:tr>
              <a:tr h="399161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população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PT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Ausente das bases de dados populacionais </a:t>
                      </a:r>
                      <a:r>
                        <a:rPr kumimoji="0" lang="pt-PT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PM2</a:t>
                      </a:r>
                      <a:endParaRPr kumimoji="0" lang="pt-PT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pt-PT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endParaRPr kumimoji="0" lang="pt-PT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02173"/>
                  </a:ext>
                </a:extLst>
              </a:tr>
              <a:tr h="495014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predição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Frameshift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num gene </a:t>
                      </a:r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LoF</a:t>
                      </a: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PVS1</a:t>
                      </a: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03797"/>
                  </a:ext>
                </a:extLst>
              </a:tr>
              <a:tr h="446887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funcionais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357162"/>
                  </a:ext>
                </a:extLst>
              </a:tr>
              <a:tr h="536265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segregação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86103"/>
                  </a:ext>
                </a:extLst>
              </a:tr>
              <a:tr h="453762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de novo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125395"/>
                  </a:ext>
                </a:extLst>
              </a:tr>
              <a:tr h="467513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Dados alélicos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847192"/>
                  </a:ext>
                </a:extLst>
              </a:tr>
              <a:tr h="556890">
                <a:tc>
                  <a:txBody>
                    <a:bodyPr/>
                    <a:lstStyle/>
                    <a:p>
                      <a:pPr algn="l" fontAlgn="b"/>
                      <a:r>
                        <a:rPr lang="pt-PT" sz="1100" b="1" u="none" strike="noStrike" dirty="0">
                          <a:effectLst/>
                        </a:rPr>
                        <a:t>Outros dados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0" u="none" strike="noStrike" dirty="0">
                          <a:effectLst/>
                        </a:rPr>
                        <a:t> </a:t>
                      </a:r>
                      <a:r>
                        <a:rPr lang="pt-PT" sz="1100" b="0" u="none" strike="noStrike" dirty="0">
                          <a:effectLst/>
                          <a:sym typeface="Symbol" panose="05050102010706020507" pitchFamily="18" charset="2"/>
                        </a:rPr>
                        <a:t>Associação identificada no </a:t>
                      </a:r>
                      <a:r>
                        <a:rPr lang="pt-PT" sz="1100" b="0" u="none" strike="noStrike" dirty="0" err="1">
                          <a:effectLst/>
                          <a:sym typeface="Symbol" panose="05050102010706020507" pitchFamily="18" charset="2"/>
                        </a:rPr>
                        <a:t>ClinVar</a:t>
                      </a:r>
                      <a:r>
                        <a:rPr lang="pt-PT" sz="1100" b="0" u="none" strike="noStrike" dirty="0">
                          <a:effectLst/>
                          <a:sym typeface="Symbol" panose="05050102010706020507" pitchFamily="18" charset="2"/>
                        </a:rPr>
                        <a:t> </a:t>
                      </a:r>
                      <a:r>
                        <a:rPr lang="pt-PT" sz="1100" b="1" u="none" strike="noStrike" dirty="0">
                          <a:effectLst/>
                          <a:highlight>
                            <a:srgbClr val="FFFF00"/>
                          </a:highlight>
                          <a:sym typeface="Symbol" panose="05050102010706020507" pitchFamily="18" charset="2"/>
                        </a:rPr>
                        <a:t>PP5</a:t>
                      </a:r>
                      <a:r>
                        <a:rPr lang="pt-PT" sz="1100" b="0" u="none" strike="noStrike" dirty="0">
                          <a:effectLst/>
                          <a:sym typeface="Symbol" panose="05050102010706020507" pitchFamily="18" charset="2"/>
                        </a:rPr>
                        <a:t> &amp; Sobreposição fenotípica valorizável </a:t>
                      </a:r>
                      <a:r>
                        <a:rPr lang="pt-PT" sz="1100" b="1" u="none" strike="noStrike" dirty="0">
                          <a:effectLst/>
                          <a:highlight>
                            <a:srgbClr val="FFFF00"/>
                          </a:highlight>
                          <a:sym typeface="Symbol" panose="05050102010706020507" pitchFamily="18" charset="2"/>
                        </a:rPr>
                        <a:t>PP4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b="1" u="none" strike="noStrike" dirty="0">
                          <a:effectLst/>
                          <a:sym typeface="Symbol" panose="05050102010706020507" pitchFamily="18" charset="2"/>
                        </a:rPr>
                        <a:t></a:t>
                      </a:r>
                      <a:r>
                        <a:rPr lang="pt-PT" sz="1600" b="1" u="none" strike="noStrike" dirty="0">
                          <a:effectLst/>
                        </a:rPr>
                        <a:t> 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D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678101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0046C822-D2A1-B121-64CD-44C6E0BF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512"/>
            <a:ext cx="10515600" cy="1325563"/>
          </a:xfrm>
        </p:spPr>
        <p:txBody>
          <a:bodyPr/>
          <a:lstStyle/>
          <a:p>
            <a:r>
              <a:rPr lang="pt-PT" dirty="0"/>
              <a:t>Caso 3 - Solução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D7E2F0-DC85-889F-87F9-7DF6D214054D}"/>
              </a:ext>
            </a:extLst>
          </p:cNvPr>
          <p:cNvSpPr txBox="1"/>
          <p:nvPr/>
        </p:nvSpPr>
        <p:spPr>
          <a:xfrm>
            <a:off x="2624005" y="2366520"/>
            <a:ext cx="7150245" cy="1200329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/>
              <a:t>PVS1 + PM2 + PP4 + PP5  </a:t>
            </a:r>
            <a:r>
              <a:rPr lang="pt-PT" sz="3600" b="1" dirty="0">
                <a:solidFill>
                  <a:srgbClr val="C00000"/>
                </a:solidFill>
              </a:rPr>
              <a:t>Patogénico</a:t>
            </a:r>
          </a:p>
        </p:txBody>
      </p:sp>
    </p:spTree>
    <p:extLst>
      <p:ext uri="{BB962C8B-B14F-4D97-AF65-F5344CB8AC3E}">
        <p14:creationId xmlns:p14="http://schemas.microsoft.com/office/powerpoint/2010/main" val="350472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869</Words>
  <Application>Microsoft Office PowerPoint</Application>
  <PresentationFormat>Ecrã Panorâmico</PresentationFormat>
  <Paragraphs>240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Roboto</vt:lpstr>
      <vt:lpstr>Symbol</vt:lpstr>
      <vt:lpstr>Tema do Office</vt:lpstr>
      <vt:lpstr>Interpretação de variantes genómicas</vt:lpstr>
      <vt:lpstr>Sessão 4</vt:lpstr>
      <vt:lpstr>Casos práticos</vt:lpstr>
      <vt:lpstr>Apresentação do PowerPoint</vt:lpstr>
      <vt:lpstr>Caso 1  </vt:lpstr>
      <vt:lpstr>Caso 1 - Solução  </vt:lpstr>
      <vt:lpstr>Caso 2</vt:lpstr>
      <vt:lpstr>Caso 2 - Solução</vt:lpstr>
      <vt:lpstr>Caso 3</vt:lpstr>
      <vt:lpstr>Caso 3 - Solução</vt:lpstr>
      <vt:lpstr>Caso 3 - Solução</vt:lpstr>
    </vt:vector>
  </TitlesOfParts>
  <Company>INSA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Joana Fino</dc:creator>
  <cp:lastModifiedBy>Joana Fino</cp:lastModifiedBy>
  <cp:revision>5</cp:revision>
  <dcterms:created xsi:type="dcterms:W3CDTF">2026-07-13T15:00:45Z</dcterms:created>
  <dcterms:modified xsi:type="dcterms:W3CDTF">2026-07-14T15:47:00Z</dcterms:modified>
</cp:coreProperties>
</file>